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67a74b1a5493b" /><Relationship Type="http://schemas.openxmlformats.org/officeDocument/2006/relationships/extended-properties" Target="/docProps/app.xml" Id="R80cfcd3e8a4c4666" /><Relationship Type="http://schemas.openxmlformats.org/officeDocument/2006/relationships/officeDocument" Target="/ppt/presentation.xml" Id="R2d711bbc25e048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fbf714cfe54403"/>
  </p:sldMasterIdLst>
  <p:notesMasterIdLst>
    <p:notesMasterId xmlns:r="http://schemas.openxmlformats.org/officeDocument/2006/relationships" r:id="R91e135d7d7f74c41"/>
  </p:notesMasterIdLst>
  <p:sldIdLst>
    <p:sldId xmlns:r="http://schemas.openxmlformats.org/officeDocument/2006/relationships" id="256" r:id="R6a4cbcf836f1417a"/>
    <p:sldId xmlns:r="http://schemas.openxmlformats.org/officeDocument/2006/relationships" id="257" r:id="R465543ba3d1d4a5c"/>
    <p:sldId xmlns:r="http://schemas.openxmlformats.org/officeDocument/2006/relationships" id="258" r:id="Rb78a78ef525a408f"/>
    <p:sldId xmlns:r="http://schemas.openxmlformats.org/officeDocument/2006/relationships" id="259" r:id="R1a32db2e26124352"/>
    <p:sldId xmlns:r="http://schemas.openxmlformats.org/officeDocument/2006/relationships" id="260" r:id="R5c789fc05950470e"/>
    <p:sldId xmlns:r="http://schemas.openxmlformats.org/officeDocument/2006/relationships" id="261" r:id="R3a18e546485b46be"/>
    <p:sldId xmlns:r="http://schemas.openxmlformats.org/officeDocument/2006/relationships" id="262" r:id="R8cc32bd45c4d47c5"/>
    <p:sldId xmlns:r="http://schemas.openxmlformats.org/officeDocument/2006/relationships" id="263" r:id="R2bee4f32fa7c4848"/>
    <p:sldId xmlns:r="http://schemas.openxmlformats.org/officeDocument/2006/relationships" id="264" r:id="R6373e3de57cd4ff1"/>
    <p:sldId xmlns:r="http://schemas.openxmlformats.org/officeDocument/2006/relationships" id="265" r:id="R6085d37ccc2f40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31077ea0cb49c4" /><Relationship Type="http://schemas.openxmlformats.org/officeDocument/2006/relationships/slideMaster" Target="/ppt/slideMasters/slideMaster1.xml" Id="R0cfbf714cfe54403" /><Relationship Type="http://schemas.openxmlformats.org/officeDocument/2006/relationships/notesMaster" Target="/ppt/notesMasters/notesMaster1.xml" Id="R91e135d7d7f74c41" /><Relationship Type="http://schemas.openxmlformats.org/officeDocument/2006/relationships/presProps" Target="/ppt/presProps.xml" Id="Rf7818a6e587b4a9e" /><Relationship Type="http://schemas.openxmlformats.org/officeDocument/2006/relationships/tableStyles" Target="/ppt/tableStyles.xml" Id="R3b7423b3661440b0" /><Relationship Type="http://schemas.openxmlformats.org/officeDocument/2006/relationships/slide" Target="/ppt/slides/slide1.xml" Id="R6a4cbcf836f1417a" /><Relationship Type="http://schemas.openxmlformats.org/officeDocument/2006/relationships/slide" Target="/ppt/slides/slide2.xml" Id="R465543ba3d1d4a5c" /><Relationship Type="http://schemas.openxmlformats.org/officeDocument/2006/relationships/slide" Target="/ppt/slides/slide3.xml" Id="Rb78a78ef525a408f" /><Relationship Type="http://schemas.openxmlformats.org/officeDocument/2006/relationships/slide" Target="/ppt/slides/slide4.xml" Id="R1a32db2e26124352" /><Relationship Type="http://schemas.openxmlformats.org/officeDocument/2006/relationships/slide" Target="/ppt/slides/slide5.xml" Id="R5c789fc05950470e" /><Relationship Type="http://schemas.openxmlformats.org/officeDocument/2006/relationships/slide" Target="/ppt/slides/slide6.xml" Id="R3a18e546485b46be" /><Relationship Type="http://schemas.openxmlformats.org/officeDocument/2006/relationships/slide" Target="/ppt/slides/slide7.xml" Id="R8cc32bd45c4d47c5" /><Relationship Type="http://schemas.openxmlformats.org/officeDocument/2006/relationships/slide" Target="/ppt/slides/slide8.xml" Id="R2bee4f32fa7c4848" /><Relationship Type="http://schemas.openxmlformats.org/officeDocument/2006/relationships/slide" Target="/ppt/slides/slide9.xml" Id="R6373e3de57cd4ff1" /><Relationship Type="http://schemas.openxmlformats.org/officeDocument/2006/relationships/slide" Target="/ppt/slides/slide10.xml" Id="R6085d37ccc2f40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cc320d0eac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ce7693d6164618" /><Relationship Type="http://schemas.openxmlformats.org/officeDocument/2006/relationships/notesMaster" Target="/ppt/notesMasters/notesMaster1.xml" Id="Ra722511dd89f4d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0d0cf401624ebd" /><Relationship Type="http://schemas.openxmlformats.org/officeDocument/2006/relationships/notesMaster" Target="/ppt/notesMasters/notesMaster1.xml" Id="Red15a68ad3524e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c00fb589e4a9f" /><Relationship Type="http://schemas.openxmlformats.org/officeDocument/2006/relationships/notesMaster" Target="/ppt/notesMasters/notesMaster1.xml" Id="R16ed48a7a37a4f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4cdedd977b4034" /><Relationship Type="http://schemas.openxmlformats.org/officeDocument/2006/relationships/notesMaster" Target="/ppt/notesMasters/notesMaster1.xml" Id="R109e259f96a74a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598b47a45c46a8" /><Relationship Type="http://schemas.openxmlformats.org/officeDocument/2006/relationships/notesMaster" Target="/ppt/notesMasters/notesMaster1.xml" Id="Rab05a27026434b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a74b41ee4a47a4" /><Relationship Type="http://schemas.openxmlformats.org/officeDocument/2006/relationships/notesMaster" Target="/ppt/notesMasters/notesMaster1.xml" Id="R92eb7c82925a48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5aca4903054e81" /><Relationship Type="http://schemas.openxmlformats.org/officeDocument/2006/relationships/notesMaster" Target="/ppt/notesMasters/notesMaster1.xml" Id="Rdafe8a0eca2d47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50d802f45d4212" /><Relationship Type="http://schemas.openxmlformats.org/officeDocument/2006/relationships/notesMaster" Target="/ppt/notesMasters/notesMaster1.xml" Id="Rb51f9d6ca7ec48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f28bc267a84a2f" /><Relationship Type="http://schemas.openxmlformats.org/officeDocument/2006/relationships/notesMaster" Target="/ppt/notesMasters/notesMaster1.xml" Id="Rc4ba9b71399c40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9473100cfe49b2" /><Relationship Type="http://schemas.openxmlformats.org/officeDocument/2006/relationships/notesMaster" Target="/ppt/notesMasters/notesMaster1.xml" Id="R858aa79b4fa148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 проект помогает сохранять полезные знания из разговоров с ИИ.</a:t>
            </a:r>
          </a:p>
          <a:p xmlns:a="http://schemas.openxmlformats.org/drawingml/2006/main">
            <a:r>
              <a:t>Человек задаёт вопросы, уточняет ответы и приходит к выводам.</a:t>
            </a:r>
          </a:p>
          <a:p xmlns:a="http://schemas.openxmlformats.org/drawingml/2006/main">
            <a:r>
              <a:t>Система анализирует весь диалог и добавляет важное в личную базу Obsidian.</a:t>
            </a:r>
          </a:p>
          <a:p xmlns:a="http://schemas.openxmlformats.org/drawingml/2006/main">
            <a:r>
              <a:t>Она связывает новые знания с существующими заметками.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уточнения (не читать вслух):</a:t>
            </a:r>
          </a:p>
          <a:p xmlns:a="http://schemas.openxmlformats.org/drawingml/2006/main">
            <a:r>
              <a:t>README.md; docs/requirements.md, разделы 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Наши пользователи часто обсуждают с ИИ рабочие задачи, личные проекты или новые темы.</a:t>
            </a:r>
          </a:p>
          <a:p xmlns:a="http://schemas.openxmlformats.org/drawingml/2006/main">
            <a:r>
              <a:t>Они хотят использовать полученные знания позже.</a:t>
            </a:r>
          </a:p>
          <a:p xmlns:a="http://schemas.openxmlformats.org/drawingml/2006/main">
            <a:r>
              <a:t>Например, это разработчики, исследователи и авторы.</a:t>
            </a:r>
          </a:p>
          <a:p xmlns:a="http://schemas.openxmlformats.org/drawingml/2006/main">
            <a:r>
              <a:t>На первом этапе мы ориентируемся на людей, которые уже ведут заметки в Obsidian.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уточнения (не читать вслух):</a:t>
            </a:r>
          </a:p>
          <a:p xmlns:a="http://schemas.openxmlformats.org/drawingml/2006/main">
            <a:r>
              <a:t>docs/requirements.md, разделы 1–2; README.md. Группы пользователей являются гипотезой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Полезный вывод часто появляется после нескольких вопросов и уточнений.</a:t>
            </a:r>
          </a:p>
          <a:p xmlns:a="http://schemas.openxmlformats.org/drawingml/2006/main">
            <a:r>
              <a:t>Важная информация остаётся в разных частях разговора.</a:t>
            </a:r>
          </a:p>
          <a:p xmlns:a="http://schemas.openxmlformats.org/drawingml/2006/main">
            <a:r>
              <a:t>Чтобы сохранить её, человеку приходится перечитывать диалог и собирать заметку вручную.</a:t>
            </a:r>
          </a:p>
          <a:p xmlns:a="http://schemas.openxmlformats.org/drawingml/2006/main">
            <a:r>
              <a:t>Наш интерфейс помогает организовать эти знания по темам и связать их между собой.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уточнения (не читать вслух):</a:t>
            </a:r>
          </a:p>
          <a:p xmlns:a="http://schemas.openxmlformats.org/drawingml/2006/main">
            <a:r>
              <a:t>docs/requirements.md, US-2, US-3, US-7 и сценарий 9; docs/agent-workflow.md, шаги 2–5.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сохраняем понятия, способы решения задач и важные выводы.</a:t>
            </a:r>
          </a:p>
          <a:p xmlns:a="http://schemas.openxmlformats.org/drawingml/2006/main">
            <a:r>
              <a:t>Также полезно показать, как изменилось понимание человека во время разговора.</a:t>
            </a:r>
          </a:p>
          <a:p xmlns:a="http://schemas.openxmlformats.org/drawingml/2006/main">
            <a:r>
              <a:t>Повторы и случайные детали можно пропустить.</a:t>
            </a:r>
          </a:p>
          <a:p xmlns:a="http://schemas.openxmlformats.org/drawingml/2006/main">
            <a:r>
              <a:t>Главный вопрос: будет ли это знание полезно через несколько месяцев?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уточнения (не читать вслух):</a:t>
            </a:r>
          </a:p>
          <a:p xmlns:a="http://schemas.openxmlformats.org/drawingml/2006/main">
            <a:r>
              <a:t>backend/app/prompts/extract/prompt.md; backend/app/prompts/classify/prompt.md; backend/app/prompts/generate/prompt.md; docs/learning/05-knowledge-extraction.md.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Система сравнивает новые знания с базой.</a:t>
            </a:r>
          </a:p>
          <a:p xmlns:a="http://schemas.openxmlformats.org/drawingml/2006/main">
            <a:r>
              <a:t>Для новой темы она создаёт заметку, а знакомую тему дополняет.</a:t>
            </a:r>
          </a:p>
          <a:p xmlns:a="http://schemas.openxmlformats.org/drawingml/2006/main">
            <a:r>
              <a:t>Небольшую деталь можно добавить в отдельный раздел.</a:t>
            </a:r>
          </a:p>
          <a:p xmlns:a="http://schemas.openxmlformats.org/drawingml/2006/main">
            <a:r>
              <a:t>Повторы система пропускает, связанные заметки соединяет ссылками.</a:t>
            </a:r>
          </a:p>
          <a:p xmlns:a="http://schemas.openxmlformats.org/drawingml/2006/main">
            <a:r>
              <a:t>Если есть противоречие, решение принимает пользователь.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уточнения (не читать вслух):</a:t>
            </a:r>
          </a:p>
          <a:p xmlns:a="http://schemas.openxmlformats.org/drawingml/2006/main">
            <a:r>
              <a:t>backend/app/prompts/plan/prompt.md; docs/agent-workflow.md, шаги 5–10; docs/architecture.md, D5.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Рассмотрим пример разговора о резервных копиях и проверке восстановления.</a:t>
            </a:r>
          </a:p>
          <a:p xmlns:a="http://schemas.openxmlformats.org/drawingml/2006/main">
            <a:r>
              <a:t>Пользователь импортирует готовый диалог.</a:t>
            </a:r>
          </a:p>
          <a:p xmlns:a="http://schemas.openxmlformats.org/drawingml/2006/main">
            <a:r>
              <a:t>Система выделяет полезное знание, находит заметку о резервном копировании и предлагает добавить раздел.</a:t>
            </a:r>
          </a:p>
          <a:p xmlns:a="http://schemas.openxmlformats.org/drawingml/2006/main">
            <a:r>
              <a:t>Пользователь проверяет план.</a:t>
            </a:r>
          </a:p>
          <a:p xmlns:a="http://schemas.openxmlformats.org/drawingml/2006/main">
            <a:r>
              <a:t>После одобрения система сама пишет текст, сохраняет изменения и проверяет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уточнения (не читать вслух):</a:t>
            </a:r>
          </a:p>
          <a:p xmlns:a="http://schemas.openxmlformats.org/drawingml/2006/main">
            <a:r>
              <a:t>docs/agent-workflow.md, шаги 4–13; docs/architecture.md, D2 и D5; backend/app/agent/policy.py. Пример иллюстративный. Дополнение существующей заметки требует одобрения.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макет интерфейса.</a:t>
            </a:r>
          </a:p>
          <a:p xmlns:a="http://schemas.openxmlformats.org/drawingml/2006/main">
            <a:r>
              <a:t>Слева видны знание и фрагмент диалога, справа находится план изменений.</a:t>
            </a:r>
          </a:p>
          <a:p xmlns:a="http://schemas.openxmlformats.org/drawingml/2006/main">
            <a:r>
              <a:t>Пользователь может одобрить план, убрать действие или отказаться.</a:t>
            </a:r>
          </a:p>
          <a:p xmlns:a="http://schemas.openxmlformats.org/drawingml/2006/main">
            <a:r>
              <a:t>Окончательный текст система создаёт после одобрения.</a:t>
            </a:r>
          </a:p>
          <a:p xmlns:a="http://schemas.openxmlformats.org/drawingml/2006/main">
            <a:r>
              <a:t>По отдельной настройке создание новых заметок с низким риском может проходить автоматически.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уточнения (не читать вслух):</a:t>
            </a:r>
          </a:p>
          <a:p xmlns:a="http://schemas.openxmlformats.org/drawingml/2006/main">
            <a:r>
              <a:t>docs/agent-workflow.md, шаги 8–13; backend/app/agent/policy.py; frontend/src/components/PlanPanel.vue. По умолчанию подтверждение включено. Автоматический допуск возможен только для соответствующих условиям планов создания новых заметок.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Без приложения человек сам перечитывает разговор, ищет нужную заметку и переносит информацию.</a:t>
            </a:r>
          </a:p>
          <a:p xmlns:a="http://schemas.openxmlformats.org/drawingml/2006/main">
            <a:r>
              <a:t>Наша система выполняет эту работу и добавляет связи.</a:t>
            </a:r>
          </a:p>
          <a:p xmlns:a="http://schemas.openxmlformats.org/drawingml/2006/main">
            <a:r>
              <a:t>Пользователь загружает диалог и при необходимости проверяет план.</a:t>
            </a:r>
          </a:p>
          <a:p xmlns:a="http://schemas.openxmlformats.org/drawingml/2006/main">
            <a:r>
              <a:t>Поэтому мы ожидаем, что сохранение знаний займёт меньше времени.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уточнения (не читать вслух):</a:t>
            </a:r>
          </a:p>
          <a:p xmlns:a="http://schemas.openxmlformats.org/drawingml/2006/main">
            <a:r>
              <a:t>docs/architecture.md, D2; docs/agent-workflow.md, шаги 8–13; backend/app/agent/policy.py. Выигрыш во времени является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Чтобы проверить пользу, мы сравним ручной способ и наш интерфейс.</a:t>
            </a:r>
          </a:p>
          <a:p xmlns:a="http://schemas.openxmlformats.org/drawingml/2006/main">
            <a:r>
              <a:t>Измерим время и проверим качество заметок: нет ли пропусков, повторов и неверных связей.</a:t>
            </a:r>
          </a:p>
          <a:p xmlns:a="http://schemas.openxmlformats.org/drawingml/2006/main">
            <a:r>
              <a:t>Позже попросим участников найти сохранённое знание.</a:t>
            </a:r>
          </a:p>
          <a:p xmlns:a="http://schemas.openxmlformats.org/drawingml/2006/main">
            <a:r>
              <a:t>Это план проверки, готовых результатов пока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уточнения (не читать вслух):</a:t>
            </a:r>
          </a:p>
          <a:p xmlns:a="http://schemas.openxmlformats.org/drawingml/2006/main">
            <a:r>
              <a:t>Предлагаемый план исследования. Критерии качества: docs/requirements.md, раздел 6. Ограничения: docs/known-limitations.md, раздел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Спасибо за внимание!</a:t>
            </a:r>
          </a:p>
          <a:p xmlns:a="http://schemas.openxmlformats.org/drawingml/2006/main">
            <a:r>
              <a:t>Готовы ответить на ваши вопросы.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c72c847e34d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d7ddeaa588471d" /><Relationship Type="http://schemas.openxmlformats.org/officeDocument/2006/relationships/slideLayout" Target="/ppt/slideLayouts/slideLayout1.xml" Id="Rb98182204cfe47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8182204cfe47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146a8e9964029" /><Relationship Type="http://schemas.openxmlformats.org/officeDocument/2006/relationships/notesSlide" Target="/ppt/notesSlides/notesSlide1.xml" Id="R28c4eacc70ed4f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106442f1b4f09" /><Relationship Type="http://schemas.openxmlformats.org/officeDocument/2006/relationships/notesSlide" Target="/ppt/notesSlides/notesSlide2.xml" Id="Rdbeb17f88b4b4b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63ef2cfcc4987" /><Relationship Type="http://schemas.openxmlformats.org/officeDocument/2006/relationships/notesSlide" Target="/ppt/notesSlides/notesSlide3.xml" Id="R8f961c3ce673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2b7aa75db47fb" /><Relationship Type="http://schemas.openxmlformats.org/officeDocument/2006/relationships/notesSlide" Target="/ppt/notesSlides/notesSlide4.xml" Id="R3c7dc0d62629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a3bfdf0854422" /><Relationship Type="http://schemas.openxmlformats.org/officeDocument/2006/relationships/notesSlide" Target="/ppt/notesSlides/notesSlide5.xml" Id="R7399ed223d8148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9a3946d6e47a0" /><Relationship Type="http://schemas.openxmlformats.org/officeDocument/2006/relationships/notesSlide" Target="/ppt/notesSlides/notesSlide6.xml" Id="R4d43f20ca1c04d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6c1f733f845be" /><Relationship Type="http://schemas.openxmlformats.org/officeDocument/2006/relationships/image" Target="/ppt/media/image.png" Id="R09d33edc1fba483b" /><Relationship Type="http://schemas.openxmlformats.org/officeDocument/2006/relationships/notesSlide" Target="/ppt/notesSlides/notesSlide7.xml" Id="R72f91dddc43c40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bc3a8ef46493e" /><Relationship Type="http://schemas.openxmlformats.org/officeDocument/2006/relationships/notesSlide" Target="/ppt/notesSlides/notesSlide8.xml" Id="R9e245c8a00fb47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e8902e5d147e4" /><Relationship Type="http://schemas.openxmlformats.org/officeDocument/2006/relationships/notesSlide" Target="/ppt/notesSlides/notesSlide9.xml" Id="Re96899e9873a46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034d64c524efe" /><Relationship Type="http://schemas.openxmlformats.org/officeDocument/2006/relationships/notesSlide" Target="/ppt/notesSlides/notesSlide10.xml" Id="Rfd8ba225f1fe46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FCC0FD8-7417-470F-977E-4687E082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Личная база знаний&#10;из диалогов с ИИ">
            <a:extLst xmlns:a="http://schemas.openxmlformats.org/drawingml/2006/main">
              <a:ext uri="{FF2B5EF4-FFF2-40B4-BE49-F238E27FC236}">
                <a16:creationId xmlns:a16="http://schemas.microsoft.com/office/drawing/2014/main" id="{73F6082C-1A86-413B-93AC-DF98E211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Личная база знаний</a:t>
            </a:r>
          </a:p>
          <a:p xmlns:a="http://schemas.openxmlformats.org/drawingml/2006/main">
            <a:pPr>
              <a:buNone/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диалогов с ИИ</a:t>
            </a:r>
          </a:p>
        </p:txBody>
      </p:sp>
      <p:sp>
        <p:nvSpPr>
          <p:cNvPr id="3" name="Извлечение ценных знаний из многошаговых диалогов&#10;и их включение в сущ">
            <a:extLst xmlns:a="http://schemas.openxmlformats.org/drawingml/2006/main">
              <a:ext uri="{FF2B5EF4-FFF2-40B4-BE49-F238E27FC236}">
                <a16:creationId xmlns:a16="http://schemas.microsoft.com/office/drawing/2014/main" id="{CE763D01-4025-4ACC-9CC3-A2B623B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668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Извлечение ценных знаний из многошаговых диалогов</a:t>
            </a:r>
          </a:p>
          <a:p xmlns:a="http://schemas.openxmlformats.org/drawingml/2006/main">
            <a:pPr>
              <a:buNone/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их включение в существующую базу Obsidian</a:t>
            </a:r>
          </a:p>
        </p:txBody>
      </p:sp>
      <p:sp>
        <p:nvSpPr>
          <p:cNvPr id="4" name="Conversation-to-Knowledge Agent">
            <a:extLst xmlns:a="http://schemas.openxmlformats.org/drawingml/2006/main">
              <a:ext uri="{FF2B5EF4-FFF2-40B4-BE49-F238E27FC236}">
                <a16:creationId xmlns:a16="http://schemas.microsoft.com/office/drawing/2014/main" id="{D60C15F5-EEC1-41F0-A835-3BE77068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</p:spTree>
    <p:extLst>
      <p:ext uri="{BB962C8B-B14F-4D97-AF65-F5344CB8AC3E}">
        <p14:creationId xmlns:p14="http://schemas.microsoft.com/office/powerpoint/2010/main" val="633406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Для кого мы создаём интерфейс">
            <a:extLst xmlns:a="http://schemas.openxmlformats.org/drawingml/2006/main">
              <a:ext uri="{FF2B5EF4-FFF2-40B4-BE49-F238E27FC236}">
                <a16:creationId xmlns:a16="http://schemas.microsoft.com/office/drawing/2014/main" id="{FD9F749B-1624-45B7-BA2D-41E8265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Для кого мы создаём интерфейс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C65F39A3-DDA6-4185-A35C-8457AB73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Регулярно обсуждают&#10;вопросы с ИИ">
            <a:extLst xmlns:a="http://schemas.openxmlformats.org/drawingml/2006/main">
              <a:ext uri="{FF2B5EF4-FFF2-40B4-BE49-F238E27FC236}">
                <a16:creationId xmlns:a16="http://schemas.microsoft.com/office/drawing/2014/main" id="{FA682BFD-0F07-4E89-8299-70940854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Регулярно обсуждают</a:t>
            </a:r>
          </a:p>
          <a:p xmlns:a="http://schemas.openxmlformats.org/drawingml/2006/main">
            <a:pPr>
              <a:buNone/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вопросы с ИИ</a:t>
            </a:r>
          </a:p>
        </p:txBody>
      </p:sp>
      <p:sp>
        <p:nvSpPr>
          <p:cNvPr id="4" name="Хотят сохранять знания&#10;и применять их снова">
            <a:extLst xmlns:a="http://schemas.openxmlformats.org/drawingml/2006/main">
              <a:ext uri="{FF2B5EF4-FFF2-40B4-BE49-F238E27FC236}">
                <a16:creationId xmlns:a16="http://schemas.microsoft.com/office/drawing/2014/main" id="{FF02CE57-7E37-49AE-8F6E-ABA4DD6A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Хотят сохранять знания</a:t>
            </a:r>
          </a:p>
          <a:p xmlns:a="http://schemas.openxmlformats.org/drawingml/2006/main">
            <a:pPr>
              <a:buNone/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применять их снова</a:t>
            </a:r>
          </a:p>
        </p:txBody>
      </p:sp>
      <p:sp>
        <p:nvSpPr>
          <p:cNvPr id="5" name="Для первого этапа:&#10;пользователи Obsidian">
            <a:extLst xmlns:a="http://schemas.openxmlformats.org/drawingml/2006/main">
              <a:ext uri="{FF2B5EF4-FFF2-40B4-BE49-F238E27FC236}">
                <a16:creationId xmlns:a16="http://schemas.microsoft.com/office/drawing/2014/main" id="{92E2BC63-21F5-4F51-8DFE-A6262F83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Для первого этапа:</a:t>
            </a:r>
          </a:p>
          <a:p xmlns:a="http://schemas.openxmlformats.org/drawingml/2006/main">
            <a:pPr>
              <a:buNone/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пользователи Obsidian</a:t>
            </a:r>
          </a:p>
        </p:txBody>
      </p:sp>
      <p:sp>
        <p:nvSpPr>
          <p:cNvPr id="6" name="Работа и личные проекты">
            <a:extLst xmlns:a="http://schemas.openxmlformats.org/drawingml/2006/main">
              <a:ext uri="{FF2B5EF4-FFF2-40B4-BE49-F238E27FC236}">
                <a16:creationId xmlns:a16="http://schemas.microsoft.com/office/drawing/2014/main" id="{C75575AE-5653-4DAC-8937-FAFB83EF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Работа и личные проекты</a:t>
            </a:r>
          </a:p>
        </p:txBody>
      </p:sp>
      <p:sp>
        <p:nvSpPr>
          <p:cNvPr id="7" name="Разработка, исследования,&#10;анализ и создание материалов">
            <a:extLst xmlns:a="http://schemas.openxmlformats.org/drawingml/2006/main">
              <a:ext uri="{FF2B5EF4-FFF2-40B4-BE49-F238E27FC236}">
                <a16:creationId xmlns:a16="http://schemas.microsoft.com/office/drawing/2014/main" id="{A765393E-30D3-43FD-BA3F-21C6743A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4857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Разработка, исследования,</a:t>
            </a:r>
          </a:p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анализ и создание материалов</a:t>
            </a:r>
          </a:p>
        </p:txBody>
      </p:sp>
      <p:sp>
        <p:nvSpPr>
          <p:cNvPr id="8" name="Самостоятельное изучение тем">
            <a:extLst xmlns:a="http://schemas.openxmlformats.org/drawingml/2006/main">
              <a:ext uri="{FF2B5EF4-FFF2-40B4-BE49-F238E27FC236}">
                <a16:creationId xmlns:a16="http://schemas.microsoft.com/office/drawing/2014/main" id="{64168C1B-CF04-438B-8763-193CAC2F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905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Самостоятельное изучение тем</a:t>
            </a:r>
          </a:p>
        </p:txBody>
      </p:sp>
      <p:sp>
        <p:nvSpPr>
          <p:cNvPr id="9" name="Профессиональные интересы&#10;и повседневные вопросы">
            <a:extLst xmlns:a="http://schemas.openxmlformats.org/drawingml/2006/main">
              <a:ext uri="{FF2B5EF4-FFF2-40B4-BE49-F238E27FC236}">
                <a16:creationId xmlns:a16="http://schemas.microsoft.com/office/drawing/2014/main" id="{AC09991D-6BDC-4BE0-B487-9C637DBF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Профессиональные интересы</a:t>
            </a:r>
          </a:p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повседневные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623399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очему знания трудно сохранить из диалога">
            <a:extLst xmlns:a="http://schemas.openxmlformats.org/drawingml/2006/main">
              <a:ext uri="{FF2B5EF4-FFF2-40B4-BE49-F238E27FC236}">
                <a16:creationId xmlns:a16="http://schemas.microsoft.com/office/drawing/2014/main" id="{0BAF2C1D-37C6-4E4A-AB86-CD810620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знания трудно сохранить из диалога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C076E357-5A36-497D-A19D-99820238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В ходе разговора">
            <a:extLst xmlns:a="http://schemas.openxmlformats.org/drawingml/2006/main">
              <a:ext uri="{FF2B5EF4-FFF2-40B4-BE49-F238E27FC236}">
                <a16:creationId xmlns:a16="http://schemas.microsoft.com/office/drawing/2014/main" id="{D9E9738E-3D75-493F-8DC8-A806DC63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В ходе разговора</a:t>
            </a:r>
          </a:p>
        </p:txBody>
      </p:sp>
      <p:sp>
        <p:nvSpPr>
          <p:cNvPr id="4" name="Вопрос и первый ответ&#10;Уточнения и новые условия&#10;Исправления и выводы">
            <a:extLst xmlns:a="http://schemas.openxmlformats.org/drawingml/2006/main">
              <a:ext uri="{FF2B5EF4-FFF2-40B4-BE49-F238E27FC236}">
                <a16:creationId xmlns:a16="http://schemas.microsoft.com/office/drawing/2014/main" id="{374C2B9C-FCDD-411D-8BEE-D3CC6BEA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238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Вопрос и первый ответ</a:t>
            </a:r>
          </a:p>
          <a:p xmlns:a="http://schemas.openxmlformats.org/drawingml/2006/main"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Уточнения и новые условия</a:t>
            </a:r>
          </a:p>
          <a:p xmlns:a="http://schemas.openxmlformats.org/drawingml/2006/main"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Исправления и выводы</a:t>
            </a:r>
          </a:p>
        </p:txBody>
      </p:sp>
      <p:sp>
        <p:nvSpPr>
          <p:cNvPr id="5" name="Чтобы использовать позже">
            <a:extLst xmlns:a="http://schemas.openxmlformats.org/drawingml/2006/main">
              <a:ext uri="{FF2B5EF4-FFF2-40B4-BE49-F238E27FC236}">
                <a16:creationId xmlns:a16="http://schemas.microsoft.com/office/drawing/2014/main" id="{0E07C676-A6DC-47FE-9C11-B766F309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Чтобы использовать позже</a:t>
            </a:r>
          </a:p>
        </p:txBody>
      </p:sp>
      <p:sp>
        <p:nvSpPr>
          <p:cNvPr id="6" name="Собрать смысл из разных реплик&#10;Убрать повторы и временные детали&#10;Связа">
            <a:extLst xmlns:a="http://schemas.openxmlformats.org/drawingml/2006/main">
              <a:ext uri="{FF2B5EF4-FFF2-40B4-BE49-F238E27FC236}">
                <a16:creationId xmlns:a16="http://schemas.microsoft.com/office/drawing/2014/main" id="{010FCCCF-88B0-4121-8764-DB5768A2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9720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Собрать смысл из разных реплик</a:t>
            </a:r>
          </a:p>
          <a:p xmlns:a="http://schemas.openxmlformats.org/drawingml/2006/main"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Убрать повторы и временные детали</a:t>
            </a:r>
          </a:p>
          <a:p xmlns:a="http://schemas.openxmlformats.org/drawingml/2006/main"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Связать с тем, что уже известно</a:t>
            </a:r>
          </a:p>
        </p:txBody>
      </p:sp>
      <p:sp>
        <p:nvSpPr>
          <p:cNvPr id="7" name="Обсуждение идёт по порядку реплик.&#10;Знания нужны в структуре тем и связ">
            <a:extLst xmlns:a="http://schemas.openxmlformats.org/drawingml/2006/main">
              <a:ext uri="{FF2B5EF4-FFF2-40B4-BE49-F238E27FC236}">
                <a16:creationId xmlns:a16="http://schemas.microsoft.com/office/drawing/2014/main" id="{A54462EE-8BF4-4642-A947-6D06E792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Обсуждение идёт по порядку реплик.</a:t>
            </a:r>
          </a:p>
          <a:p xmlns:a="http://schemas.openxmlformats.org/drawingml/2006/main">
            <a:pPr>
              <a:buNone/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Знания нужны в структуре тем и связей.</a:t>
            </a:r>
          </a:p>
        </p:txBody>
      </p:sp>
    </p:spTree>
    <p:extLst>
      <p:ext uri="{BB962C8B-B14F-4D97-AF65-F5344CB8AC3E}">
        <p14:creationId xmlns:p14="http://schemas.microsoft.com/office/powerpoint/2010/main" val="555393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акие знания мы извлекаем">
            <a:extLst xmlns:a="http://schemas.openxmlformats.org/drawingml/2006/main">
              <a:ext uri="{FF2B5EF4-FFF2-40B4-BE49-F238E27FC236}">
                <a16:creationId xmlns:a16="http://schemas.microsoft.com/office/drawing/2014/main" id="{6F503786-004D-4FE3-A688-F49546BB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Какие знания мы извлекаем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16453890-793D-4189-87BE-AE261B85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Понятия и объяснения">
            <a:extLst xmlns:a="http://schemas.openxmlformats.org/drawingml/2006/main">
              <a:ext uri="{FF2B5EF4-FFF2-40B4-BE49-F238E27FC236}">
                <a16:creationId xmlns:a16="http://schemas.microsoft.com/office/drawing/2014/main" id="{5EDEFFFB-5881-409A-8EA5-FAF7A584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Понятия и объяснения</a:t>
            </a:r>
          </a:p>
        </p:txBody>
      </p:sp>
      <p:sp>
        <p:nvSpPr>
          <p:cNvPr id="4" name="Суть идеи и важные уточнения">
            <a:extLst xmlns:a="http://schemas.openxmlformats.org/drawingml/2006/main">
              <a:ext uri="{FF2B5EF4-FFF2-40B4-BE49-F238E27FC236}">
                <a16:creationId xmlns:a16="http://schemas.microsoft.com/office/drawing/2014/main" id="{57FE78C7-8CD2-4794-A4BB-C256601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383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Суть идеи и важные уточнения</a:t>
            </a:r>
          </a:p>
        </p:txBody>
      </p:sp>
      <p:sp>
        <p:nvSpPr>
          <p:cNvPr id="5" name="Методы и решения">
            <a:extLst xmlns:a="http://schemas.openxmlformats.org/drawingml/2006/main">
              <a:ext uri="{FF2B5EF4-FFF2-40B4-BE49-F238E27FC236}">
                <a16:creationId xmlns:a16="http://schemas.microsoft.com/office/drawing/2014/main" id="{F0CD4FD9-D160-45B9-84DF-996A20B7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Методы и решения</a:t>
            </a:r>
          </a:p>
        </p:txBody>
      </p:sp>
      <p:sp>
        <p:nvSpPr>
          <p:cNvPr id="6" name="Как действовать и при каких условиях">
            <a:extLst xmlns:a="http://schemas.openxmlformats.org/drawingml/2006/main">
              <a:ext uri="{FF2B5EF4-FFF2-40B4-BE49-F238E27FC236}">
                <a16:creationId xmlns:a16="http://schemas.microsoft.com/office/drawing/2014/main" id="{72147D62-BAB9-4C93-BB25-7513C5FB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527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действовать и при каких условиях</a:t>
            </a:r>
          </a:p>
        </p:txBody>
      </p:sp>
      <p:sp>
        <p:nvSpPr>
          <p:cNvPr id="7" name="Выводы и выбор">
            <a:extLst xmlns:a="http://schemas.openxmlformats.org/drawingml/2006/main">
              <a:ext uri="{FF2B5EF4-FFF2-40B4-BE49-F238E27FC236}">
                <a16:creationId xmlns:a16="http://schemas.microsoft.com/office/drawing/2014/main" id="{59F0D84D-5D36-4285-A4B6-123CE408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Выводы и выбор</a:t>
            </a:r>
          </a:p>
        </p:txBody>
      </p:sp>
      <p:sp>
        <p:nvSpPr>
          <p:cNvPr id="8" name="Результат обсуждения и его основания">
            <a:extLst xmlns:a="http://schemas.openxmlformats.org/drawingml/2006/main">
              <a:ext uri="{FF2B5EF4-FFF2-40B4-BE49-F238E27FC236}">
                <a16:creationId xmlns:a16="http://schemas.microsoft.com/office/drawing/2014/main" id="{4B991C3B-1A49-467E-9DAA-D960B60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Результат обсуждения и его основания</a:t>
            </a:r>
          </a:p>
        </p:txBody>
      </p:sp>
      <p:sp>
        <p:nvSpPr>
          <p:cNvPr id="9" name="Развитие понимания">
            <a:extLst xmlns:a="http://schemas.openxmlformats.org/drawingml/2006/main">
              <a:ext uri="{FF2B5EF4-FFF2-40B4-BE49-F238E27FC236}">
                <a16:creationId xmlns:a16="http://schemas.microsoft.com/office/drawing/2014/main" id="{CC4ADB22-91BD-4406-9E5B-99B59E03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Развитие понимания</a:t>
            </a:r>
          </a:p>
        </p:txBody>
      </p:sp>
      <p:sp>
        <p:nvSpPr>
          <p:cNvPr id="10" name="Исходное понимание, уточнение, итог">
            <a:extLst xmlns:a="http://schemas.openxmlformats.org/drawingml/2006/main">
              <a:ext uri="{FF2B5EF4-FFF2-40B4-BE49-F238E27FC236}">
                <a16:creationId xmlns:a16="http://schemas.microsoft.com/office/drawing/2014/main" id="{C8561227-4DE1-48C4-B72E-536883C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815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Исходное понимание, уточнение, итог</a:t>
            </a:r>
          </a:p>
        </p:txBody>
      </p:sp>
      <p:sp>
        <p:nvSpPr>
          <p:cNvPr id="11" name="Отбираем то, что полезно сохранить надолго.&#10;Пропускаем повторы, привет">
            <a:extLst xmlns:a="http://schemas.openxmlformats.org/drawingml/2006/main">
              <a:ext uri="{FF2B5EF4-FFF2-40B4-BE49-F238E27FC236}">
                <a16:creationId xmlns:a16="http://schemas.microsoft.com/office/drawing/2014/main" id="{22ED3137-7D24-48E1-BB44-3F66A281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Отбираем то, что полезно сохранить надолго.</a:t>
            </a:r>
          </a:p>
          <a:p xmlns:a="http://schemas.openxmlformats.org/drawingml/2006/main"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Пропускаем повторы, приветствия и временные детали.</a:t>
            </a:r>
          </a:p>
        </p:txBody>
      </p:sp>
    </p:spTree>
    <p:extLst>
      <p:ext uri="{BB962C8B-B14F-4D97-AF65-F5344CB8AC3E}">
        <p14:creationId xmlns:p14="http://schemas.microsoft.com/office/powerpoint/2010/main" val="504737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Как новые знания дополняют базу">
            <a:extLst xmlns:a="http://schemas.openxmlformats.org/drawingml/2006/main">
              <a:ext uri="{FF2B5EF4-FFF2-40B4-BE49-F238E27FC236}">
                <a16:creationId xmlns:a16="http://schemas.microsoft.com/office/drawing/2014/main" id="{3A3F92A0-97A1-4C97-B72A-991B38E1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новые знания дополняют базу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32115F17-CFCE-4E4D-9436-5679CE65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19700"/>
                <a:gridCol w="56007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найдено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Предложение системы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Новое самостоятельное знание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Создать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Дополнение к знакомой теме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Дополнить существующую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Небольшая часть общей темы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Включить в раздел подходящей заметки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Повтор без новой информации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Пропустить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Противоречие прежней записи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Отметить конфликт для проверки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</a:tbl>
          </a:graphicData>
        </a:graphic>
      </p:graphicFrame>
      <p:sp>
        <p:nvSpPr>
          <p:cNvPr id="4" name="Связи между заметками объединяют знания из разных диалогов">
            <a:extLst xmlns:a="http://schemas.openxmlformats.org/drawingml/2006/main">
              <a:ext uri="{FF2B5EF4-FFF2-40B4-BE49-F238E27FC236}">
                <a16:creationId xmlns:a16="http://schemas.microsoft.com/office/drawing/2014/main" id="{933A0C3A-C433-4295-9722-C16BD992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Связи между заметками объединяют знания из разных диалогов</a:t>
            </a:r>
          </a:p>
        </p:txBody>
      </p:sp>
    </p:spTree>
    <p:extLst>
      <p:ext uri="{BB962C8B-B14F-4D97-AF65-F5344CB8AC3E}">
        <p14:creationId xmlns:p14="http://schemas.microsoft.com/office/powerpoint/2010/main" val="1632368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имер: резервное копирование для проекта">
            <a:extLst xmlns:a="http://schemas.openxmlformats.org/drawingml/2006/main">
              <a:ext uri="{FF2B5EF4-FFF2-40B4-BE49-F238E27FC236}">
                <a16:creationId xmlns:a16="http://schemas.microsoft.com/office/drawing/2014/main" id="{6C4873F8-05D7-460A-B3B2-7FCF26A4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Пример: резервное копирование для проекта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57819C4F-54C9-4AE6-9997-28AEE51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Условный пример">
            <a:extLst xmlns:a="http://schemas.openxmlformats.org/drawingml/2006/main">
              <a:ext uri="{FF2B5EF4-FFF2-40B4-BE49-F238E27FC236}">
                <a16:creationId xmlns:a16="http://schemas.microsoft.com/office/drawing/2014/main" id="{32EA4D66-27B1-4425-B6A1-2AC4180D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Условный пример</a:t>
            </a:r>
          </a:p>
        </p:txBody>
      </p:sp>
      <p:sp>
        <p:nvSpPr>
          <p:cNvPr id="23" name="Исходный диалог">
            <a:extLst xmlns:a="http://schemas.openxmlformats.org/drawingml/2006/main">
              <a:ext uri="{FF2B5EF4-FFF2-40B4-BE49-F238E27FC236}">
                <a16:creationId xmlns:a16="http://schemas.microsoft.com/office/drawing/2014/main" id="{5A44E4EC-0F16-4DBF-AF97-5EA5796A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Исходный диалог</a:t>
            </a:r>
          </a:p>
        </p:txBody>
      </p:sp>
      <p:sp>
        <p:nvSpPr>
          <p:cNvPr id="24" name="До импорта в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6B6838FB-8270-436E-A220-71648542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До импорта в приложение</a:t>
            </a:r>
          </a:p>
        </p:txBody>
      </p:sp>
      <p:sp>
        <p:nvSpPr>
          <p:cNvPr id="25" name="«Как делать&#10;резервные копии?»">
            <a:extLst xmlns:a="http://schemas.openxmlformats.org/drawingml/2006/main">
              <a:ext uri="{FF2B5EF4-FFF2-40B4-BE49-F238E27FC236}">
                <a16:creationId xmlns:a16="http://schemas.microsoft.com/office/drawing/2014/main" id="{262C80E8-49CC-48C9-B4F8-A4FD6D97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«Как делать</a:t>
            </a:r>
          </a:p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резервные копии?»</a:t>
            </a:r>
          </a:p>
        </p:txBody>
      </p:sp>
      <p:sp>
        <p:nvSpPr>
          <p:cNvPr id="26" name="«Как проверить&#10;восстановление?»">
            <a:extLst xmlns:a="http://schemas.openxmlformats.org/drawingml/2006/main">
              <a:ext uri="{FF2B5EF4-FFF2-40B4-BE49-F238E27FC236}">
                <a16:creationId xmlns:a16="http://schemas.microsoft.com/office/drawing/2014/main" id="{11A135AB-6711-4258-877F-45D72FBB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«Как проверить</a:t>
            </a:r>
          </a:p>
          <a:p xmlns:a="http://schemas.openxmlformats.org/drawingml/2006/main"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восстановление?»</a:t>
            </a:r>
          </a:p>
        </p:txBody>
      </p:sp>
      <p:sp>
        <p:nvSpPr>
          <p:cNvPr id="27" name="Ответы ИИ и уточнения&#10;пользователя">
            <a:extLst xmlns:a="http://schemas.openxmlformats.org/drawingml/2006/main">
              <a:ext uri="{FF2B5EF4-FFF2-40B4-BE49-F238E27FC236}">
                <a16:creationId xmlns:a16="http://schemas.microsoft.com/office/drawing/2014/main" id="{1CFAFD20-6F9E-4FCE-BF32-CAE557C4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000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Ответы ИИ и уточнения</a:t>
            </a:r>
          </a:p>
          <a:p xmlns:a="http://schemas.openxmlformats.org/drawingml/2006/main">
            <a:pPr>
              <a:buNone/>
              <a:defRPr sz="18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пользователя</a:t>
            </a:r>
          </a:p>
        </p:txBody>
      </p:sp>
      <p:sp>
        <p:nvSpPr>
          <p:cNvPr id="28" name="Система обрабатывает">
            <a:extLst xmlns:a="http://schemas.openxmlformats.org/drawingml/2006/main">
              <a:ext uri="{FF2B5EF4-FFF2-40B4-BE49-F238E27FC236}">
                <a16:creationId xmlns:a16="http://schemas.microsoft.com/office/drawing/2014/main" id="{5197EAC5-1A24-4296-9A57-2F5BFEC7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14525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Система обрабатывает</a:t>
            </a:r>
          </a:p>
        </p:txBody>
      </p:sp>
      <p:sp>
        <p:nvSpPr>
          <p:cNvPr id="29" name="Извлекает знание:&#10;проверка восстановления">
            <a:extLst xmlns:a="http://schemas.openxmlformats.org/drawingml/2006/main">
              <a:ext uri="{FF2B5EF4-FFF2-40B4-BE49-F238E27FC236}">
                <a16:creationId xmlns:a16="http://schemas.microsoft.com/office/drawing/2014/main" id="{661F5CC5-140B-4D67-A08A-FB3E5E4B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95575"/>
            <a:ext cx="38862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Извлекает знание:</a:t>
            </a:r>
          </a:p>
          <a:p xmlns:a="http://schemas.openxmlformats.org/drawingml/2006/main"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проверка восстановления</a:t>
            </a:r>
          </a:p>
        </p:txBody>
      </p:sp>
      <p:sp>
        <p:nvSpPr>
          <p:cNvPr id="30" name="Находит заметку&#10;«Резервное копирование»">
            <a:extLst xmlns:a="http://schemas.openxmlformats.org/drawingml/2006/main">
              <a:ext uri="{FF2B5EF4-FFF2-40B4-BE49-F238E27FC236}">
                <a16:creationId xmlns:a16="http://schemas.microsoft.com/office/drawing/2014/main" id="{7DF47E7B-FE20-4FAB-B6CE-2DD42612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86175"/>
            <a:ext cx="3886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Находит заметку</a:t>
            </a:r>
          </a:p>
          <a:p xmlns:a="http://schemas.openxmlformats.org/drawingml/2006/main"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«Резервное копирование»</a:t>
            </a:r>
          </a:p>
        </p:txBody>
      </p:sp>
      <p:sp>
        <p:nvSpPr>
          <p:cNvPr id="31" name="Готовит дополнение&#10;и связи с другими заметками">
            <a:extLst xmlns:a="http://schemas.openxmlformats.org/drawingml/2006/main">
              <a:ext uri="{FF2B5EF4-FFF2-40B4-BE49-F238E27FC236}">
                <a16:creationId xmlns:a16="http://schemas.microsoft.com/office/drawing/2014/main" id="{85CE6D40-251B-470F-A474-4EA188FE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05350"/>
            <a:ext cx="3886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Готовит дополнение</a:t>
            </a:r>
          </a:p>
          <a:p xmlns:a="http://schemas.openxmlformats.org/drawingml/2006/main"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связи с другими заметками</a:t>
            </a:r>
          </a:p>
        </p:txBody>
      </p:sp>
      <p:sp>
        <p:nvSpPr>
          <p:cNvPr id="32" name="Результат в базе">
            <a:extLst xmlns:a="http://schemas.openxmlformats.org/drawingml/2006/main">
              <a:ext uri="{FF2B5EF4-FFF2-40B4-BE49-F238E27FC236}">
                <a16:creationId xmlns:a16="http://schemas.microsoft.com/office/drawing/2014/main" id="{CE811B07-6AA8-4824-B8A3-64353043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14525"/>
            <a:ext cx="2943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Результат в базе</a:t>
            </a:r>
          </a:p>
        </p:txBody>
      </p:sp>
      <p:sp>
        <p:nvSpPr>
          <p:cNvPr id="33" name="Дополненная&#10;заметка со связями">
            <a:extLst xmlns:a="http://schemas.openxmlformats.org/drawingml/2006/main">
              <a:ext uri="{FF2B5EF4-FFF2-40B4-BE49-F238E27FC236}">
                <a16:creationId xmlns:a16="http://schemas.microsoft.com/office/drawing/2014/main" id="{DFFFC9DB-A5F6-48D9-BAF5-C3974D5D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95575"/>
            <a:ext cx="29432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Дополненная</a:t>
            </a:r>
          </a:p>
          <a:p xmlns:a="http://schemas.openxmlformats.org/drawingml/2006/main">
            <a:pPr>
              <a:buNone/>
              <a:defRPr sz="24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заметка со связями</a:t>
            </a:r>
          </a:p>
        </p:txBody>
      </p:sp>
      <p:sp>
        <p:nvSpPr>
          <p:cNvPr id="34" name="Система генерирует текст,&#10;записывает изменения&#10;и проверяет результат.">
            <a:extLst xmlns:a="http://schemas.openxmlformats.org/drawingml/2006/main">
              <a:ext uri="{FF2B5EF4-FFF2-40B4-BE49-F238E27FC236}">
                <a16:creationId xmlns:a16="http://schemas.microsoft.com/office/drawing/2014/main" id="{1D6E95DF-5CCE-42BF-AE74-10A905E6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90975"/>
            <a:ext cx="29432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Система генерирует текст,</a:t>
            </a:r>
          </a:p>
          <a:p xmlns:a="http://schemas.openxmlformats.org/drawingml/2006/main">
            <a:pPr>
              <a:buNone/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записывает изменения</a:t>
            </a:r>
          </a:p>
          <a:p xmlns:a="http://schemas.openxmlformats.org/drawingml/2006/main">
            <a:pPr>
              <a:buNone/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проверяет результат.</a:t>
            </a:r>
          </a:p>
        </p:txBody>
      </p:sp>
      <p:sp>
        <p:nvSpPr>
          <p:cNvPr id="35" name="Пользователь импортирует диалог и при необходимости одобряет план.">
            <a:extLst xmlns:a="http://schemas.openxmlformats.org/drawingml/2006/main">
              <a:ext uri="{FF2B5EF4-FFF2-40B4-BE49-F238E27FC236}">
                <a16:creationId xmlns:a16="http://schemas.microsoft.com/office/drawing/2014/main" id="{D07F03BD-C4BF-4BE2-9CAA-B56F21CF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Пользователь импортирует диалог и при необходимости одобряет план.</a:t>
            </a:r>
          </a:p>
        </p:txBody>
      </p:sp>
      <p:sp>
        <p:nvSpPr>
          <p:cNvPr id="36" name="Низкорисковые новые заметки могут сохраняться автоматически по настрой">
            <a:extLst xmlns:a="http://schemas.openxmlformats.org/drawingml/2006/main">
              <a:ext uri="{FF2B5EF4-FFF2-40B4-BE49-F238E27FC236}">
                <a16:creationId xmlns:a16="http://schemas.microsoft.com/office/drawing/2014/main" id="{2B1CA5EF-CDDA-4907-A9BE-BFB9146F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Низкорисковые новые заметки могут сохраняться автоматически по настройке.</a:t>
            </a:r>
          </a:p>
        </p:txBody>
      </p:sp>
    </p:spTree>
    <p:extLst>
      <p:ext uri="{BB962C8B-B14F-4D97-AF65-F5344CB8AC3E}">
        <p14:creationId xmlns:p14="http://schemas.microsoft.com/office/powerpoint/2010/main" val="1769371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Интерфейс: знания и план изменений">
            <a:extLst xmlns:a="http://schemas.openxmlformats.org/drawingml/2006/main">
              <a:ext uri="{FF2B5EF4-FFF2-40B4-BE49-F238E27FC236}">
                <a16:creationId xmlns:a16="http://schemas.microsoft.com/office/drawing/2014/main" id="{27C4F551-DCE3-482A-80FE-B2A797B4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Интерфейс: знания и план изменений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8DE9B6BA-4DD5-4FBF-BAC1-D7306EA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33edc1fba483b"/>
          <a:stretch xmlns:a="http://schemas.openxmlformats.org/drawingml/2006/main"/>
        </p:blipFill>
        <p:spPr>
          <a:xfrm xmlns:a="http://schemas.openxmlformats.org/drawingml/2006/main">
            <a:off x="685800" y="1468438"/>
            <a:ext cx="7639050" cy="5092700"/>
          </a:xfrm>
          <a:prstGeom xmlns:a="http://schemas.openxmlformats.org/drawingml/2006/main" prst="rect">
            <a:avLst/>
          </a:prstGeom>
        </p:spPr>
      </p:pic>
      <p:sp>
        <p:nvSpPr>
          <p:cNvPr id="4" name="Что сохранить">
            <a:extLst xmlns:a="http://schemas.openxmlformats.org/drawingml/2006/main">
              <a:ext uri="{FF2B5EF4-FFF2-40B4-BE49-F238E27FC236}">
                <a16:creationId xmlns:a16="http://schemas.microsoft.com/office/drawing/2014/main" id="{E71A0001-AD8A-491D-A6AF-3513EA4F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 сохранить</a:t>
            </a:r>
          </a:p>
        </p:txBody>
      </p:sp>
      <p:sp>
        <p:nvSpPr>
          <p:cNvPr id="5" name="Знание и его&#10;основание в диалоге">
            <a:extLst xmlns:a="http://schemas.openxmlformats.org/drawingml/2006/main">
              <a:ext uri="{FF2B5EF4-FFF2-40B4-BE49-F238E27FC236}">
                <a16:creationId xmlns:a16="http://schemas.microsoft.com/office/drawing/2014/main" id="{A6AC8C54-E5C8-4E3F-822E-24BCD991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Знание и его</a:t>
            </a:r>
          </a:p>
          <a:p xmlns:a="http://schemas.openxmlformats.org/drawingml/2006/main"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основание в диалоге</a:t>
            </a:r>
          </a:p>
        </p:txBody>
      </p:sp>
      <p:sp>
        <p:nvSpPr>
          <p:cNvPr id="6" name="Куда добавить">
            <a:extLst xmlns:a="http://schemas.openxmlformats.org/drawingml/2006/main">
              <a:ext uri="{FF2B5EF4-FFF2-40B4-BE49-F238E27FC236}">
                <a16:creationId xmlns:a16="http://schemas.microsoft.com/office/drawing/2014/main" id="{774CEEA3-CA6C-466D-8D7E-E5A37FE6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Куда добавить</a:t>
            </a:r>
          </a:p>
        </p:txBody>
      </p:sp>
      <p:sp>
        <p:nvSpPr>
          <p:cNvPr id="7" name="Связь с базой&#10;и выбор действия">
            <a:extLst xmlns:a="http://schemas.openxmlformats.org/drawingml/2006/main">
              <a:ext uri="{FF2B5EF4-FFF2-40B4-BE49-F238E27FC236}">
                <a16:creationId xmlns:a16="http://schemas.microsoft.com/office/drawing/2014/main" id="{C05B880A-F8D4-43FB-92B5-99293B67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2724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Найденная заметка</a:t>
            </a:r>
          </a:p>
          <a:p xmlns:a="http://schemas.openxmlformats.org/drawingml/2006/main"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план системы</a:t>
            </a:r>
          </a:p>
        </p:txBody>
      </p:sp>
      <p:sp>
        <p:nvSpPr>
          <p:cNvPr id="8" name="Концепция экрана">
            <a:extLst xmlns:a="http://schemas.openxmlformats.org/drawingml/2006/main">
              <a:ext uri="{FF2B5EF4-FFF2-40B4-BE49-F238E27FC236}">
                <a16:creationId xmlns:a16="http://schemas.microsoft.com/office/drawing/2014/main" id="{CA9BAD26-48B4-47B0-A0D3-9EC7698B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91200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Концепция экрана</a:t>
            </a:r>
          </a:p>
        </p:txBody>
      </p:sp>
    </p:spTree>
    <p:extLst>
      <p:ext uri="{BB962C8B-B14F-4D97-AF65-F5344CB8AC3E}">
        <p14:creationId xmlns:p14="http://schemas.microsoft.com/office/powerpoint/2010/main" val="342981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очему решение может быть эффективнее">
            <a:extLst xmlns:a="http://schemas.openxmlformats.org/drawingml/2006/main">
              <a:ext uri="{FF2B5EF4-FFF2-40B4-BE49-F238E27FC236}">
                <a16:creationId xmlns:a16="http://schemas.microsoft.com/office/drawing/2014/main" id="{36DB0ED0-AE36-4F5F-9930-C3C2AECA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решение может быть эффективнее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F1E83062-0B80-421A-95A5-C70B0ECF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771650"/>
          <a:ext xmlns:a="http://schemas.openxmlformats.org/drawingml/2006/main" cx="1082040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3905250"/>
                <a:gridCol w="40957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работы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Ручная работа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без нашего приложения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выполняет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наша система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историю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разговора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Перечитать и найти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важные фрагменты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Извлекает ценные знания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 разных реплик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Перенести вручную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 заметки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Организовать материал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проверить повторы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Находит связанные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определяет дополнения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 повторы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Получить резюме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сохранить вручную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Выбрать место, записать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связать с прежними заметками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Генерирует текст, создаёт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или дополняет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добавляет связи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</a:tbl>
          </a:graphicData>
        </a:graphic>
      </p:graphicFrame>
      <p:sp>
        <p:nvSpPr>
          <p:cNvPr id="7" name="После допуска плана система записывает изменения и проверяет результат">
            <a:extLst xmlns:a="http://schemas.openxmlformats.org/drawingml/2006/main">
              <a:ext uri="{FF2B5EF4-FFF2-40B4-BE49-F238E27FC236}">
                <a16:creationId xmlns:a16="http://schemas.microsoft.com/office/drawing/2014/main" id="{01EAFEFB-30C3-4999-8538-2B24EA97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После допуска плана система записывает изменения и проверяет результат.</a:t>
            </a:r>
          </a:p>
        </p:txBody>
      </p:sp>
      <p:sp>
        <p:nvSpPr>
          <p:cNvPr id="8" name="Пользователь импортирует диалог и при необходимости проверяет план.">
            <a:extLst xmlns:a="http://schemas.openxmlformats.org/drawingml/2006/main">
              <a:ext uri="{FF2B5EF4-FFF2-40B4-BE49-F238E27FC236}">
                <a16:creationId xmlns:a16="http://schemas.microsoft.com/office/drawing/2014/main" id="{827C3491-462B-4133-AB65-FA1C6744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Пользователь импортирует диалог и при необходимости проверяет план.</a:t>
            </a:r>
          </a:p>
        </p:txBody>
      </p:sp>
    </p:spTree>
    <p:extLst>
      <p:ext uri="{BB962C8B-B14F-4D97-AF65-F5344CB8AC3E}">
        <p14:creationId xmlns:p14="http://schemas.microsoft.com/office/powerpoint/2010/main" val="296036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Как проверить пользу интерфейса">
            <a:extLst xmlns:a="http://schemas.openxmlformats.org/drawingml/2006/main">
              <a:ext uri="{FF2B5EF4-FFF2-40B4-BE49-F238E27FC236}">
                <a16:creationId xmlns:a16="http://schemas.microsoft.com/office/drawing/2014/main" id="{DF1657BA-62EA-4570-A06C-BB2E7AE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проверить пользу интерфейса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CB007322-24DA-4247-BBCA-493A614A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Сравнительный тест">
            <a:extLst xmlns:a="http://schemas.openxmlformats.org/drawingml/2006/main">
              <a:ext uri="{FF2B5EF4-FFF2-40B4-BE49-F238E27FC236}">
                <a16:creationId xmlns:a16="http://schemas.microsoft.com/office/drawing/2014/main" id="{E7371CB1-EAD1-48C3-8B71-3A9F7AA1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Сравнительный тест</a:t>
            </a:r>
          </a:p>
        </p:txBody>
      </p:sp>
      <p:sp>
        <p:nvSpPr>
          <p:cNvPr id="4" name="Многошаговые диалоги&#10;и существующая база заметок">
            <a:extLst xmlns:a="http://schemas.openxmlformats.org/drawingml/2006/main">
              <a:ext uri="{FF2B5EF4-FFF2-40B4-BE49-F238E27FC236}">
                <a16:creationId xmlns:a16="http://schemas.microsoft.com/office/drawing/2014/main" id="{E0D535E3-0822-4697-9DF6-1B675787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191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Многошаговые диалоги</a:t>
            </a:r>
          </a:p>
          <a:p xmlns:a="http://schemas.openxmlformats.org/drawingml/2006/main"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существующая база заметок</a:t>
            </a:r>
          </a:p>
        </p:txBody>
      </p:sp>
      <p:sp>
        <p:nvSpPr>
          <p:cNvPr id="5" name="Ручная обработка&#10;и работа через интерфейс">
            <a:extLst xmlns:a="http://schemas.openxmlformats.org/drawingml/2006/main">
              <a:ext uri="{FF2B5EF4-FFF2-40B4-BE49-F238E27FC236}">
                <a16:creationId xmlns:a16="http://schemas.microsoft.com/office/drawing/2014/main" id="{40D68B94-05D0-44BC-98CA-0C2AC5DB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048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Ручная обработка</a:t>
            </a:r>
          </a:p>
          <a:p xmlns:a="http://schemas.openxmlformats.org/drawingml/2006/main"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работа через интерфейс</a:t>
            </a:r>
          </a:p>
        </p:txBody>
      </p:sp>
      <p:sp>
        <p:nvSpPr>
          <p:cNvPr id="6" name="Что измеряем">
            <a:extLst xmlns:a="http://schemas.openxmlformats.org/drawingml/2006/main">
              <a:ext uri="{FF2B5EF4-FFF2-40B4-BE49-F238E27FC236}">
                <a16:creationId xmlns:a16="http://schemas.microsoft.com/office/drawing/2014/main" id="{129B9E29-C837-43C5-8BC5-15332FEB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811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измеряем</a:t>
            </a:r>
          </a:p>
        </p:txBody>
      </p:sp>
      <p:sp>
        <p:nvSpPr>
          <p:cNvPr id="7" name="Полное время до результата&#10;Пропуски и повторные записи&#10;Качество структ">
            <a:extLst xmlns:a="http://schemas.openxmlformats.org/drawingml/2006/main">
              <a:ext uri="{FF2B5EF4-FFF2-40B4-BE49-F238E27FC236}">
                <a16:creationId xmlns:a16="http://schemas.microsoft.com/office/drawing/2014/main" id="{1FF33528-B976-44DF-8831-CA122B7C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46672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Полное время до результата</a:t>
            </a:r>
          </a:p>
          <a:p xmlns:a="http://schemas.openxmlformats.org/drawingml/2006/main"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Пропуски и повторные записи</a:t>
            </a:r>
          </a:p>
          <a:p xmlns:a="http://schemas.openxmlformats.org/drawingml/2006/main"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Качество структуры и связей</a:t>
            </a:r>
          </a:p>
          <a:p xmlns:a="http://schemas.openxmlformats.org/drawingml/2006/main"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Поиск и применение знаний позже</a:t>
            </a:r>
          </a:p>
        </p:txBody>
      </p:sp>
      <p:sp>
        <p:nvSpPr>
          <p:cNvPr id="8" name="Критерий пользы: меньше ручной работы без потери качества знаний">
            <a:extLst xmlns:a="http://schemas.openxmlformats.org/drawingml/2006/main">
              <a:ext uri="{FF2B5EF4-FFF2-40B4-BE49-F238E27FC236}">
                <a16:creationId xmlns:a16="http://schemas.microsoft.com/office/drawing/2014/main" id="{033BCB74-3F52-439C-8461-CBE252CA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Критерий пользы: меньше ручной работы без потери качества знаний</a:t>
            </a:r>
          </a:p>
        </p:txBody>
      </p:sp>
    </p:spTree>
    <p:extLst>
      <p:ext uri="{BB962C8B-B14F-4D97-AF65-F5344CB8AC3E}">
        <p14:creationId xmlns:p14="http://schemas.microsoft.com/office/powerpoint/2010/main" val="5361710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Спасибо за внимание!">
            <a:extLst xmlns:a="http://schemas.openxmlformats.org/drawingml/2006/main">
              <a:ext uri="{FF2B5EF4-FFF2-40B4-BE49-F238E27FC236}">
                <a16:creationId xmlns:a16="http://schemas.microsoft.com/office/drawing/2014/main" id="{A4D2A3F4-8459-4C7C-8B2E-7FC0EEDB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 внимание!</a:t>
            </a:r>
          </a:p>
        </p:txBody>
      </p:sp>
      <p:sp>
        <p:nvSpPr>
          <p:cNvPr id="2" name="Готовы ответить на ваши вопросы">
            <a:extLst xmlns:a="http://schemas.openxmlformats.org/drawingml/2006/main">
              <a:ext uri="{FF2B5EF4-FFF2-40B4-BE49-F238E27FC236}">
                <a16:creationId xmlns:a16="http://schemas.microsoft.com/office/drawing/2014/main" id="{27644BDE-22F5-4B00-AE26-99DF4C46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042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Готовы ответить на ваши вопросы</a:t>
            </a:r>
          </a:p>
        </p:txBody>
      </p:sp>
      <p:sp>
        <p:nvSpPr>
          <p:cNvPr id="3" name="Conversation-to-Knowledge Agent">
            <a:extLst xmlns:a="http://schemas.openxmlformats.org/drawingml/2006/main">
              <a:ext uri="{FF2B5EF4-FFF2-40B4-BE49-F238E27FC236}">
                <a16:creationId xmlns:a16="http://schemas.microsoft.com/office/drawing/2014/main" id="{2C22BC85-13A9-4A4B-8FB4-95D35635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A1554210-6B42-4890-BE5F-56AFA820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6612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2026-09-20T10:38:27.1190000Z</dcterms:created>
  <dcterms:modified xsi:type="dcterms:W3CDTF">2026-09-20T10:38:27.1190000Z</dcterms:modified>
</coreProperties>
</file>
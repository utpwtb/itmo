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bad794d57640c6" /><Relationship Type="http://schemas.openxmlformats.org/officeDocument/2006/relationships/extended-properties" Target="/docProps/app.xml" Id="R28b65363cd8943a4" /><Relationship Type="http://schemas.openxmlformats.org/officeDocument/2006/relationships/officeDocument" Target="/ppt/presentation.xml" Id="Re6d21455dfb74576" /></Relationships>
</file>

<file path=ppt/presentation.xml><?xml version="1.0" encoding="utf-8"?>
<p:presentation xmlns:p="http://schemas.openxmlformats.org/presentationml/2006/main">
  <p:sldMasterIdLst>
    <p:sldMasterId xmlns:r="http://schemas.openxmlformats.org/officeDocument/2006/relationships" id="2147483648" r:id="R8c1230b9e48046db"/>
  </p:sldMasterIdLst>
  <p:notesMasterIdLst>
    <p:notesMasterId xmlns:r="http://schemas.openxmlformats.org/officeDocument/2006/relationships" r:id="R4f215233adea48ea"/>
  </p:notesMasterIdLst>
  <p:sldIdLst>
    <p:sldId xmlns:r="http://schemas.openxmlformats.org/officeDocument/2006/relationships" id="256" r:id="Rd42a6baae8e04632"/>
    <p:sldId xmlns:r="http://schemas.openxmlformats.org/officeDocument/2006/relationships" id="257" r:id="R146dc4d8526740af"/>
    <p:sldId xmlns:r="http://schemas.openxmlformats.org/officeDocument/2006/relationships" id="258" r:id="Rbda25a979d8e4377"/>
    <p:sldId xmlns:r="http://schemas.openxmlformats.org/officeDocument/2006/relationships" id="259" r:id="Rfc8466827b9545c5"/>
    <p:sldId xmlns:r="http://schemas.openxmlformats.org/officeDocument/2006/relationships" id="260" r:id="R8ecf56a3e94b4aec"/>
    <p:sldId xmlns:r="http://schemas.openxmlformats.org/officeDocument/2006/relationships" id="261" r:id="Rcc7ff0286d7e41ca"/>
    <p:sldId xmlns:r="http://schemas.openxmlformats.org/officeDocument/2006/relationships" id="262" r:id="Rfe9292a0d922441f"/>
    <p:sldId xmlns:r="http://schemas.openxmlformats.org/officeDocument/2006/relationships" id="263" r:id="R569c69b2667d4277"/>
    <p:sldId xmlns:r="http://schemas.openxmlformats.org/officeDocument/2006/relationships" id="264" r:id="Ra1c8faf9fcab467c"/>
    <p:sldId xmlns:r="http://schemas.openxmlformats.org/officeDocument/2006/relationships" id="265" r:id="R9367a39ba02d45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1f4bf506364b88" /><Relationship Type="http://schemas.openxmlformats.org/officeDocument/2006/relationships/slideMaster" Target="/ppt/slideMasters/slideMaster1.xml" Id="R8c1230b9e48046db" /><Relationship Type="http://schemas.openxmlformats.org/officeDocument/2006/relationships/notesMaster" Target="/ppt/notesMasters/notesMaster1.xml" Id="R4f215233adea48ea" /><Relationship Type="http://schemas.openxmlformats.org/officeDocument/2006/relationships/presProps" Target="/ppt/presProps.xml" Id="R435493bab7af4683" /><Relationship Type="http://schemas.openxmlformats.org/officeDocument/2006/relationships/tableStyles" Target="/ppt/tableStyles.xml" Id="R14883a5298244b17" /><Relationship Type="http://schemas.openxmlformats.org/officeDocument/2006/relationships/slide" Target="/ppt/slides/slide1.xml" Id="Rd42a6baae8e04632" /><Relationship Type="http://schemas.openxmlformats.org/officeDocument/2006/relationships/slide" Target="/ppt/slides/slide2.xml" Id="R146dc4d8526740af" /><Relationship Type="http://schemas.openxmlformats.org/officeDocument/2006/relationships/slide" Target="/ppt/slides/slide3.xml" Id="Rbda25a979d8e4377" /><Relationship Type="http://schemas.openxmlformats.org/officeDocument/2006/relationships/slide" Target="/ppt/slides/slide4.xml" Id="Rfc8466827b9545c5" /><Relationship Type="http://schemas.openxmlformats.org/officeDocument/2006/relationships/slide" Target="/ppt/slides/slide5.xml" Id="R8ecf56a3e94b4aec" /><Relationship Type="http://schemas.openxmlformats.org/officeDocument/2006/relationships/slide" Target="/ppt/slides/slide6.xml" Id="Rcc7ff0286d7e41ca" /><Relationship Type="http://schemas.openxmlformats.org/officeDocument/2006/relationships/slide" Target="/ppt/slides/slide7.xml" Id="Rfe9292a0d922441f" /><Relationship Type="http://schemas.openxmlformats.org/officeDocument/2006/relationships/slide" Target="/ppt/slides/slide8.xml" Id="R569c69b2667d4277" /><Relationship Type="http://schemas.openxmlformats.org/officeDocument/2006/relationships/slide" Target="/ppt/slides/slide9.xml" Id="Ra1c8faf9fcab467c" /><Relationship Type="http://schemas.openxmlformats.org/officeDocument/2006/relationships/slide" Target="/ppt/slides/slide10.xml" Id="R9367a39ba02d45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b46a8fe2a644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98e016a3a34ead" /><Relationship Type="http://schemas.openxmlformats.org/officeDocument/2006/relationships/notesMaster" Target="/ppt/notesMasters/notesMaster1.xml" Id="Rd8bca118b71649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6b6add20a24fd6" /><Relationship Type="http://schemas.openxmlformats.org/officeDocument/2006/relationships/notesMaster" Target="/ppt/notesMasters/notesMaster1.xml" Id="R75be606cdc604a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426458e33344f9" /><Relationship Type="http://schemas.openxmlformats.org/officeDocument/2006/relationships/notesMaster" Target="/ppt/notesMasters/notesMaster1.xml" Id="R0c71d96c71784c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41afeccca7411f" /><Relationship Type="http://schemas.openxmlformats.org/officeDocument/2006/relationships/notesMaster" Target="/ppt/notesMasters/notesMaster1.xml" Id="R56168c68ebd844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f8edbbe6484607" /><Relationship Type="http://schemas.openxmlformats.org/officeDocument/2006/relationships/notesMaster" Target="/ppt/notesMasters/notesMaster1.xml" Id="Rd369eb746624487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ee13ff0aa04616" /><Relationship Type="http://schemas.openxmlformats.org/officeDocument/2006/relationships/notesMaster" Target="/ppt/notesMasters/notesMaster1.xml" Id="Rbe9cd16063fc47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224830f6e64cd6" /><Relationship Type="http://schemas.openxmlformats.org/officeDocument/2006/relationships/notesMaster" Target="/ppt/notesMasters/notesMaster1.xml" Id="R457a68fdce2149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8081331a65435e" /><Relationship Type="http://schemas.openxmlformats.org/officeDocument/2006/relationships/notesMaster" Target="/ppt/notesMasters/notesMaster1.xml" Id="R82eb388dcac04c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998708d42647ab" /><Relationship Type="http://schemas.openxmlformats.org/officeDocument/2006/relationships/notesMaster" Target="/ppt/notesMasters/notesMaster1.xml" Id="Rdf13202de23747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01c12401374aae" /><Relationship Type="http://schemas.openxmlformats.org/officeDocument/2006/relationships/notesMaster" Target="/ppt/notesMasters/notesMaster1.xml" Id="Rb28de27a64f348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Наш проект называется Conversation-to-Knowledge Agent. Мы предлагаем интерфейс, который извлекает ценные знания из многошаговых диалогов с ИИ и помогает включать их в личную базу знаний. Под многошаговым диалогом мы понимаем разговор с последовательными вопросами, уточнениями и ответами. Система учитывает весь доступный контекст и сопоставляет найденные знания с существующими заметками. Результатом становятся новые связанные заметки или дополнения к уже имеющимся. Сейчас проект использует Obsidian, где пользователь хранит заметки в формате Markdown. Применение охватывает работу, личные проекты и самостоятельное изучение интересующих тем.</a:t>
            </a:r>
          </a:p>
          <a:p xmlns:a="http://schemas.openxmlformats.org/drawingml/2006/main">
            <a:r>
              <a:t/>
            </a:r>
          </a:p>
          <a:p xmlns:a="http://schemas.openxmlformats.org/drawingml/2006/main">
            <a:r>
              <a:t>Основание: README.md; docs/requirements.md, разделы 1–3; согласованное описание проекта.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Мы определяем аудиторию через поведение. Это люди, которые регулярно обсуждают с ИИ сложные вопросы и хотят использовать полученные знания позже. Среди них могут быть разработчики, исследователи, аналитики, авторы и люди, самостоятельно изучающие новые темы. Общая задача состоит в накоплении личных знаний, которые можно применить в другом проекте или вернуться к ним спустя время. Для первого этапа особенно подходят пользователи, которые уже ведут заметки в Obsidian. Перечисленные группы задают нашу гипотезу аудитории. Распространённость потребности и привычки пользователей нужно уточнить в интервью.</a:t>
            </a:r>
          </a:p>
          <a:p xmlns:a="http://schemas.openxmlformats.org/drawingml/2006/main">
            <a:r>
              <a:t/>
            </a:r>
          </a:p>
          <a:p xmlns:a="http://schemas.openxmlformats.org/drawingml/2006/main">
            <a:r>
              <a:t>Основание: docs/requirements.md, разделы 1–2; README.md. Группы пользователей и частота потребности являются гипотезой проекта.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Полезное знание часто формируется постепенно. Человек задаёт вопрос, получает ответ, добавляет ограничения, уточняет детали и пересматривает первоначальное понимание. Важные части оказываются в разных репликах. Некоторые сведения повторяются, а разговор может переходить к другой теме. Чтобы сохранить результат, пользователю приходится заново просматривать историю, восстанавливать контекст и отделять устойчивые выводы от временных деталей. История разговора организована по последовательности общения. Для дальнейшего использования человеку нужна организация по темам и связям. Именно преобразование между этими двумя формами создаёт задачу для нашего интерфейса.</a:t>
            </a:r>
          </a:p>
          <a:p xmlns:a="http://schemas.openxmlformats.org/drawingml/2006/main">
            <a:r>
              <a:t/>
            </a:r>
          </a:p>
          <a:p xmlns:a="http://schemas.openxmlformats.org/drawingml/2006/main">
            <a:r>
              <a:t>Основание: docs/requirements.md, US-2, US-3, US-7 и сценарий 9; docs/agent-workflow.md, шаги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центре внимания находится содержание, которое сохраняет ценность вне текущего разговора. Это могут быть понятия, методы с условиями применения, способы решения проблем, выводы и причины выбора решения. Особенность проекта — сохранение развития понимания. Если пользователь сначала понимал вопрос иначе, а в разговоре появилась аргументированная корректировка, заметка может зафиксировать исходное понимание, пояснение и итоговый вывод. Система также связывает извлечённое содержание с фрагментами исходного диалога. Приветствия, повторы и временные детали не должны превращаться в отдельные заметки. В проекте используется ориентир: будет ли это полезно перечитать через три месяца. Это критерий отбора, а не гарантия достоверности. Пользователь всё равно проверяет содержание.</a:t>
            </a:r>
          </a:p>
          <a:p xmlns:a="http://schemas.openxmlformats.org/drawingml/2006/main">
            <a:r>
              <a:t/>
            </a:r>
          </a:p>
          <a:p xmlns:a="http://schemas.openxmlformats.org/drawingml/2006/main">
            <a:r>
              <a:t>Основание: backend/app/prompts/extract/prompt.md; backend/app/prompts/classify/prompt.md; backend/app/prompts/generate/prompt.md; docs/learning/05-knowledge-extraction.md.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После извлечения система ищет связанные материалы в существующей базе. Затем она предлагает подходящий способ организации. Самостоятельное новое знание может стать отдельной заметкой. Новые сведения по знакомой теме дополняют существующую заметку. Небольшой составной элемент можно включить в раздел более общей темы. Если полезная информация уже есть, её можно пропустить. При противоречии система отмечает конфликт и оставляет решение пользователю. Между связанными заметками создаются ссылки. Благодаря этому следующий импорт диалога может продолжить уже начатое накопление знаний. В текущей реализации дополнение существующего текста выполняется через добавление новых разделов, без переписывания прежнего основного текста.</a:t>
            </a:r>
          </a:p>
          <a:p xmlns:a="http://schemas.openxmlformats.org/drawingml/2006/main">
            <a:r>
              <a:t/>
            </a:r>
          </a:p>
          <a:p xmlns:a="http://schemas.openxmlformats.org/drawingml/2006/main">
            <a:r>
              <a:t>Основание: backend/app/prompts/plan/prompt.md; docs/agent-workflow.md, шаги 5–10; docs/architecture.md, D5.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Слева показан исходный разговор, который уже состоялся между человеком и ИИ до импорта в наше приложение. В нём обсуждаются резервные копии и проверка восстановления. Пользователь импортирует этот разговор. Далее система сама выделяет ценные знания, ищет существующие заметки и определяет, что создать, дополнить, связать или пропустить. В этом условном примере она находит заметку о резервном копировании и готовит добавление раздела о проверке восстановления. Пользователь по умолчанию рассматривает готовый план: он может одобрить его, исключить отдельные действия или отказаться. Генерацию текста, запись и проверку результата выполняет система после допуска плана. При включённой настройке низкорисковые планы создания новых заметок могут проходить автоматически. Рассматриваемый пример дополняет существующую заметку, поэтому не относится к автоматическому созданию новых заметок.</a:t>
            </a:r>
          </a:p>
          <a:p xmlns:a="http://schemas.openxmlformats.org/drawingml/2006/main">
            <a:r>
              <a:t/>
            </a:r>
          </a:p>
          <a:p xmlns:a="http://schemas.openxmlformats.org/drawingml/2006/main">
            <a:r>
              <a:t>Основание: docs/agent-workflow.md, шаги 4–13 и раздел 5; docs/architecture.md, D2 и D5; backend/app/agent/policy.py. Сценарий иллюстративный.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Пользователь импортирует разговор. Система автоматически анализирует его, извлекает знания и сопоставляет их с базой. На концептуальном макете слева показаны найденное знание и фрагмент исходного разговора, а справа — выбранная системой заметка и предлагаемое дополнение. Пользователь рассматривает уже подготовленный план: может исключить действие, одобрить план или отказаться. После допуска плана система сама генерирует содержание, записывает изменения и проверяет результат. По умолчанию включено подтверждение. Настройка автоматического допуска распространяется на соответствующие условиям низкорисковые планы создания новых заметок. Показанный пример дополнения существующей заметки требует проверки плана. В текущей реализации план показывает структуру и назначение изменений, окончательный текст генерируется после допуска. Макет является концепцией интерфейса.</a:t>
            </a:r>
          </a:p>
          <a:p xmlns:a="http://schemas.openxmlformats.org/drawingml/2006/main">
            <a:r>
              <a:t/>
            </a:r>
          </a:p>
          <a:p xmlns:a="http://schemas.openxmlformats.org/drawingml/2006/main">
            <a:r>
              <a:t>Основание: docs/agent-workflow.md, шаги 8–13; backend/app/agent/policy.py; frontend/src/components/PlanPanel.vue.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этой таблице средняя колонка описывает ручную работу при использовании обычных способов без нашего приложения. Эти действия не возлагаются на пользователя нашего продукта. Система сама извлекает знания, определяет структуру, ищет существующие заметки, сравнивает содержание и готовит действия. Затем, после допуска плана, она генерирует текст, создаёт или дополняет заметки и записывает ссылки. Она также проверяет сохранённые файлы. Пользователь импортирует диалог и в режиме с подтверждением проверяет готовый план, может исключить отдельные действия или отказать. Конфликты требуют решения человека. Низкорисковые планы создания заметок могут выполняться автоматически, если пользователь включил соответствующую настройку. По умолчанию автоматический допуск выключен. Именно сокращение повторного чтения и ручной организации даёт основание ожидать выигрыша во времени. Этот эффект ещё нужно проверить в пользовательском тесте.</a:t>
            </a:r>
          </a:p>
          <a:p xmlns:a="http://schemas.openxmlformats.org/drawingml/2006/main">
            <a:r>
              <a:t/>
            </a:r>
          </a:p>
          <a:p xmlns:a="http://schemas.openxmlformats.org/drawingml/2006/main">
            <a:r>
              <a:t>Основание: docs/architecture.md, таблица D2; docs/agent-workflow.md, шаги 8–13 и раздел 5; backend/app/agent/policy.py. Сравнение рабочих сценариев, без утверждения об измеренном превосходстве.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Следующий шаг — интервью с людьми, которые регулярно используют ИИ и ведут личные заметки. Нужно выяснить, как часто они возвращаются к разговорам и где теряют время. Затем проведём сравнительный тест: участники обработают сопоставимые многошаговые диалоги вручную и через интерфейс, имея подготовленную базу с повторяющимися и дополняемыми темами. Порядок способов следует менять между участниками. Мы измерим полное время до принятого результата, включая ожидание модели и исправления. Также оценим пропущенные полезные сведения, дубли, неудачную организацию и ошибочные связи. Отдельное задание позже покажет, может ли человек найти и применить сохранённое знание. Польза подтверждается, если ручной работы становится меньше, а качество и повторное использование знаний не ухудшаются. Пока мы предлагаем метод проверки, а не сообщаем готовые результаты.</a:t>
            </a:r>
          </a:p>
          <a:p xmlns:a="http://schemas.openxmlformats.org/drawingml/2006/main">
            <a:r>
              <a:t/>
            </a:r>
          </a:p>
          <a:p xmlns:a="http://schemas.openxmlformats.org/drawingml/2006/main">
            <a:r>
              <a:t>Основание: Предлагаемый план пользовательского исследования. Критерии качества основаны на docs/requirements.md, раздел 6; ограничения доказательств описаны в docs/known-limitations.md, раздел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Спасибо за внимание! Готовы ответить на ваши вопросы о проекте и предлагаемом интерфейсе.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09766b996842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297201eb2c46c0" /><Relationship Type="http://schemas.openxmlformats.org/officeDocument/2006/relationships/slideLayout" Target="/ppt/slideLayouts/slideLayout1.xml" Id="R4114979ed6c544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14979ed6c544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d2846c74074128" /><Relationship Type="http://schemas.openxmlformats.org/officeDocument/2006/relationships/notesSlide" Target="/ppt/notesSlides/notesSlide1.xml" Id="Re6043fa013f047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ba55c4df0a14437" /><Relationship Type="http://schemas.openxmlformats.org/officeDocument/2006/relationships/notesSlide" Target="/ppt/notesSlides/notesSlide2.xml" Id="Rbaf670ea69e64f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f645087f3404665" /><Relationship Type="http://schemas.openxmlformats.org/officeDocument/2006/relationships/notesSlide" Target="/ppt/notesSlides/notesSlide3.xml" Id="R2843f739fe7346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a1ac648da15463d" /><Relationship Type="http://schemas.openxmlformats.org/officeDocument/2006/relationships/notesSlide" Target="/ppt/notesSlides/notesSlide4.xml" Id="R7c68573430cd4d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c4220abd0bf4826" /><Relationship Type="http://schemas.openxmlformats.org/officeDocument/2006/relationships/notesSlide" Target="/ppt/notesSlides/notesSlide5.xml" Id="R6b88b14b912647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f72ec48f0794a8f" /><Relationship Type="http://schemas.openxmlformats.org/officeDocument/2006/relationships/notesSlide" Target="/ppt/notesSlides/notesSlide6.xml" Id="R3d821d2c998049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ab3e9c3b9a4a32" /><Relationship Type="http://schemas.openxmlformats.org/officeDocument/2006/relationships/image" Target="/ppt/media/image.png" Id="Rfc5e4d6f2d7d42c1" /><Relationship Type="http://schemas.openxmlformats.org/officeDocument/2006/relationships/notesSlide" Target="/ppt/notesSlides/notesSlide7.xml" Id="Rd90bd1971a0d45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34143197e2f43c3" /><Relationship Type="http://schemas.openxmlformats.org/officeDocument/2006/relationships/notesSlide" Target="/ppt/notesSlides/notesSlide8.xml" Id="Ra427ca9147214b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64157b02c2a4d4f" /><Relationship Type="http://schemas.openxmlformats.org/officeDocument/2006/relationships/notesSlide" Target="/ppt/notesSlides/notesSlide9.xml" Id="Rc2e2a132e5b94a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e990af41e0d41de" /><Relationship Type="http://schemas.openxmlformats.org/officeDocument/2006/relationships/notesSlide" Target="/ppt/notesSlides/notesSlide10.xml" Id="R14f904e6785b4358" /></Relationships>
</file>

<file path=ppt/slides/slide1.xml><?xml version="1.0" encoding="utf-8"?>
<p:sld xmlns:p="http://schemas.openxmlformats.org/presentationml/2006/main">
  <p:cSld>
    <p:bg>
      <p:bgPr>
        <a:solidFill xmlns:a="http://schemas.openxmlformats.org/drawingml/2006/main">
          <a:srgbClr val="182B3A"/>
        </a:solidFill>
      </p:bgPr>
    </p:bg>
    <p:spTree>
      <p:nvGrpSpPr>
        <p:cNvPr id="1" name=""/>
        <p:cNvGrpSpPr/>
        <p:nvPr/>
      </p:nvGrpSpPr>
      <p:grpSpPr>
        <a:xfrm xmlns:a="http://schemas.openxmlformats.org/drawingml/2006/main"/>
      </p:grpSpPr>
      <p:sp>
        <p:nvSpPr>
          <p:cNvPr id="5" name="01">
            <a:extLst xmlns:a="http://schemas.openxmlformats.org/drawingml/2006/main">
              <a:ext uri="{FF2B5EF4-FFF2-40B4-BE49-F238E27FC236}">
                <a16:creationId xmlns:a16="http://schemas.microsoft.com/office/drawing/2014/main" id="{9FCC0FD8-7417-470F-977E-4687E0829707}"/>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A8B7C3"/>
                </a:solidFill>
                <a:latin typeface="Arial"/>
                <a:ea typeface="Arial"/>
                <a:cs typeface="Arial"/>
              </a:defRPr>
            </a:pPr>
            <a:r>
              <a:rPr sz="1350" b="0">
                <a:solidFill>
                  <a:srgbClr val="A8B7C3"/>
                </a:solidFill>
                <a:latin typeface="Arial"/>
                <a:ea typeface="Arial"/>
                <a:cs typeface="Arial"/>
              </a:rPr>
              <a:t>01</a:t>
            </a:r>
          </a:p>
        </p:txBody>
      </p:sp>
      <p:sp>
        <p:nvSpPr>
          <p:cNvPr id="2" name="Личная база знаний&#10;из диалогов с ИИ">
            <a:extLst xmlns:a="http://schemas.openxmlformats.org/drawingml/2006/main">
              <a:ext uri="{FF2B5EF4-FFF2-40B4-BE49-F238E27FC236}">
                <a16:creationId xmlns:a16="http://schemas.microsoft.com/office/drawing/2014/main" id="{73F6082C-1A86-413B-93AC-DF98E2119341}"/>
              </a:ext>
            </a:extLst>
          </p:cNvPr>
          <p:cNvSpPr>
            <a:spLocks xmlns:a="http://schemas.openxmlformats.org/drawingml/2006/main" noGrp="1"/>
          </p:cNvSpPr>
          <p:nvPr/>
        </p:nvSpPr>
        <p:spPr>
          <a:xfrm xmlns:a="http://schemas.openxmlformats.org/drawingml/2006/main">
            <a:off x="685800" y="1371600"/>
            <a:ext cx="10763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5475" b="1">
                <a:solidFill>
                  <a:srgbClr val="FFFFFF"/>
                </a:solidFill>
                <a:latin typeface="Arial"/>
                <a:ea typeface="Arial"/>
                <a:cs typeface="Arial"/>
              </a:defRPr>
            </a:pPr>
            <a:r>
              <a:rPr sz="5475" b="1">
                <a:solidFill>
                  <a:srgbClr val="FFFFFF"/>
                </a:solidFill>
                <a:latin typeface="Arial"/>
                <a:ea typeface="Arial"/>
                <a:cs typeface="Arial"/>
              </a:rPr>
              <a:t>Личная база знаний</a:t>
            </a:r>
          </a:p>
          <a:p xmlns:a="http://schemas.openxmlformats.org/drawingml/2006/main">
            <a:pPr>
              <a:buNone/>
              <a:defRPr sz="5475" b="1">
                <a:solidFill>
                  <a:srgbClr val="FFFFFF"/>
                </a:solidFill>
                <a:latin typeface="Arial"/>
                <a:ea typeface="Arial"/>
                <a:cs typeface="Arial"/>
              </a:defRPr>
            </a:pPr>
            <a:r>
              <a:rPr sz="5475" b="1">
                <a:solidFill>
                  <a:srgbClr val="FFFFFF"/>
                </a:solidFill>
                <a:latin typeface="Arial"/>
                <a:ea typeface="Arial"/>
                <a:cs typeface="Arial"/>
              </a:rPr>
              <a:t>из диалогов с ИИ</a:t>
            </a:r>
          </a:p>
        </p:txBody>
      </p:sp>
      <p:sp>
        <p:nvSpPr>
          <p:cNvPr id="3" name="Извлечение ценных знаний из многошаговых диалогов&#10;и их включение в сущ">
            <a:extLst xmlns:a="http://schemas.openxmlformats.org/drawingml/2006/main">
              <a:ext uri="{FF2B5EF4-FFF2-40B4-BE49-F238E27FC236}">
                <a16:creationId xmlns:a16="http://schemas.microsoft.com/office/drawing/2014/main" id="{CE763D01-4025-4ACC-9CC3-A2B623B8718C}"/>
              </a:ext>
            </a:extLst>
          </p:cNvPr>
          <p:cNvSpPr>
            <a:spLocks xmlns:a="http://schemas.openxmlformats.org/drawingml/2006/main" noGrp="1"/>
          </p:cNvSpPr>
          <p:nvPr/>
        </p:nvSpPr>
        <p:spPr>
          <a:xfrm xmlns:a="http://schemas.openxmlformats.org/drawingml/2006/main">
            <a:off x="723900" y="3857625"/>
            <a:ext cx="10668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0">
                <a:solidFill>
                  <a:srgbClr val="D1DCE4"/>
                </a:solidFill>
                <a:latin typeface="Arial"/>
                <a:ea typeface="Arial"/>
                <a:cs typeface="Arial"/>
              </a:defRPr>
            </a:pPr>
            <a:r>
              <a:rPr sz="2250" b="0">
                <a:solidFill>
                  <a:srgbClr val="D1DCE4"/>
                </a:solidFill>
                <a:latin typeface="Arial"/>
                <a:ea typeface="Arial"/>
                <a:cs typeface="Arial"/>
              </a:rPr>
              <a:t>Извлечение ценных знаний из многошаговых диалогов</a:t>
            </a:r>
          </a:p>
          <a:p xmlns:a="http://schemas.openxmlformats.org/drawingml/2006/main">
            <a:pPr>
              <a:buNone/>
              <a:defRPr sz="2250" b="0">
                <a:solidFill>
                  <a:srgbClr val="D1DCE4"/>
                </a:solidFill>
                <a:latin typeface="Arial"/>
                <a:ea typeface="Arial"/>
                <a:cs typeface="Arial"/>
              </a:defRPr>
            </a:pPr>
            <a:r>
              <a:rPr sz="2250" b="0">
                <a:solidFill>
                  <a:srgbClr val="D1DCE4"/>
                </a:solidFill>
                <a:latin typeface="Arial"/>
                <a:ea typeface="Arial"/>
                <a:cs typeface="Arial"/>
              </a:rPr>
              <a:t>и их включение в существующую базу Obsidian</a:t>
            </a:r>
          </a:p>
        </p:txBody>
      </p:sp>
      <p:sp>
        <p:nvSpPr>
          <p:cNvPr id="4" name="Conversation-to-Knowledge Agent">
            <a:extLst xmlns:a="http://schemas.openxmlformats.org/drawingml/2006/main">
              <a:ext uri="{FF2B5EF4-FFF2-40B4-BE49-F238E27FC236}">
                <a16:creationId xmlns:a16="http://schemas.microsoft.com/office/drawing/2014/main" id="{D60C15F5-EEC1-41F0-A835-3BE77068416B}"/>
              </a:ext>
            </a:extLst>
          </p:cNvPr>
          <p:cNvSpPr>
            <a:spLocks xmlns:a="http://schemas.openxmlformats.org/drawingml/2006/main" noGrp="1"/>
          </p:cNvSpPr>
          <p:nvPr/>
        </p:nvSpPr>
        <p:spPr>
          <a:xfrm xmlns:a="http://schemas.openxmlformats.org/drawingml/2006/main">
            <a:off x="723900" y="5762625"/>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A8B7C3"/>
                </a:solidFill>
                <a:latin typeface="Arial"/>
                <a:ea typeface="Arial"/>
                <a:cs typeface="Arial"/>
              </a:defRPr>
            </a:pPr>
            <a:r>
              <a:rPr sz="1725" b="0">
                <a:solidFill>
                  <a:srgbClr val="A8B7C3"/>
                </a:solidFill>
                <a:latin typeface="Arial"/>
                <a:ea typeface="Arial"/>
                <a:cs typeface="Arial"/>
              </a:rPr>
              <a:t>Conversation-to-Knowledge Agent</a:t>
            </a:r>
          </a:p>
        </p:txBody>
      </p:sp>
    </p:spTree>
    <p:extLst>
      <p:ext uri="{BB962C8B-B14F-4D97-AF65-F5344CB8AC3E}">
        <p14:creationId xmlns:p14="http://schemas.microsoft.com/office/powerpoint/2010/main" val="633406207"/>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Для кого мы создаём интерфейс">
            <a:extLst xmlns:a="http://schemas.openxmlformats.org/drawingml/2006/main">
              <a:ext uri="{FF2B5EF4-FFF2-40B4-BE49-F238E27FC236}">
                <a16:creationId xmlns:a16="http://schemas.microsoft.com/office/drawing/2014/main" id="{FD9F749B-1624-45B7-BA2D-41E826586262}"/>
              </a:ext>
            </a:extLst>
          </p:cNvPr>
          <p:cNvSpPr>
            <a:spLocks xmlns:a="http://schemas.openxmlformats.org/drawingml/2006/main" noGrp="1"/>
          </p:cNvSpPr>
          <p:nvPr/>
        </p:nvSpPr>
        <p:spPr>
          <a:xfrm xmlns:a="http://schemas.openxmlformats.org/drawingml/2006/main">
            <a:off x="685800" y="476250"/>
            <a:ext cx="10820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225" b="1">
                <a:solidFill>
                  <a:srgbClr val="182B3A"/>
                </a:solidFill>
                <a:latin typeface="Arial"/>
                <a:ea typeface="Arial"/>
                <a:cs typeface="Arial"/>
              </a:defRPr>
            </a:pPr>
            <a:r>
              <a:rPr sz="3225" b="1">
                <a:solidFill>
                  <a:srgbClr val="182B3A"/>
                </a:solidFill>
                <a:latin typeface="Arial"/>
                <a:ea typeface="Arial"/>
                <a:cs typeface="Arial"/>
              </a:rPr>
              <a:t>Для кого мы создаём интерфейс</a:t>
            </a:r>
          </a:p>
        </p:txBody>
      </p:sp>
      <p:sp>
        <p:nvSpPr>
          <p:cNvPr id="2" name="02">
            <a:extLst xmlns:a="http://schemas.openxmlformats.org/drawingml/2006/main">
              <a:ext uri="{FF2B5EF4-FFF2-40B4-BE49-F238E27FC236}">
                <a16:creationId xmlns:a16="http://schemas.microsoft.com/office/drawing/2014/main" id="{C65F39A3-DDA6-4185-A35C-8457AB737AC7}"/>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61707A"/>
                </a:solidFill>
                <a:latin typeface="Arial"/>
                <a:ea typeface="Arial"/>
                <a:cs typeface="Arial"/>
              </a:defRPr>
            </a:pPr>
            <a:r>
              <a:rPr sz="1350" b="0">
                <a:solidFill>
                  <a:srgbClr val="61707A"/>
                </a:solidFill>
                <a:latin typeface="Arial"/>
                <a:ea typeface="Arial"/>
                <a:cs typeface="Arial"/>
              </a:rPr>
              <a:t>02</a:t>
            </a:r>
          </a:p>
        </p:txBody>
      </p:sp>
      <p:sp>
        <p:nvSpPr>
          <p:cNvPr id="3" name="Регулярно обсуждают&#10;вопросы с ИИ">
            <a:extLst xmlns:a="http://schemas.openxmlformats.org/drawingml/2006/main">
              <a:ext uri="{FF2B5EF4-FFF2-40B4-BE49-F238E27FC236}">
                <a16:creationId xmlns:a16="http://schemas.microsoft.com/office/drawing/2014/main" id="{FA682BFD-0F07-4E89-8299-70940854CF29}"/>
              </a:ext>
            </a:extLst>
          </p:cNvPr>
          <p:cNvSpPr>
            <a:spLocks xmlns:a="http://schemas.openxmlformats.org/drawingml/2006/main" noGrp="1"/>
          </p:cNvSpPr>
          <p:nvPr/>
        </p:nvSpPr>
        <p:spPr>
          <a:xfrm xmlns:a="http://schemas.openxmlformats.org/drawingml/2006/main">
            <a:off x="685800" y="1828800"/>
            <a:ext cx="5095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225" b="1">
                <a:solidFill>
                  <a:srgbClr val="315FEA"/>
                </a:solidFill>
                <a:latin typeface="Arial"/>
                <a:ea typeface="Arial"/>
                <a:cs typeface="Arial"/>
              </a:defRPr>
            </a:pPr>
            <a:r>
              <a:rPr sz="3225" b="1">
                <a:solidFill>
                  <a:srgbClr val="315FEA"/>
                </a:solidFill>
                <a:latin typeface="Arial"/>
                <a:ea typeface="Arial"/>
                <a:cs typeface="Arial"/>
              </a:rPr>
              <a:t>Регулярно обсуждают</a:t>
            </a:r>
          </a:p>
          <a:p xmlns:a="http://schemas.openxmlformats.org/drawingml/2006/main">
            <a:pPr>
              <a:buNone/>
              <a:defRPr sz="3225" b="1">
                <a:solidFill>
                  <a:srgbClr val="315FEA"/>
                </a:solidFill>
                <a:latin typeface="Arial"/>
                <a:ea typeface="Arial"/>
                <a:cs typeface="Arial"/>
              </a:defRPr>
            </a:pPr>
            <a:r>
              <a:rPr sz="3225" b="1">
                <a:solidFill>
                  <a:srgbClr val="315FEA"/>
                </a:solidFill>
                <a:latin typeface="Arial"/>
                <a:ea typeface="Arial"/>
                <a:cs typeface="Arial"/>
              </a:rPr>
              <a:t>вопросы с ИИ</a:t>
            </a:r>
          </a:p>
        </p:txBody>
      </p:sp>
      <p:sp>
        <p:nvSpPr>
          <p:cNvPr id="4" name="Хотят сохранять знания&#10;и применять их снова">
            <a:extLst xmlns:a="http://schemas.openxmlformats.org/drawingml/2006/main">
              <a:ext uri="{FF2B5EF4-FFF2-40B4-BE49-F238E27FC236}">
                <a16:creationId xmlns:a16="http://schemas.microsoft.com/office/drawing/2014/main" id="{FF02CE57-7E37-49AE-8F6E-ABA4DD6A26C6}"/>
              </a:ext>
            </a:extLst>
          </p:cNvPr>
          <p:cNvSpPr>
            <a:spLocks xmlns:a="http://schemas.openxmlformats.org/drawingml/2006/main" noGrp="1"/>
          </p:cNvSpPr>
          <p:nvPr/>
        </p:nvSpPr>
        <p:spPr>
          <a:xfrm xmlns:a="http://schemas.openxmlformats.org/drawingml/2006/main">
            <a:off x="685800" y="3305175"/>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75" b="0">
                <a:solidFill>
                  <a:srgbClr val="182B3A"/>
                </a:solidFill>
                <a:latin typeface="Arial"/>
                <a:ea typeface="Arial"/>
                <a:cs typeface="Arial"/>
              </a:defRPr>
            </a:pPr>
            <a:r>
              <a:rPr sz="2475" b="0">
                <a:solidFill>
                  <a:srgbClr val="182B3A"/>
                </a:solidFill>
                <a:latin typeface="Arial"/>
                <a:ea typeface="Arial"/>
                <a:cs typeface="Arial"/>
              </a:rPr>
              <a:t>Хотят сохранять знания</a:t>
            </a:r>
          </a:p>
          <a:p xmlns:a="http://schemas.openxmlformats.org/drawingml/2006/main">
            <a:pPr>
              <a:buNone/>
              <a:defRPr sz="2475" b="0">
                <a:solidFill>
                  <a:srgbClr val="182B3A"/>
                </a:solidFill>
                <a:latin typeface="Arial"/>
                <a:ea typeface="Arial"/>
                <a:cs typeface="Arial"/>
              </a:defRPr>
            </a:pPr>
            <a:r>
              <a:rPr sz="2475" b="0">
                <a:solidFill>
                  <a:srgbClr val="182B3A"/>
                </a:solidFill>
                <a:latin typeface="Arial"/>
                <a:ea typeface="Arial"/>
                <a:cs typeface="Arial"/>
              </a:rPr>
              <a:t>и применять их снова</a:t>
            </a:r>
          </a:p>
        </p:txBody>
      </p:sp>
      <p:sp>
        <p:nvSpPr>
          <p:cNvPr id="5" name="Для первого этапа:&#10;пользователи Obsidian">
            <a:extLst xmlns:a="http://schemas.openxmlformats.org/drawingml/2006/main">
              <a:ext uri="{FF2B5EF4-FFF2-40B4-BE49-F238E27FC236}">
                <a16:creationId xmlns:a16="http://schemas.microsoft.com/office/drawing/2014/main" id="{92E2BC63-21F5-4F51-8DFE-A6262F8337C7}"/>
              </a:ext>
            </a:extLst>
          </p:cNvPr>
          <p:cNvSpPr>
            <a:spLocks xmlns:a="http://schemas.openxmlformats.org/drawingml/2006/main" noGrp="1"/>
          </p:cNvSpPr>
          <p:nvPr/>
        </p:nvSpPr>
        <p:spPr>
          <a:xfrm xmlns:a="http://schemas.openxmlformats.org/drawingml/2006/main">
            <a:off x="685800" y="5095875"/>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61707A"/>
                </a:solidFill>
                <a:latin typeface="Arial"/>
                <a:ea typeface="Arial"/>
                <a:cs typeface="Arial"/>
              </a:defRPr>
            </a:pPr>
            <a:r>
              <a:rPr sz="1875" b="0">
                <a:solidFill>
                  <a:srgbClr val="61707A"/>
                </a:solidFill>
                <a:latin typeface="Arial"/>
                <a:ea typeface="Arial"/>
                <a:cs typeface="Arial"/>
              </a:rPr>
              <a:t>Для первого этапа:</a:t>
            </a:r>
          </a:p>
          <a:p xmlns:a="http://schemas.openxmlformats.org/drawingml/2006/main">
            <a:pPr>
              <a:buNone/>
              <a:defRPr sz="1875" b="0">
                <a:solidFill>
                  <a:srgbClr val="61707A"/>
                </a:solidFill>
                <a:latin typeface="Arial"/>
                <a:ea typeface="Arial"/>
                <a:cs typeface="Arial"/>
              </a:defRPr>
            </a:pPr>
            <a:r>
              <a:rPr sz="1875" b="0">
                <a:solidFill>
                  <a:srgbClr val="61707A"/>
                </a:solidFill>
                <a:latin typeface="Arial"/>
                <a:ea typeface="Arial"/>
                <a:cs typeface="Arial"/>
              </a:rPr>
              <a:t>пользователи Obsidian</a:t>
            </a:r>
          </a:p>
        </p:txBody>
      </p:sp>
      <p:sp>
        <p:nvSpPr>
          <p:cNvPr id="6" name="Работа и личные проекты">
            <a:extLst xmlns:a="http://schemas.openxmlformats.org/drawingml/2006/main">
              <a:ext uri="{FF2B5EF4-FFF2-40B4-BE49-F238E27FC236}">
                <a16:creationId xmlns:a16="http://schemas.microsoft.com/office/drawing/2014/main" id="{C75575AE-5653-4DAC-8937-FAFB83EFFE24}"/>
              </a:ext>
            </a:extLst>
          </p:cNvPr>
          <p:cNvSpPr>
            <a:spLocks xmlns:a="http://schemas.openxmlformats.org/drawingml/2006/main" noGrp="1"/>
          </p:cNvSpPr>
          <p:nvPr/>
        </p:nvSpPr>
        <p:spPr>
          <a:xfrm xmlns:a="http://schemas.openxmlformats.org/drawingml/2006/main">
            <a:off x="6572250" y="185737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182B3A"/>
                </a:solidFill>
                <a:latin typeface="Arial"/>
                <a:ea typeface="Arial"/>
                <a:cs typeface="Arial"/>
              </a:defRPr>
            </a:pPr>
            <a:r>
              <a:rPr sz="2175" b="1">
                <a:solidFill>
                  <a:srgbClr val="182B3A"/>
                </a:solidFill>
                <a:latin typeface="Arial"/>
                <a:ea typeface="Arial"/>
                <a:cs typeface="Arial"/>
              </a:rPr>
              <a:t>Работа и личные проекты</a:t>
            </a:r>
          </a:p>
        </p:txBody>
      </p:sp>
      <p:sp>
        <p:nvSpPr>
          <p:cNvPr id="7" name="Разработка, исследования,&#10;анализ и создание материалов">
            <a:extLst xmlns:a="http://schemas.openxmlformats.org/drawingml/2006/main">
              <a:ext uri="{FF2B5EF4-FFF2-40B4-BE49-F238E27FC236}">
                <a16:creationId xmlns:a16="http://schemas.microsoft.com/office/drawing/2014/main" id="{A765393E-30D3-43FD-BA3F-21C6743A833E}"/>
              </a:ext>
            </a:extLst>
          </p:cNvPr>
          <p:cNvSpPr>
            <a:spLocks xmlns:a="http://schemas.openxmlformats.org/drawingml/2006/main" noGrp="1"/>
          </p:cNvSpPr>
          <p:nvPr/>
        </p:nvSpPr>
        <p:spPr>
          <a:xfrm xmlns:a="http://schemas.openxmlformats.org/drawingml/2006/main">
            <a:off x="6572250" y="2505075"/>
            <a:ext cx="4857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82B3A"/>
                </a:solidFill>
                <a:latin typeface="Arial"/>
                <a:ea typeface="Arial"/>
                <a:cs typeface="Arial"/>
              </a:defRPr>
            </a:pPr>
            <a:r>
              <a:rPr sz="2100" b="0">
                <a:solidFill>
                  <a:srgbClr val="182B3A"/>
                </a:solidFill>
                <a:latin typeface="Arial"/>
                <a:ea typeface="Arial"/>
                <a:cs typeface="Arial"/>
              </a:rPr>
              <a:t>Разработка, исследования,</a:t>
            </a:r>
          </a:p>
          <a:p xmlns:a="http://schemas.openxmlformats.org/drawingml/2006/main">
            <a:pPr>
              <a:buNone/>
              <a:defRPr sz="2100" b="0">
                <a:solidFill>
                  <a:srgbClr val="182B3A"/>
                </a:solidFill>
                <a:latin typeface="Arial"/>
                <a:ea typeface="Arial"/>
                <a:cs typeface="Arial"/>
              </a:defRPr>
            </a:pPr>
            <a:r>
              <a:rPr sz="2100" b="0">
                <a:solidFill>
                  <a:srgbClr val="182B3A"/>
                </a:solidFill>
                <a:latin typeface="Arial"/>
                <a:ea typeface="Arial"/>
                <a:cs typeface="Arial"/>
              </a:rPr>
              <a:t>анализ и создание материалов</a:t>
            </a:r>
          </a:p>
        </p:txBody>
      </p:sp>
      <p:sp>
        <p:nvSpPr>
          <p:cNvPr id="8" name="Самостоятельное изучение тем">
            <a:extLst xmlns:a="http://schemas.openxmlformats.org/drawingml/2006/main">
              <a:ext uri="{FF2B5EF4-FFF2-40B4-BE49-F238E27FC236}">
                <a16:creationId xmlns:a16="http://schemas.microsoft.com/office/drawing/2014/main" id="{64168C1B-CF04-438B-8763-193CAC2F0CBF}"/>
              </a:ext>
            </a:extLst>
          </p:cNvPr>
          <p:cNvSpPr>
            <a:spLocks xmlns:a="http://schemas.openxmlformats.org/drawingml/2006/main" noGrp="1"/>
          </p:cNvSpPr>
          <p:nvPr/>
        </p:nvSpPr>
        <p:spPr>
          <a:xfrm xmlns:a="http://schemas.openxmlformats.org/drawingml/2006/main">
            <a:off x="6572250" y="3905250"/>
            <a:ext cx="4905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182B3A"/>
                </a:solidFill>
                <a:latin typeface="Arial"/>
                <a:ea typeface="Arial"/>
                <a:cs typeface="Arial"/>
              </a:defRPr>
            </a:pPr>
            <a:r>
              <a:rPr sz="2175" b="1">
                <a:solidFill>
                  <a:srgbClr val="182B3A"/>
                </a:solidFill>
                <a:latin typeface="Arial"/>
                <a:ea typeface="Arial"/>
                <a:cs typeface="Arial"/>
              </a:rPr>
              <a:t>Самостоятельное изучение тем</a:t>
            </a:r>
          </a:p>
        </p:txBody>
      </p:sp>
      <p:sp>
        <p:nvSpPr>
          <p:cNvPr id="9" name="Профессиональные интересы&#10;и повседневные вопросы">
            <a:extLst xmlns:a="http://schemas.openxmlformats.org/drawingml/2006/main">
              <a:ext uri="{FF2B5EF4-FFF2-40B4-BE49-F238E27FC236}">
                <a16:creationId xmlns:a16="http://schemas.microsoft.com/office/drawing/2014/main" id="{AC09991D-6BDC-4BE0-B487-9C637DBFD563}"/>
              </a:ext>
            </a:extLst>
          </p:cNvPr>
          <p:cNvSpPr>
            <a:spLocks xmlns:a="http://schemas.openxmlformats.org/drawingml/2006/main" noGrp="1"/>
          </p:cNvSpPr>
          <p:nvPr/>
        </p:nvSpPr>
        <p:spPr>
          <a:xfrm xmlns:a="http://schemas.openxmlformats.org/drawingml/2006/main">
            <a:off x="6572250" y="4743450"/>
            <a:ext cx="4857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82B3A"/>
                </a:solidFill>
                <a:latin typeface="Arial"/>
                <a:ea typeface="Arial"/>
                <a:cs typeface="Arial"/>
              </a:defRPr>
            </a:pPr>
            <a:r>
              <a:rPr sz="2100" b="0">
                <a:solidFill>
                  <a:srgbClr val="182B3A"/>
                </a:solidFill>
                <a:latin typeface="Arial"/>
                <a:ea typeface="Arial"/>
                <a:cs typeface="Arial"/>
              </a:rPr>
              <a:t>Профессиональные интересы</a:t>
            </a:r>
          </a:p>
          <a:p xmlns:a="http://schemas.openxmlformats.org/drawingml/2006/main">
            <a:pPr>
              <a:buNone/>
              <a:defRPr sz="2100" b="0">
                <a:solidFill>
                  <a:srgbClr val="182B3A"/>
                </a:solidFill>
                <a:latin typeface="Arial"/>
                <a:ea typeface="Arial"/>
                <a:cs typeface="Arial"/>
              </a:defRPr>
            </a:pPr>
            <a:r>
              <a:rPr sz="2100" b="0">
                <a:solidFill>
                  <a:srgbClr val="182B3A"/>
                </a:solidFill>
                <a:latin typeface="Arial"/>
                <a:ea typeface="Arial"/>
                <a:cs typeface="Arial"/>
              </a:rPr>
              <a:t>и повседневные вопросы</a:t>
            </a:r>
          </a:p>
        </p:txBody>
      </p:sp>
    </p:spTree>
    <p:extLst>
      <p:ext uri="{BB962C8B-B14F-4D97-AF65-F5344CB8AC3E}">
        <p14:creationId xmlns:p14="http://schemas.microsoft.com/office/powerpoint/2010/main" val="623399971"/>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Почему знания трудно сохранить из диалога">
            <a:extLst xmlns:a="http://schemas.openxmlformats.org/drawingml/2006/main">
              <a:ext uri="{FF2B5EF4-FFF2-40B4-BE49-F238E27FC236}">
                <a16:creationId xmlns:a16="http://schemas.microsoft.com/office/drawing/2014/main" id="{0BAF2C1D-37C6-4E4A-AB86-CD810620EA4A}"/>
              </a:ext>
            </a:extLst>
          </p:cNvPr>
          <p:cNvSpPr>
            <a:spLocks xmlns:a="http://schemas.openxmlformats.org/drawingml/2006/main" noGrp="1"/>
          </p:cNvSpPr>
          <p:nvPr/>
        </p:nvSpPr>
        <p:spPr>
          <a:xfrm xmlns:a="http://schemas.openxmlformats.org/drawingml/2006/main">
            <a:off x="685800" y="476250"/>
            <a:ext cx="10820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225" b="1">
                <a:solidFill>
                  <a:srgbClr val="182B3A"/>
                </a:solidFill>
                <a:latin typeface="Arial"/>
                <a:ea typeface="Arial"/>
                <a:cs typeface="Arial"/>
              </a:defRPr>
            </a:pPr>
            <a:r>
              <a:rPr sz="3225" b="1">
                <a:solidFill>
                  <a:srgbClr val="182B3A"/>
                </a:solidFill>
                <a:latin typeface="Arial"/>
                <a:ea typeface="Arial"/>
                <a:cs typeface="Arial"/>
              </a:rPr>
              <a:t>Почему знания трудно сохранить из диалога</a:t>
            </a:r>
          </a:p>
        </p:txBody>
      </p:sp>
      <p:sp>
        <p:nvSpPr>
          <p:cNvPr id="2" name="03">
            <a:extLst xmlns:a="http://schemas.openxmlformats.org/drawingml/2006/main">
              <a:ext uri="{FF2B5EF4-FFF2-40B4-BE49-F238E27FC236}">
                <a16:creationId xmlns:a16="http://schemas.microsoft.com/office/drawing/2014/main" id="{C076E357-5A36-497D-A19D-998202389F10}"/>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61707A"/>
                </a:solidFill>
                <a:latin typeface="Arial"/>
                <a:ea typeface="Arial"/>
                <a:cs typeface="Arial"/>
              </a:defRPr>
            </a:pPr>
            <a:r>
              <a:rPr sz="1350" b="0">
                <a:solidFill>
                  <a:srgbClr val="61707A"/>
                </a:solidFill>
                <a:latin typeface="Arial"/>
                <a:ea typeface="Arial"/>
                <a:cs typeface="Arial"/>
              </a:rPr>
              <a:t>03</a:t>
            </a:r>
          </a:p>
        </p:txBody>
      </p:sp>
      <p:sp>
        <p:nvSpPr>
          <p:cNvPr id="3" name="В ходе разговора">
            <a:extLst xmlns:a="http://schemas.openxmlformats.org/drawingml/2006/main">
              <a:ext uri="{FF2B5EF4-FFF2-40B4-BE49-F238E27FC236}">
                <a16:creationId xmlns:a16="http://schemas.microsoft.com/office/drawing/2014/main" id="{D9E9738E-3D75-493F-8DC8-A806DC63FE2C}"/>
              </a:ext>
            </a:extLst>
          </p:cNvPr>
          <p:cNvSpPr>
            <a:spLocks xmlns:a="http://schemas.openxmlformats.org/drawingml/2006/main" noGrp="1"/>
          </p:cNvSpPr>
          <p:nvPr/>
        </p:nvSpPr>
        <p:spPr>
          <a:xfrm xmlns:a="http://schemas.openxmlformats.org/drawingml/2006/main">
            <a:off x="685800" y="179070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61707A"/>
                </a:solidFill>
                <a:latin typeface="Arial"/>
                <a:ea typeface="Arial"/>
                <a:cs typeface="Arial"/>
              </a:defRPr>
            </a:pPr>
            <a:r>
              <a:rPr sz="2100" b="1">
                <a:solidFill>
                  <a:srgbClr val="61707A"/>
                </a:solidFill>
                <a:latin typeface="Arial"/>
                <a:ea typeface="Arial"/>
                <a:cs typeface="Arial"/>
              </a:rPr>
              <a:t>В ходе разговора</a:t>
            </a:r>
          </a:p>
        </p:txBody>
      </p:sp>
      <p:sp>
        <p:nvSpPr>
          <p:cNvPr id="4" name="Вопрос и первый ответ&#10;Уточнения и новые условия&#10;Исправления и выводы">
            <a:extLst xmlns:a="http://schemas.openxmlformats.org/drawingml/2006/main">
              <a:ext uri="{FF2B5EF4-FFF2-40B4-BE49-F238E27FC236}">
                <a16:creationId xmlns:a16="http://schemas.microsoft.com/office/drawing/2014/main" id="{374C2B9C-FCDD-411D-8BEE-D3CC6BEA1A60}"/>
              </a:ext>
            </a:extLst>
          </p:cNvPr>
          <p:cNvSpPr>
            <a:spLocks xmlns:a="http://schemas.openxmlformats.org/drawingml/2006/main" noGrp="1"/>
          </p:cNvSpPr>
          <p:nvPr/>
        </p:nvSpPr>
        <p:spPr>
          <a:xfrm xmlns:a="http://schemas.openxmlformats.org/drawingml/2006/main">
            <a:off x="685800" y="2476500"/>
            <a:ext cx="52387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182B3A"/>
                </a:solidFill>
                <a:latin typeface="Arial"/>
                <a:ea typeface="Arial"/>
                <a:cs typeface="Arial"/>
              </a:defRPr>
            </a:pPr>
            <a:r>
              <a:rPr sz="2400" b="0">
                <a:solidFill>
                  <a:srgbClr val="182B3A"/>
                </a:solidFill>
                <a:latin typeface="Arial"/>
                <a:ea typeface="Arial"/>
                <a:cs typeface="Arial"/>
              </a:rPr>
              <a:t>Вопрос и первый ответ</a:t>
            </a:r>
          </a:p>
          <a:p xmlns:a="http://schemas.openxmlformats.org/drawingml/2006/main">
            <a:pPr>
              <a:buNone/>
              <a:defRPr sz="2400" b="0">
                <a:solidFill>
                  <a:srgbClr val="182B3A"/>
                </a:solidFill>
                <a:latin typeface="Arial"/>
                <a:ea typeface="Arial"/>
                <a:cs typeface="Arial"/>
              </a:defRPr>
            </a:pPr>
            <a:r>
              <a:rPr sz="2400" b="0">
                <a:solidFill>
                  <a:srgbClr val="182B3A"/>
                </a:solidFill>
                <a:latin typeface="Arial"/>
                <a:ea typeface="Arial"/>
                <a:cs typeface="Arial"/>
              </a:rPr>
              <a:t>Уточнения и новые условия</a:t>
            </a:r>
          </a:p>
          <a:p xmlns:a="http://schemas.openxmlformats.org/drawingml/2006/main">
            <a:pPr>
              <a:buNone/>
              <a:defRPr sz="2400" b="0">
                <a:solidFill>
                  <a:srgbClr val="182B3A"/>
                </a:solidFill>
                <a:latin typeface="Arial"/>
                <a:ea typeface="Arial"/>
                <a:cs typeface="Arial"/>
              </a:defRPr>
            </a:pPr>
            <a:r>
              <a:rPr sz="2400" b="0">
                <a:solidFill>
                  <a:srgbClr val="182B3A"/>
                </a:solidFill>
                <a:latin typeface="Arial"/>
                <a:ea typeface="Arial"/>
                <a:cs typeface="Arial"/>
              </a:rPr>
              <a:t>Исправления и выводы</a:t>
            </a:r>
          </a:p>
        </p:txBody>
      </p:sp>
      <p:sp>
        <p:nvSpPr>
          <p:cNvPr id="5" name="Чтобы использовать позже">
            <a:extLst xmlns:a="http://schemas.openxmlformats.org/drawingml/2006/main">
              <a:ext uri="{FF2B5EF4-FFF2-40B4-BE49-F238E27FC236}">
                <a16:creationId xmlns:a16="http://schemas.microsoft.com/office/drawing/2014/main" id="{0E07C676-A6DC-47FE-9C11-B766F309EF26}"/>
              </a:ext>
            </a:extLst>
          </p:cNvPr>
          <p:cNvSpPr>
            <a:spLocks xmlns:a="http://schemas.openxmlformats.org/drawingml/2006/main" noGrp="1"/>
          </p:cNvSpPr>
          <p:nvPr/>
        </p:nvSpPr>
        <p:spPr>
          <a:xfrm xmlns:a="http://schemas.openxmlformats.org/drawingml/2006/main">
            <a:off x="6572250" y="179070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315FEA"/>
                </a:solidFill>
                <a:latin typeface="Arial"/>
                <a:ea typeface="Arial"/>
                <a:cs typeface="Arial"/>
              </a:defRPr>
            </a:pPr>
            <a:r>
              <a:rPr sz="2100" b="1">
                <a:solidFill>
                  <a:srgbClr val="315FEA"/>
                </a:solidFill>
                <a:latin typeface="Arial"/>
                <a:ea typeface="Arial"/>
                <a:cs typeface="Arial"/>
              </a:rPr>
              <a:t>Чтобы использовать позже</a:t>
            </a:r>
          </a:p>
        </p:txBody>
      </p:sp>
      <p:sp>
        <p:nvSpPr>
          <p:cNvPr id="6" name="Собрать смысл из разных реплик&#10;Убрать повторы и временные детали&#10;Связа">
            <a:extLst xmlns:a="http://schemas.openxmlformats.org/drawingml/2006/main">
              <a:ext uri="{FF2B5EF4-FFF2-40B4-BE49-F238E27FC236}">
                <a16:creationId xmlns:a16="http://schemas.microsoft.com/office/drawing/2014/main" id="{010FCCCF-88B0-4121-8764-DB5768A23401}"/>
              </a:ext>
            </a:extLst>
          </p:cNvPr>
          <p:cNvSpPr>
            <a:spLocks xmlns:a="http://schemas.openxmlformats.org/drawingml/2006/main" noGrp="1"/>
          </p:cNvSpPr>
          <p:nvPr/>
        </p:nvSpPr>
        <p:spPr>
          <a:xfrm xmlns:a="http://schemas.openxmlformats.org/drawingml/2006/main">
            <a:off x="6572250" y="2476500"/>
            <a:ext cx="49720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82B3A"/>
                </a:solidFill>
                <a:latin typeface="Arial"/>
                <a:ea typeface="Arial"/>
                <a:cs typeface="Arial"/>
              </a:defRPr>
            </a:pPr>
            <a:r>
              <a:rPr sz="2175" b="0">
                <a:solidFill>
                  <a:srgbClr val="182B3A"/>
                </a:solidFill>
                <a:latin typeface="Arial"/>
                <a:ea typeface="Arial"/>
                <a:cs typeface="Arial"/>
              </a:rPr>
              <a:t>Собрать смысл из разных реплик</a:t>
            </a:r>
          </a:p>
          <a:p xmlns:a="http://schemas.openxmlformats.org/drawingml/2006/main">
            <a:pPr>
              <a:buNone/>
              <a:defRPr sz="2175" b="0">
                <a:solidFill>
                  <a:srgbClr val="182B3A"/>
                </a:solidFill>
                <a:latin typeface="Arial"/>
                <a:ea typeface="Arial"/>
                <a:cs typeface="Arial"/>
              </a:defRPr>
            </a:pPr>
            <a:r>
              <a:rPr sz="2175" b="0">
                <a:solidFill>
                  <a:srgbClr val="182B3A"/>
                </a:solidFill>
                <a:latin typeface="Arial"/>
                <a:ea typeface="Arial"/>
                <a:cs typeface="Arial"/>
              </a:rPr>
              <a:t>Убрать повторы и временные детали</a:t>
            </a:r>
          </a:p>
          <a:p xmlns:a="http://schemas.openxmlformats.org/drawingml/2006/main">
            <a:pPr>
              <a:buNone/>
              <a:defRPr sz="2175" b="0">
                <a:solidFill>
                  <a:srgbClr val="182B3A"/>
                </a:solidFill>
                <a:latin typeface="Arial"/>
                <a:ea typeface="Arial"/>
                <a:cs typeface="Arial"/>
              </a:defRPr>
            </a:pPr>
            <a:r>
              <a:rPr sz="2175" b="0">
                <a:solidFill>
                  <a:srgbClr val="182B3A"/>
                </a:solidFill>
                <a:latin typeface="Arial"/>
                <a:ea typeface="Arial"/>
                <a:cs typeface="Arial"/>
              </a:rPr>
              <a:t>Связать с тем, что уже известно</a:t>
            </a:r>
          </a:p>
        </p:txBody>
      </p:sp>
      <p:sp>
        <p:nvSpPr>
          <p:cNvPr id="7" name="Обсуждение идёт по порядку реплик.&#10;Знания нужны в структуре тем и связ">
            <a:extLst xmlns:a="http://schemas.openxmlformats.org/drawingml/2006/main">
              <a:ext uri="{FF2B5EF4-FFF2-40B4-BE49-F238E27FC236}">
                <a16:creationId xmlns:a16="http://schemas.microsoft.com/office/drawing/2014/main" id="{A54462EE-8BF4-4642-A947-6D06E7927535}"/>
              </a:ext>
            </a:extLst>
          </p:cNvPr>
          <p:cNvSpPr>
            <a:spLocks xmlns:a="http://schemas.openxmlformats.org/drawingml/2006/main" noGrp="1"/>
          </p:cNvSpPr>
          <p:nvPr/>
        </p:nvSpPr>
        <p:spPr>
          <a:xfrm xmlns:a="http://schemas.openxmlformats.org/drawingml/2006/main">
            <a:off x="685800" y="5057775"/>
            <a:ext cx="10572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625" b="1">
                <a:solidFill>
                  <a:srgbClr val="182B3A"/>
                </a:solidFill>
                <a:latin typeface="Arial"/>
                <a:ea typeface="Arial"/>
                <a:cs typeface="Arial"/>
              </a:defRPr>
            </a:pPr>
            <a:r>
              <a:rPr sz="2625" b="1">
                <a:solidFill>
                  <a:srgbClr val="182B3A"/>
                </a:solidFill>
                <a:latin typeface="Arial"/>
                <a:ea typeface="Arial"/>
                <a:cs typeface="Arial"/>
              </a:rPr>
              <a:t>Обсуждение идёт по порядку реплик.</a:t>
            </a:r>
          </a:p>
          <a:p xmlns:a="http://schemas.openxmlformats.org/drawingml/2006/main">
            <a:pPr>
              <a:buNone/>
              <a:defRPr sz="2625" b="1">
                <a:solidFill>
                  <a:srgbClr val="182B3A"/>
                </a:solidFill>
                <a:latin typeface="Arial"/>
                <a:ea typeface="Arial"/>
                <a:cs typeface="Arial"/>
              </a:defRPr>
            </a:pPr>
            <a:r>
              <a:rPr sz="2625" b="1">
                <a:solidFill>
                  <a:srgbClr val="182B3A"/>
                </a:solidFill>
                <a:latin typeface="Arial"/>
                <a:ea typeface="Arial"/>
                <a:cs typeface="Arial"/>
              </a:rPr>
              <a:t>Знания нужны в структуре тем и связей.</a:t>
            </a:r>
          </a:p>
        </p:txBody>
      </p:sp>
    </p:spTree>
    <p:extLst>
      <p:ext uri="{BB962C8B-B14F-4D97-AF65-F5344CB8AC3E}">
        <p14:creationId xmlns:p14="http://schemas.microsoft.com/office/powerpoint/2010/main" val="555393859"/>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Какие знания мы извлекаем">
            <a:extLst xmlns:a="http://schemas.openxmlformats.org/drawingml/2006/main">
              <a:ext uri="{FF2B5EF4-FFF2-40B4-BE49-F238E27FC236}">
                <a16:creationId xmlns:a16="http://schemas.microsoft.com/office/drawing/2014/main" id="{6F503786-004D-4FE3-A688-F49546BB3CEB}"/>
              </a:ext>
            </a:extLst>
          </p:cNvPr>
          <p:cNvSpPr>
            <a:spLocks xmlns:a="http://schemas.openxmlformats.org/drawingml/2006/main" noGrp="1"/>
          </p:cNvSpPr>
          <p:nvPr/>
        </p:nvSpPr>
        <p:spPr>
          <a:xfrm xmlns:a="http://schemas.openxmlformats.org/drawingml/2006/main">
            <a:off x="685800" y="476250"/>
            <a:ext cx="10820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225" b="1">
                <a:solidFill>
                  <a:srgbClr val="182B3A"/>
                </a:solidFill>
                <a:latin typeface="Arial"/>
                <a:ea typeface="Arial"/>
                <a:cs typeface="Arial"/>
              </a:defRPr>
            </a:pPr>
            <a:r>
              <a:rPr sz="3225" b="1">
                <a:solidFill>
                  <a:srgbClr val="182B3A"/>
                </a:solidFill>
                <a:latin typeface="Arial"/>
                <a:ea typeface="Arial"/>
                <a:cs typeface="Arial"/>
              </a:rPr>
              <a:t>Какие знания мы извлекаем</a:t>
            </a:r>
          </a:p>
        </p:txBody>
      </p:sp>
      <p:sp>
        <p:nvSpPr>
          <p:cNvPr id="2" name="04">
            <a:extLst xmlns:a="http://schemas.openxmlformats.org/drawingml/2006/main">
              <a:ext uri="{FF2B5EF4-FFF2-40B4-BE49-F238E27FC236}">
                <a16:creationId xmlns:a16="http://schemas.microsoft.com/office/drawing/2014/main" id="{16453890-793D-4189-87BE-AE261B8567AC}"/>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61707A"/>
                </a:solidFill>
                <a:latin typeface="Arial"/>
                <a:ea typeface="Arial"/>
                <a:cs typeface="Arial"/>
              </a:defRPr>
            </a:pPr>
            <a:r>
              <a:rPr sz="1350" b="0">
                <a:solidFill>
                  <a:srgbClr val="61707A"/>
                </a:solidFill>
                <a:latin typeface="Arial"/>
                <a:ea typeface="Arial"/>
                <a:cs typeface="Arial"/>
              </a:rPr>
              <a:t>04</a:t>
            </a:r>
          </a:p>
        </p:txBody>
      </p:sp>
      <p:sp>
        <p:nvSpPr>
          <p:cNvPr id="3" name="Понятия и объяснения">
            <a:extLst xmlns:a="http://schemas.openxmlformats.org/drawingml/2006/main">
              <a:ext uri="{FF2B5EF4-FFF2-40B4-BE49-F238E27FC236}">
                <a16:creationId xmlns:a16="http://schemas.microsoft.com/office/drawing/2014/main" id="{5EDEFFFB-5881-409A-8EA5-FAF7A584CB14}"/>
              </a:ext>
            </a:extLst>
          </p:cNvPr>
          <p:cNvSpPr>
            <a:spLocks xmlns:a="http://schemas.openxmlformats.org/drawingml/2006/main" noGrp="1"/>
          </p:cNvSpPr>
          <p:nvPr/>
        </p:nvSpPr>
        <p:spPr>
          <a:xfrm xmlns:a="http://schemas.openxmlformats.org/drawingml/2006/main">
            <a:off x="685800" y="1809750"/>
            <a:ext cx="4191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182B3A"/>
                </a:solidFill>
                <a:latin typeface="Arial"/>
                <a:ea typeface="Arial"/>
                <a:cs typeface="Arial"/>
              </a:defRPr>
            </a:pPr>
            <a:r>
              <a:rPr sz="2250" b="1">
                <a:solidFill>
                  <a:srgbClr val="182B3A"/>
                </a:solidFill>
                <a:latin typeface="Arial"/>
                <a:ea typeface="Arial"/>
                <a:cs typeface="Arial"/>
              </a:rPr>
              <a:t>Понятия и объяснения</a:t>
            </a:r>
          </a:p>
        </p:txBody>
      </p:sp>
      <p:sp>
        <p:nvSpPr>
          <p:cNvPr id="4" name="Суть идеи и важные уточнения">
            <a:extLst xmlns:a="http://schemas.openxmlformats.org/drawingml/2006/main">
              <a:ext uri="{FF2B5EF4-FFF2-40B4-BE49-F238E27FC236}">
                <a16:creationId xmlns:a16="http://schemas.microsoft.com/office/drawing/2014/main" id="{57FE78C7-8CD2-4794-A4BB-C256601C96B9}"/>
              </a:ext>
            </a:extLst>
          </p:cNvPr>
          <p:cNvSpPr>
            <a:spLocks xmlns:a="http://schemas.openxmlformats.org/drawingml/2006/main" noGrp="1"/>
          </p:cNvSpPr>
          <p:nvPr/>
        </p:nvSpPr>
        <p:spPr>
          <a:xfrm xmlns:a="http://schemas.openxmlformats.org/drawingml/2006/main">
            <a:off x="5476875" y="1838325"/>
            <a:ext cx="6048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82B3A"/>
                </a:solidFill>
                <a:latin typeface="Arial"/>
                <a:ea typeface="Arial"/>
                <a:cs typeface="Arial"/>
              </a:defRPr>
            </a:pPr>
            <a:r>
              <a:rPr sz="2100" b="0">
                <a:solidFill>
                  <a:srgbClr val="182B3A"/>
                </a:solidFill>
                <a:latin typeface="Arial"/>
                <a:ea typeface="Arial"/>
                <a:cs typeface="Arial"/>
              </a:rPr>
              <a:t>Суть идеи и важные уточнения</a:t>
            </a:r>
          </a:p>
        </p:txBody>
      </p:sp>
      <p:sp>
        <p:nvSpPr>
          <p:cNvPr id="5" name="Методы и решения">
            <a:extLst xmlns:a="http://schemas.openxmlformats.org/drawingml/2006/main">
              <a:ext uri="{FF2B5EF4-FFF2-40B4-BE49-F238E27FC236}">
                <a16:creationId xmlns:a16="http://schemas.microsoft.com/office/drawing/2014/main" id="{F0CD4FD9-D160-45B9-84DF-996A20B7D7B2}"/>
              </a:ext>
            </a:extLst>
          </p:cNvPr>
          <p:cNvSpPr>
            <a:spLocks xmlns:a="http://schemas.openxmlformats.org/drawingml/2006/main" noGrp="1"/>
          </p:cNvSpPr>
          <p:nvPr/>
        </p:nvSpPr>
        <p:spPr>
          <a:xfrm xmlns:a="http://schemas.openxmlformats.org/drawingml/2006/main">
            <a:off x="685800" y="2724150"/>
            <a:ext cx="4191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182B3A"/>
                </a:solidFill>
                <a:latin typeface="Arial"/>
                <a:ea typeface="Arial"/>
                <a:cs typeface="Arial"/>
              </a:defRPr>
            </a:pPr>
            <a:r>
              <a:rPr sz="2250" b="1">
                <a:solidFill>
                  <a:srgbClr val="182B3A"/>
                </a:solidFill>
                <a:latin typeface="Arial"/>
                <a:ea typeface="Arial"/>
                <a:cs typeface="Arial"/>
              </a:rPr>
              <a:t>Методы и решения</a:t>
            </a:r>
          </a:p>
        </p:txBody>
      </p:sp>
      <p:sp>
        <p:nvSpPr>
          <p:cNvPr id="6" name="Как действовать и при каких условиях">
            <a:extLst xmlns:a="http://schemas.openxmlformats.org/drawingml/2006/main">
              <a:ext uri="{FF2B5EF4-FFF2-40B4-BE49-F238E27FC236}">
                <a16:creationId xmlns:a16="http://schemas.microsoft.com/office/drawing/2014/main" id="{72147D62-BAB9-4C93-BB25-7513C5FB802B}"/>
              </a:ext>
            </a:extLst>
          </p:cNvPr>
          <p:cNvSpPr>
            <a:spLocks xmlns:a="http://schemas.openxmlformats.org/drawingml/2006/main" noGrp="1"/>
          </p:cNvSpPr>
          <p:nvPr/>
        </p:nvSpPr>
        <p:spPr>
          <a:xfrm xmlns:a="http://schemas.openxmlformats.org/drawingml/2006/main">
            <a:off x="5476875" y="2752725"/>
            <a:ext cx="6048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82B3A"/>
                </a:solidFill>
                <a:latin typeface="Arial"/>
                <a:ea typeface="Arial"/>
                <a:cs typeface="Arial"/>
              </a:defRPr>
            </a:pPr>
            <a:r>
              <a:rPr sz="2100" b="0">
                <a:solidFill>
                  <a:srgbClr val="182B3A"/>
                </a:solidFill>
                <a:latin typeface="Arial"/>
                <a:ea typeface="Arial"/>
                <a:cs typeface="Arial"/>
              </a:rPr>
              <a:t>Как действовать и при каких условиях</a:t>
            </a:r>
          </a:p>
        </p:txBody>
      </p:sp>
      <p:sp>
        <p:nvSpPr>
          <p:cNvPr id="7" name="Выводы и выбор">
            <a:extLst xmlns:a="http://schemas.openxmlformats.org/drawingml/2006/main">
              <a:ext uri="{FF2B5EF4-FFF2-40B4-BE49-F238E27FC236}">
                <a16:creationId xmlns:a16="http://schemas.microsoft.com/office/drawing/2014/main" id="{59F0D84D-5D36-4285-A4B6-123CE4087DED}"/>
              </a:ext>
            </a:extLst>
          </p:cNvPr>
          <p:cNvSpPr>
            <a:spLocks xmlns:a="http://schemas.openxmlformats.org/drawingml/2006/main" noGrp="1"/>
          </p:cNvSpPr>
          <p:nvPr/>
        </p:nvSpPr>
        <p:spPr>
          <a:xfrm xmlns:a="http://schemas.openxmlformats.org/drawingml/2006/main">
            <a:off x="685800" y="3638550"/>
            <a:ext cx="4191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182B3A"/>
                </a:solidFill>
                <a:latin typeface="Arial"/>
                <a:ea typeface="Arial"/>
                <a:cs typeface="Arial"/>
              </a:defRPr>
            </a:pPr>
            <a:r>
              <a:rPr sz="2250" b="1">
                <a:solidFill>
                  <a:srgbClr val="182B3A"/>
                </a:solidFill>
                <a:latin typeface="Arial"/>
                <a:ea typeface="Arial"/>
                <a:cs typeface="Arial"/>
              </a:rPr>
              <a:t>Выводы и выбор</a:t>
            </a:r>
          </a:p>
        </p:txBody>
      </p:sp>
      <p:sp>
        <p:nvSpPr>
          <p:cNvPr id="8" name="Результат обсуждения и его основания">
            <a:extLst xmlns:a="http://schemas.openxmlformats.org/drawingml/2006/main">
              <a:ext uri="{FF2B5EF4-FFF2-40B4-BE49-F238E27FC236}">
                <a16:creationId xmlns:a16="http://schemas.microsoft.com/office/drawing/2014/main" id="{4B991C3B-1A49-467E-9DAA-D960B60B8215}"/>
              </a:ext>
            </a:extLst>
          </p:cNvPr>
          <p:cNvSpPr>
            <a:spLocks xmlns:a="http://schemas.openxmlformats.org/drawingml/2006/main" noGrp="1"/>
          </p:cNvSpPr>
          <p:nvPr/>
        </p:nvSpPr>
        <p:spPr>
          <a:xfrm xmlns:a="http://schemas.openxmlformats.org/drawingml/2006/main">
            <a:off x="5476875" y="3667125"/>
            <a:ext cx="6048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82B3A"/>
                </a:solidFill>
                <a:latin typeface="Arial"/>
                <a:ea typeface="Arial"/>
                <a:cs typeface="Arial"/>
              </a:defRPr>
            </a:pPr>
            <a:r>
              <a:rPr sz="2100" b="0">
                <a:solidFill>
                  <a:srgbClr val="182B3A"/>
                </a:solidFill>
                <a:latin typeface="Arial"/>
                <a:ea typeface="Arial"/>
                <a:cs typeface="Arial"/>
              </a:rPr>
              <a:t>Результат обсуждения и его основания</a:t>
            </a:r>
          </a:p>
        </p:txBody>
      </p:sp>
      <p:sp>
        <p:nvSpPr>
          <p:cNvPr id="9" name="Развитие понимания">
            <a:extLst xmlns:a="http://schemas.openxmlformats.org/drawingml/2006/main">
              <a:ext uri="{FF2B5EF4-FFF2-40B4-BE49-F238E27FC236}">
                <a16:creationId xmlns:a16="http://schemas.microsoft.com/office/drawing/2014/main" id="{CC4ADB22-91BD-4406-9E5B-99B59E039778}"/>
              </a:ext>
            </a:extLst>
          </p:cNvPr>
          <p:cNvSpPr>
            <a:spLocks xmlns:a="http://schemas.openxmlformats.org/drawingml/2006/main" noGrp="1"/>
          </p:cNvSpPr>
          <p:nvPr/>
        </p:nvSpPr>
        <p:spPr>
          <a:xfrm xmlns:a="http://schemas.openxmlformats.org/drawingml/2006/main">
            <a:off x="685800" y="4552950"/>
            <a:ext cx="4191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182B3A"/>
                </a:solidFill>
                <a:latin typeface="Arial"/>
                <a:ea typeface="Arial"/>
                <a:cs typeface="Arial"/>
              </a:defRPr>
            </a:pPr>
            <a:r>
              <a:rPr sz="2250" b="1">
                <a:solidFill>
                  <a:srgbClr val="182B3A"/>
                </a:solidFill>
                <a:latin typeface="Arial"/>
                <a:ea typeface="Arial"/>
                <a:cs typeface="Arial"/>
              </a:rPr>
              <a:t>Развитие понимания</a:t>
            </a:r>
          </a:p>
        </p:txBody>
      </p:sp>
      <p:sp>
        <p:nvSpPr>
          <p:cNvPr id="10" name="Исходное понимание, уточнение, итог">
            <a:extLst xmlns:a="http://schemas.openxmlformats.org/drawingml/2006/main">
              <a:ext uri="{FF2B5EF4-FFF2-40B4-BE49-F238E27FC236}">
                <a16:creationId xmlns:a16="http://schemas.microsoft.com/office/drawing/2014/main" id="{C8561227-4DE1-48C4-B72E-536883CCDB48}"/>
              </a:ext>
            </a:extLst>
          </p:cNvPr>
          <p:cNvSpPr>
            <a:spLocks xmlns:a="http://schemas.openxmlformats.org/drawingml/2006/main" noGrp="1"/>
          </p:cNvSpPr>
          <p:nvPr/>
        </p:nvSpPr>
        <p:spPr>
          <a:xfrm xmlns:a="http://schemas.openxmlformats.org/drawingml/2006/main">
            <a:off x="5476875" y="4581525"/>
            <a:ext cx="6048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82B3A"/>
                </a:solidFill>
                <a:latin typeface="Arial"/>
                <a:ea typeface="Arial"/>
                <a:cs typeface="Arial"/>
              </a:defRPr>
            </a:pPr>
            <a:r>
              <a:rPr sz="2100" b="0">
                <a:solidFill>
                  <a:srgbClr val="182B3A"/>
                </a:solidFill>
                <a:latin typeface="Arial"/>
                <a:ea typeface="Arial"/>
                <a:cs typeface="Arial"/>
              </a:rPr>
              <a:t>Исходное понимание, уточнение, итог</a:t>
            </a:r>
          </a:p>
        </p:txBody>
      </p:sp>
      <p:sp>
        <p:nvSpPr>
          <p:cNvPr id="11" name="Отбираем то, что полезно сохранить надолго.&#10;Пропускаем повторы, привет">
            <a:extLst xmlns:a="http://schemas.openxmlformats.org/drawingml/2006/main">
              <a:ext uri="{FF2B5EF4-FFF2-40B4-BE49-F238E27FC236}">
                <a16:creationId xmlns:a16="http://schemas.microsoft.com/office/drawing/2014/main" id="{22ED3137-7D24-48E1-BB44-3F66A2816401}"/>
              </a:ext>
            </a:extLst>
          </p:cNvPr>
          <p:cNvSpPr>
            <a:spLocks xmlns:a="http://schemas.openxmlformats.org/drawingml/2006/main" noGrp="1"/>
          </p:cNvSpPr>
          <p:nvPr/>
        </p:nvSpPr>
        <p:spPr>
          <a:xfrm xmlns:a="http://schemas.openxmlformats.org/drawingml/2006/main">
            <a:off x="685800" y="57150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315FEA"/>
                </a:solidFill>
                <a:latin typeface="Arial"/>
                <a:ea typeface="Arial"/>
                <a:cs typeface="Arial"/>
              </a:defRPr>
            </a:pPr>
            <a:r>
              <a:rPr sz="1875" b="0">
                <a:solidFill>
                  <a:srgbClr val="315FEA"/>
                </a:solidFill>
                <a:latin typeface="Arial"/>
                <a:ea typeface="Arial"/>
                <a:cs typeface="Arial"/>
              </a:rPr>
              <a:t>Отбираем то, что полезно сохранить надолго.</a:t>
            </a:r>
          </a:p>
          <a:p xmlns:a="http://schemas.openxmlformats.org/drawingml/2006/main">
            <a:pPr>
              <a:buNone/>
              <a:defRPr sz="1875" b="0">
                <a:solidFill>
                  <a:srgbClr val="315FEA"/>
                </a:solidFill>
                <a:latin typeface="Arial"/>
                <a:ea typeface="Arial"/>
                <a:cs typeface="Arial"/>
              </a:defRPr>
            </a:pPr>
            <a:r>
              <a:rPr sz="1875" b="0">
                <a:solidFill>
                  <a:srgbClr val="315FEA"/>
                </a:solidFill>
                <a:latin typeface="Arial"/>
                <a:ea typeface="Arial"/>
                <a:cs typeface="Arial"/>
              </a:rPr>
              <a:t>Пропускаем повторы, приветствия и временные детали.</a:t>
            </a:r>
          </a:p>
        </p:txBody>
      </p:sp>
    </p:spTree>
    <p:extLst>
      <p:ext uri="{BB962C8B-B14F-4D97-AF65-F5344CB8AC3E}">
        <p14:creationId xmlns:p14="http://schemas.microsoft.com/office/powerpoint/2010/main" val="504737844"/>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Как новые знания дополняют базу">
            <a:extLst xmlns:a="http://schemas.openxmlformats.org/drawingml/2006/main">
              <a:ext uri="{FF2B5EF4-FFF2-40B4-BE49-F238E27FC236}">
                <a16:creationId xmlns:a16="http://schemas.microsoft.com/office/drawing/2014/main" id="{3A3F92A0-97A1-4C97-B72A-991B38E1376C}"/>
              </a:ext>
            </a:extLst>
          </p:cNvPr>
          <p:cNvSpPr>
            <a:spLocks xmlns:a="http://schemas.openxmlformats.org/drawingml/2006/main" noGrp="1"/>
          </p:cNvSpPr>
          <p:nvPr/>
        </p:nvSpPr>
        <p:spPr>
          <a:xfrm xmlns:a="http://schemas.openxmlformats.org/drawingml/2006/main">
            <a:off x="685800" y="476250"/>
            <a:ext cx="10820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225" b="1">
                <a:solidFill>
                  <a:srgbClr val="182B3A"/>
                </a:solidFill>
                <a:latin typeface="Arial"/>
                <a:ea typeface="Arial"/>
                <a:cs typeface="Arial"/>
              </a:defRPr>
            </a:pPr>
            <a:r>
              <a:rPr sz="3225" b="1">
                <a:solidFill>
                  <a:srgbClr val="182B3A"/>
                </a:solidFill>
                <a:latin typeface="Arial"/>
                <a:ea typeface="Arial"/>
                <a:cs typeface="Arial"/>
              </a:rPr>
              <a:t>Как новые знания дополняют базу</a:t>
            </a:r>
          </a:p>
        </p:txBody>
      </p:sp>
      <p:sp>
        <p:nvSpPr>
          <p:cNvPr id="2" name="05">
            <a:extLst xmlns:a="http://schemas.openxmlformats.org/drawingml/2006/main">
              <a:ext uri="{FF2B5EF4-FFF2-40B4-BE49-F238E27FC236}">
                <a16:creationId xmlns:a16="http://schemas.microsoft.com/office/drawing/2014/main" id="{32115F17-CFCE-4E4D-9436-5679CE657838}"/>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61707A"/>
                </a:solidFill>
                <a:latin typeface="Arial"/>
                <a:ea typeface="Arial"/>
                <a:cs typeface="Arial"/>
              </a:defRPr>
            </a:pPr>
            <a:r>
              <a:rPr sz="1350" b="0">
                <a:solidFill>
                  <a:srgbClr val="61707A"/>
                </a:solidFill>
                <a:latin typeface="Arial"/>
                <a:ea typeface="Arial"/>
                <a:cs typeface="Arial"/>
              </a:rPr>
              <a:t>05</a:t>
            </a:r>
          </a:p>
        </p:txBody>
      </p:sp>
      <p:graphicFrame>
        <p:nvGraphicFramePr>
          <p:cNvPr id="9" name=""/>
          <p:cNvGraphicFramePr/>
          <p:nvPr/>
        </p:nvGraphicFramePr>
        <p:xfrm>
          <a:off xmlns:a="http://schemas.openxmlformats.org/drawingml/2006/main" x="685800" y="1762125"/>
          <a:ext xmlns:a="http://schemas.openxmlformats.org/drawingml/2006/main" cx="10820400" cy="3743325"/>
        </p:xfrm>
        <a:graphic xmlns:a="http://schemas.openxmlformats.org/drawingml/2006/main">
          <a:graphicData uri="http://schemas.openxmlformats.org/drawingml/2006/table">
            <a:tbl>
              <a:tblPr/>
              <a:tblGrid>
                <a:gridCol w="5219700"/>
                <a:gridCol w="5600700"/>
              </a:tblGrid>
              <a:tr h="552450">
                <a:tc>
                  <a:txBody>
                    <a:bodyPr/>
                    <a:lstStyle/>
                    <a:p>
                      <a:r>
                        <a:rPr sz="1725" b="1">
                          <a:solidFill>
                            <a:srgbClr val="FFFFFF"/>
                          </a:solidFill>
                          <a:latin typeface="Arial"/>
                          <a:ea typeface="Arial"/>
                          <a:cs typeface="Arial"/>
                        </a:rPr>
                        <a:t>Что найдено</a:t>
                      </a:r>
                    </a:p>
                  </a:txBody>
                  <a:tcPr marL="180975" marR="161925" marT="123825" marB="114300" anchor="ctr">
                    <a:solidFill>
                      <a:srgbClr val="182B3A"/>
                    </a:solidFill>
                  </a:tcPr>
                </a:tc>
                <a:tc>
                  <a:txBody>
                    <a:bodyPr/>
                    <a:lstStyle/>
                    <a:p>
                      <a:r>
                        <a:rPr sz="1725" b="1">
                          <a:solidFill>
                            <a:srgbClr val="FFFFFF"/>
                          </a:solidFill>
                          <a:latin typeface="Arial"/>
                          <a:ea typeface="Arial"/>
                          <a:cs typeface="Arial"/>
                        </a:rPr>
                        <a:t>Предложение системы</a:t>
                      </a:r>
                    </a:p>
                  </a:txBody>
                  <a:tcPr marL="180975" marR="161925" marT="123825" marB="114300" anchor="ctr">
                    <a:solidFill>
                      <a:srgbClr val="182B3A"/>
                    </a:solidFill>
                  </a:tcPr>
                </a:tc>
              </a:tr>
              <a:tr h="638175">
                <a:tc>
                  <a:txBody>
                    <a:bodyPr/>
                    <a:lstStyle/>
                    <a:p>
                      <a:r>
                        <a:rPr sz="1875" b="0">
                          <a:solidFill>
                            <a:srgbClr val="182B3A"/>
                          </a:solidFill>
                          <a:latin typeface="Arial"/>
                          <a:ea typeface="Arial"/>
                          <a:cs typeface="Arial"/>
                        </a:rPr>
                        <a:t>Новое самостоятельное знание</a:t>
                      </a:r>
                    </a:p>
                  </a:txBody>
                  <a:tcPr marL="180975" marR="161925" marT="123825" marB="114300" anchor="ctr">
                    <a:solidFill>
                      <a:srgbClr val="F7F6F2"/>
                    </a:solidFill>
                  </a:tcPr>
                </a:tc>
                <a:tc>
                  <a:txBody>
                    <a:bodyPr/>
                    <a:lstStyle/>
                    <a:p>
                      <a:r>
                        <a:rPr sz="1875" b="0">
                          <a:solidFill>
                            <a:srgbClr val="315FEA"/>
                          </a:solidFill>
                          <a:latin typeface="Arial"/>
                          <a:ea typeface="Arial"/>
                          <a:cs typeface="Arial"/>
                        </a:rPr>
                        <a:t>Создать заметку</a:t>
                      </a:r>
                    </a:p>
                  </a:txBody>
                  <a:tcPr marL="180975" marR="161925" marT="123825" marB="114300" anchor="ctr">
                    <a:solidFill>
                      <a:srgbClr val="ECF1FC"/>
                    </a:solidFill>
                  </a:tcPr>
                </a:tc>
              </a:tr>
              <a:tr h="638175">
                <a:tc>
                  <a:txBody>
                    <a:bodyPr/>
                    <a:lstStyle/>
                    <a:p>
                      <a:r>
                        <a:rPr sz="1875" b="0">
                          <a:solidFill>
                            <a:srgbClr val="182B3A"/>
                          </a:solidFill>
                          <a:latin typeface="Arial"/>
                          <a:ea typeface="Arial"/>
                          <a:cs typeface="Arial"/>
                        </a:rPr>
                        <a:t>Дополнение к знакомой теме</a:t>
                      </a:r>
                    </a:p>
                  </a:txBody>
                  <a:tcPr marL="180975" marR="161925" marT="123825" marB="114300" anchor="ctr">
                    <a:solidFill>
                      <a:srgbClr val="F7F6F2"/>
                    </a:solidFill>
                  </a:tcPr>
                </a:tc>
                <a:tc>
                  <a:txBody>
                    <a:bodyPr/>
                    <a:lstStyle/>
                    <a:p>
                      <a:r>
                        <a:rPr sz="1875" b="0">
                          <a:solidFill>
                            <a:srgbClr val="315FEA"/>
                          </a:solidFill>
                          <a:latin typeface="Arial"/>
                          <a:ea typeface="Arial"/>
                          <a:cs typeface="Arial"/>
                        </a:rPr>
                        <a:t>Дополнить существующую заметку</a:t>
                      </a:r>
                    </a:p>
                  </a:txBody>
                  <a:tcPr marL="180975" marR="161925" marT="123825" marB="114300" anchor="ctr">
                    <a:solidFill>
                      <a:srgbClr val="ECF1FC"/>
                    </a:solidFill>
                  </a:tcPr>
                </a:tc>
              </a:tr>
              <a:tr h="638175">
                <a:tc>
                  <a:txBody>
                    <a:bodyPr/>
                    <a:lstStyle/>
                    <a:p>
                      <a:r>
                        <a:rPr sz="1875" b="0">
                          <a:solidFill>
                            <a:srgbClr val="182B3A"/>
                          </a:solidFill>
                          <a:latin typeface="Arial"/>
                          <a:ea typeface="Arial"/>
                          <a:cs typeface="Arial"/>
                        </a:rPr>
                        <a:t>Небольшая часть общей темы</a:t>
                      </a:r>
                    </a:p>
                  </a:txBody>
                  <a:tcPr marL="180975" marR="161925" marT="123825" marB="114300" anchor="ctr">
                    <a:solidFill>
                      <a:srgbClr val="F7F6F2"/>
                    </a:solidFill>
                  </a:tcPr>
                </a:tc>
                <a:tc>
                  <a:txBody>
                    <a:bodyPr/>
                    <a:lstStyle/>
                    <a:p>
                      <a:r>
                        <a:rPr sz="1875" b="0">
                          <a:solidFill>
                            <a:srgbClr val="315FEA"/>
                          </a:solidFill>
                          <a:latin typeface="Arial"/>
                          <a:ea typeface="Arial"/>
                          <a:cs typeface="Arial"/>
                        </a:rPr>
                        <a:t>Включить в раздел подходящей заметки</a:t>
                      </a:r>
                    </a:p>
                  </a:txBody>
                  <a:tcPr marL="180975" marR="161925" marT="123825" marB="114300" anchor="ctr">
                    <a:solidFill>
                      <a:srgbClr val="ECF1FC"/>
                    </a:solidFill>
                  </a:tcPr>
                </a:tc>
              </a:tr>
              <a:tr h="638175">
                <a:tc>
                  <a:txBody>
                    <a:bodyPr/>
                    <a:lstStyle/>
                    <a:p>
                      <a:r>
                        <a:rPr sz="1875" b="0">
                          <a:solidFill>
                            <a:srgbClr val="182B3A"/>
                          </a:solidFill>
                          <a:latin typeface="Arial"/>
                          <a:ea typeface="Arial"/>
                          <a:cs typeface="Arial"/>
                        </a:rPr>
                        <a:t>Повтор без новой информации</a:t>
                      </a:r>
                    </a:p>
                  </a:txBody>
                  <a:tcPr marL="180975" marR="161925" marT="123825" marB="114300" anchor="ctr">
                    <a:solidFill>
                      <a:srgbClr val="F7F6F2"/>
                    </a:solidFill>
                  </a:tcPr>
                </a:tc>
                <a:tc>
                  <a:txBody>
                    <a:bodyPr/>
                    <a:lstStyle/>
                    <a:p>
                      <a:r>
                        <a:rPr sz="1875" b="0">
                          <a:solidFill>
                            <a:srgbClr val="315FEA"/>
                          </a:solidFill>
                          <a:latin typeface="Arial"/>
                          <a:ea typeface="Arial"/>
                          <a:cs typeface="Arial"/>
                        </a:rPr>
                        <a:t>Пропустить</a:t>
                      </a:r>
                    </a:p>
                  </a:txBody>
                  <a:tcPr marL="180975" marR="161925" marT="123825" marB="114300" anchor="ctr">
                    <a:solidFill>
                      <a:srgbClr val="ECF1FC"/>
                    </a:solidFill>
                  </a:tcPr>
                </a:tc>
              </a:tr>
              <a:tr h="638175">
                <a:tc>
                  <a:txBody>
                    <a:bodyPr/>
                    <a:lstStyle/>
                    <a:p>
                      <a:r>
                        <a:rPr sz="1875" b="0">
                          <a:solidFill>
                            <a:srgbClr val="182B3A"/>
                          </a:solidFill>
                          <a:latin typeface="Arial"/>
                          <a:ea typeface="Arial"/>
                          <a:cs typeface="Arial"/>
                        </a:rPr>
                        <a:t>Противоречие прежней записи</a:t>
                      </a:r>
                    </a:p>
                  </a:txBody>
                  <a:tcPr marL="180975" marR="161925" marT="123825" marB="114300" anchor="ctr">
                    <a:solidFill>
                      <a:srgbClr val="F7F6F2"/>
                    </a:solidFill>
                  </a:tcPr>
                </a:tc>
                <a:tc>
                  <a:txBody>
                    <a:bodyPr/>
                    <a:lstStyle/>
                    <a:p>
                      <a:r>
                        <a:rPr sz="1875" b="0">
                          <a:solidFill>
                            <a:srgbClr val="315FEA"/>
                          </a:solidFill>
                          <a:latin typeface="Arial"/>
                          <a:ea typeface="Arial"/>
                          <a:cs typeface="Arial"/>
                        </a:rPr>
                        <a:t>Отметить конфликт для проверки</a:t>
                      </a:r>
                    </a:p>
                  </a:txBody>
                  <a:tcPr marL="180975" marR="161925" marT="123825" marB="114300" anchor="ctr">
                    <a:solidFill>
                      <a:srgbClr val="ECF1FC"/>
                    </a:solidFill>
                  </a:tcPr>
                </a:tc>
              </a:tr>
            </a:tbl>
          </a:graphicData>
        </a:graphic>
      </p:graphicFrame>
      <p:sp>
        <p:nvSpPr>
          <p:cNvPr id="4" name="Связи между заметками объединяют знания из разных диалогов">
            <a:extLst xmlns:a="http://schemas.openxmlformats.org/drawingml/2006/main">
              <a:ext uri="{FF2B5EF4-FFF2-40B4-BE49-F238E27FC236}">
                <a16:creationId xmlns:a16="http://schemas.microsoft.com/office/drawing/2014/main" id="{933A0C3A-C433-4295-9722-C16BD99226A2}"/>
              </a:ext>
            </a:extLst>
          </p:cNvPr>
          <p:cNvSpPr>
            <a:spLocks xmlns:a="http://schemas.openxmlformats.org/drawingml/2006/main" noGrp="1"/>
          </p:cNvSpPr>
          <p:nvPr/>
        </p:nvSpPr>
        <p:spPr>
          <a:xfrm xmlns:a="http://schemas.openxmlformats.org/drawingml/2006/main">
            <a:off x="685800" y="590550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315FEA"/>
                </a:solidFill>
                <a:latin typeface="Arial"/>
                <a:ea typeface="Arial"/>
                <a:cs typeface="Arial"/>
              </a:defRPr>
            </a:pPr>
            <a:r>
              <a:rPr sz="1950" b="0">
                <a:solidFill>
                  <a:srgbClr val="315FEA"/>
                </a:solidFill>
                <a:latin typeface="Arial"/>
                <a:ea typeface="Arial"/>
                <a:cs typeface="Arial"/>
              </a:rPr>
              <a:t>Связи между заметками объединяют знания из разных диалогов</a:t>
            </a:r>
          </a:p>
        </p:txBody>
      </p:sp>
    </p:spTree>
    <p:extLst>
      <p:ext uri="{BB962C8B-B14F-4D97-AF65-F5344CB8AC3E}">
        <p14:creationId xmlns:p14="http://schemas.microsoft.com/office/powerpoint/2010/main" val="1632368571"/>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1" name="Пример: резервное копирование для проекта">
            <a:extLst xmlns:a="http://schemas.openxmlformats.org/drawingml/2006/main">
              <a:ext uri="{FF2B5EF4-FFF2-40B4-BE49-F238E27FC236}">
                <a16:creationId xmlns:a16="http://schemas.microsoft.com/office/drawing/2014/main" id="{6C4873F8-05D7-460A-B3B2-7FCF26A40C7F}"/>
              </a:ext>
            </a:extLst>
          </p:cNvPr>
          <p:cNvSpPr>
            <a:spLocks xmlns:a="http://schemas.openxmlformats.org/drawingml/2006/main" noGrp="1"/>
          </p:cNvSpPr>
          <p:nvPr/>
        </p:nvSpPr>
        <p:spPr>
          <a:xfrm xmlns:a="http://schemas.openxmlformats.org/drawingml/2006/main">
            <a:off x="685800" y="476250"/>
            <a:ext cx="10820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225" b="1">
                <a:solidFill>
                  <a:srgbClr val="182B3A"/>
                </a:solidFill>
                <a:latin typeface="Arial"/>
                <a:ea typeface="Arial"/>
                <a:cs typeface="Arial"/>
              </a:defRPr>
            </a:pPr>
            <a:r>
              <a:rPr sz="3225" b="1">
                <a:solidFill>
                  <a:srgbClr val="182B3A"/>
                </a:solidFill>
                <a:latin typeface="Arial"/>
                <a:ea typeface="Arial"/>
                <a:cs typeface="Arial"/>
              </a:rPr>
              <a:t>Пример: резервное копирование для проекта</a:t>
            </a:r>
          </a:p>
        </p:txBody>
      </p:sp>
      <p:sp>
        <p:nvSpPr>
          <p:cNvPr id="2" name="06">
            <a:extLst xmlns:a="http://schemas.openxmlformats.org/drawingml/2006/main">
              <a:ext uri="{FF2B5EF4-FFF2-40B4-BE49-F238E27FC236}">
                <a16:creationId xmlns:a16="http://schemas.microsoft.com/office/drawing/2014/main" id="{57819C4F-54C9-4AE6-9997-28AEE51D3969}"/>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61707A"/>
                </a:solidFill>
                <a:latin typeface="Arial"/>
                <a:ea typeface="Arial"/>
                <a:cs typeface="Arial"/>
              </a:defRPr>
            </a:pPr>
            <a:r>
              <a:rPr sz="1350" b="0">
                <a:solidFill>
                  <a:srgbClr val="61707A"/>
                </a:solidFill>
                <a:latin typeface="Arial"/>
                <a:ea typeface="Arial"/>
                <a:cs typeface="Arial"/>
              </a:rPr>
              <a:t>06</a:t>
            </a:r>
          </a:p>
        </p:txBody>
      </p:sp>
      <p:sp>
        <p:nvSpPr>
          <p:cNvPr id="22" name="Условный пример">
            <a:extLst xmlns:a="http://schemas.openxmlformats.org/drawingml/2006/main">
              <a:ext uri="{FF2B5EF4-FFF2-40B4-BE49-F238E27FC236}">
                <a16:creationId xmlns:a16="http://schemas.microsoft.com/office/drawing/2014/main" id="{32EA4D66-27B1-4425-B6A1-2AC4180D9496}"/>
              </a:ext>
            </a:extLst>
          </p:cNvPr>
          <p:cNvSpPr>
            <a:spLocks xmlns:a="http://schemas.openxmlformats.org/drawingml/2006/main" noGrp="1"/>
          </p:cNvSpPr>
          <p:nvPr/>
        </p:nvSpPr>
        <p:spPr>
          <a:xfrm xmlns:a="http://schemas.openxmlformats.org/drawingml/2006/main">
            <a:off x="685800" y="1323975"/>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61707A"/>
                </a:solidFill>
                <a:latin typeface="Arial"/>
                <a:ea typeface="Arial"/>
                <a:cs typeface="Arial"/>
              </a:defRPr>
            </a:pPr>
            <a:r>
              <a:rPr sz="1575" b="0">
                <a:solidFill>
                  <a:srgbClr val="61707A"/>
                </a:solidFill>
                <a:latin typeface="Arial"/>
                <a:ea typeface="Arial"/>
                <a:cs typeface="Arial"/>
              </a:rPr>
              <a:t>Условный пример</a:t>
            </a:r>
          </a:p>
        </p:txBody>
      </p:sp>
      <p:sp>
        <p:nvSpPr>
          <p:cNvPr id="23" name="Исходный диалог">
            <a:extLst xmlns:a="http://schemas.openxmlformats.org/drawingml/2006/main">
              <a:ext uri="{FF2B5EF4-FFF2-40B4-BE49-F238E27FC236}">
                <a16:creationId xmlns:a16="http://schemas.microsoft.com/office/drawing/2014/main" id="{5A44E4EC-0F16-4DBF-AF97-5EA5796AF499}"/>
              </a:ext>
            </a:extLst>
          </p:cNvPr>
          <p:cNvSpPr>
            <a:spLocks xmlns:a="http://schemas.openxmlformats.org/drawingml/2006/main" noGrp="1"/>
          </p:cNvSpPr>
          <p:nvPr/>
        </p:nvSpPr>
        <p:spPr>
          <a:xfrm xmlns:a="http://schemas.openxmlformats.org/drawingml/2006/main">
            <a:off x="685800" y="1914525"/>
            <a:ext cx="2905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61707A"/>
                </a:solidFill>
                <a:latin typeface="Arial"/>
                <a:ea typeface="Arial"/>
                <a:cs typeface="Arial"/>
              </a:defRPr>
            </a:pPr>
            <a:r>
              <a:rPr sz="2025" b="1">
                <a:solidFill>
                  <a:srgbClr val="61707A"/>
                </a:solidFill>
                <a:latin typeface="Arial"/>
                <a:ea typeface="Arial"/>
                <a:cs typeface="Arial"/>
              </a:rPr>
              <a:t>Исходный диалог</a:t>
            </a:r>
          </a:p>
        </p:txBody>
      </p:sp>
      <p:sp>
        <p:nvSpPr>
          <p:cNvPr id="24" name="До импорта в приложение">
            <a:extLst xmlns:a="http://schemas.openxmlformats.org/drawingml/2006/main">
              <a:ext uri="{FF2B5EF4-FFF2-40B4-BE49-F238E27FC236}">
                <a16:creationId xmlns:a16="http://schemas.microsoft.com/office/drawing/2014/main" id="{6B6838FB-8270-436E-A220-716485428A33}"/>
              </a:ext>
            </a:extLst>
          </p:cNvPr>
          <p:cNvSpPr>
            <a:spLocks xmlns:a="http://schemas.openxmlformats.org/drawingml/2006/main" noGrp="1"/>
          </p:cNvSpPr>
          <p:nvPr/>
        </p:nvSpPr>
        <p:spPr>
          <a:xfrm xmlns:a="http://schemas.openxmlformats.org/drawingml/2006/main">
            <a:off x="685800" y="2352675"/>
            <a:ext cx="2990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1707A"/>
                </a:solidFill>
                <a:latin typeface="Arial"/>
                <a:ea typeface="Arial"/>
                <a:cs typeface="Arial"/>
              </a:defRPr>
            </a:pPr>
            <a:r>
              <a:rPr sz="1650" b="0">
                <a:solidFill>
                  <a:srgbClr val="61707A"/>
                </a:solidFill>
                <a:latin typeface="Arial"/>
                <a:ea typeface="Arial"/>
                <a:cs typeface="Arial"/>
              </a:rPr>
              <a:t>До импорта в приложение</a:t>
            </a:r>
          </a:p>
        </p:txBody>
      </p:sp>
      <p:sp>
        <p:nvSpPr>
          <p:cNvPr id="25" name="«Как делать&#10;резервные копии?»">
            <a:extLst xmlns:a="http://schemas.openxmlformats.org/drawingml/2006/main">
              <a:ext uri="{FF2B5EF4-FFF2-40B4-BE49-F238E27FC236}">
                <a16:creationId xmlns:a16="http://schemas.microsoft.com/office/drawing/2014/main" id="{262C80E8-49CC-48C9-B4F8-A4FD6D97364F}"/>
              </a:ext>
            </a:extLst>
          </p:cNvPr>
          <p:cNvSpPr>
            <a:spLocks xmlns:a="http://schemas.openxmlformats.org/drawingml/2006/main" noGrp="1"/>
          </p:cNvSpPr>
          <p:nvPr/>
        </p:nvSpPr>
        <p:spPr>
          <a:xfrm xmlns:a="http://schemas.openxmlformats.org/drawingml/2006/main">
            <a:off x="685800" y="2962275"/>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2B3A"/>
                </a:solidFill>
                <a:latin typeface="Arial"/>
                <a:ea typeface="Arial"/>
                <a:cs typeface="Arial"/>
              </a:defRPr>
            </a:pPr>
            <a:r>
              <a:rPr sz="2100" b="0">
                <a:solidFill>
                  <a:srgbClr val="182B3A"/>
                </a:solidFill>
                <a:latin typeface="Arial"/>
                <a:ea typeface="Arial"/>
                <a:cs typeface="Arial"/>
              </a:rPr>
              <a:t>«Как делать</a:t>
            </a:r>
          </a:p>
          <a:p xmlns:a="http://schemas.openxmlformats.org/drawingml/2006/main">
            <a:pPr>
              <a:defRPr sz="2100" b="0">
                <a:solidFill>
                  <a:srgbClr val="182B3A"/>
                </a:solidFill>
                <a:latin typeface="Arial"/>
                <a:ea typeface="Arial"/>
                <a:cs typeface="Arial"/>
              </a:defRPr>
            </a:pPr>
            <a:r>
              <a:rPr sz="2100" b="0">
                <a:solidFill>
                  <a:srgbClr val="182B3A"/>
                </a:solidFill>
                <a:latin typeface="Arial"/>
                <a:ea typeface="Arial"/>
                <a:cs typeface="Arial"/>
              </a:rPr>
              <a:t>резервные копии?»</a:t>
            </a:r>
          </a:p>
        </p:txBody>
      </p:sp>
      <p:sp>
        <p:nvSpPr>
          <p:cNvPr id="26" name="«Как проверить&#10;восстановление?»">
            <a:extLst xmlns:a="http://schemas.openxmlformats.org/drawingml/2006/main">
              <a:ext uri="{FF2B5EF4-FFF2-40B4-BE49-F238E27FC236}">
                <a16:creationId xmlns:a16="http://schemas.microsoft.com/office/drawing/2014/main" id="{11A135AB-6711-4258-877F-45D72FBBC6F9}"/>
              </a:ext>
            </a:extLst>
          </p:cNvPr>
          <p:cNvSpPr>
            <a:spLocks xmlns:a="http://schemas.openxmlformats.org/drawingml/2006/main" noGrp="1"/>
          </p:cNvSpPr>
          <p:nvPr/>
        </p:nvSpPr>
        <p:spPr>
          <a:xfrm xmlns:a="http://schemas.openxmlformats.org/drawingml/2006/main">
            <a:off x="685800" y="4029075"/>
            <a:ext cx="300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2B3A"/>
                </a:solidFill>
                <a:latin typeface="Arial"/>
                <a:ea typeface="Arial"/>
                <a:cs typeface="Arial"/>
              </a:defRPr>
            </a:pPr>
            <a:r>
              <a:rPr sz="2100" b="0">
                <a:solidFill>
                  <a:srgbClr val="182B3A"/>
                </a:solidFill>
                <a:latin typeface="Arial"/>
                <a:ea typeface="Arial"/>
                <a:cs typeface="Arial"/>
              </a:rPr>
              <a:t>«Как проверить</a:t>
            </a:r>
          </a:p>
          <a:p xmlns:a="http://schemas.openxmlformats.org/drawingml/2006/main">
            <a:pPr>
              <a:defRPr sz="2100" b="0">
                <a:solidFill>
                  <a:srgbClr val="182B3A"/>
                </a:solidFill>
                <a:latin typeface="Arial"/>
                <a:ea typeface="Arial"/>
                <a:cs typeface="Arial"/>
              </a:defRPr>
            </a:pPr>
            <a:r>
              <a:rPr sz="2100" b="0">
                <a:solidFill>
                  <a:srgbClr val="182B3A"/>
                </a:solidFill>
                <a:latin typeface="Arial"/>
                <a:ea typeface="Arial"/>
                <a:cs typeface="Arial"/>
              </a:rPr>
              <a:t>восстановление?»</a:t>
            </a:r>
          </a:p>
        </p:txBody>
      </p:sp>
      <p:sp>
        <p:nvSpPr>
          <p:cNvPr id="27" name="Ответы ИИ и уточнения&#10;пользователя">
            <a:extLst xmlns:a="http://schemas.openxmlformats.org/drawingml/2006/main">
              <a:ext uri="{FF2B5EF4-FFF2-40B4-BE49-F238E27FC236}">
                <a16:creationId xmlns:a16="http://schemas.microsoft.com/office/drawing/2014/main" id="{1CFAFD20-6F9E-4FCE-BF32-CAE557C418E0}"/>
              </a:ext>
            </a:extLst>
          </p:cNvPr>
          <p:cNvSpPr>
            <a:spLocks xmlns:a="http://schemas.openxmlformats.org/drawingml/2006/main" noGrp="1"/>
          </p:cNvSpPr>
          <p:nvPr/>
        </p:nvSpPr>
        <p:spPr>
          <a:xfrm xmlns:a="http://schemas.openxmlformats.org/drawingml/2006/main">
            <a:off x="685800" y="5010150"/>
            <a:ext cx="300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61707A"/>
                </a:solidFill>
                <a:latin typeface="Arial"/>
                <a:ea typeface="Arial"/>
                <a:cs typeface="Arial"/>
              </a:defRPr>
            </a:pPr>
            <a:r>
              <a:rPr sz="1800" b="0">
                <a:solidFill>
                  <a:srgbClr val="61707A"/>
                </a:solidFill>
                <a:latin typeface="Arial"/>
                <a:ea typeface="Arial"/>
                <a:cs typeface="Arial"/>
              </a:rPr>
              <a:t>Ответы ИИ и уточнения</a:t>
            </a:r>
          </a:p>
          <a:p xmlns:a="http://schemas.openxmlformats.org/drawingml/2006/main">
            <a:pPr>
              <a:defRPr sz="1800" b="0">
                <a:solidFill>
                  <a:srgbClr val="61707A"/>
                </a:solidFill>
                <a:latin typeface="Arial"/>
                <a:ea typeface="Arial"/>
                <a:cs typeface="Arial"/>
              </a:defRPr>
            </a:pPr>
            <a:r>
              <a:rPr sz="1800" b="0">
                <a:solidFill>
                  <a:srgbClr val="61707A"/>
                </a:solidFill>
                <a:latin typeface="Arial"/>
                <a:ea typeface="Arial"/>
                <a:cs typeface="Arial"/>
              </a:rPr>
              <a:t>пользователя</a:t>
            </a:r>
          </a:p>
        </p:txBody>
      </p:sp>
      <p:sp>
        <p:nvSpPr>
          <p:cNvPr id="28" name="Система обрабатывает">
            <a:extLst xmlns:a="http://schemas.openxmlformats.org/drawingml/2006/main">
              <a:ext uri="{FF2B5EF4-FFF2-40B4-BE49-F238E27FC236}">
                <a16:creationId xmlns:a16="http://schemas.microsoft.com/office/drawing/2014/main" id="{5197EAC5-1A24-4296-9A57-2F5BFEC751A0}"/>
              </a:ext>
            </a:extLst>
          </p:cNvPr>
          <p:cNvSpPr>
            <a:spLocks xmlns:a="http://schemas.openxmlformats.org/drawingml/2006/main" noGrp="1"/>
          </p:cNvSpPr>
          <p:nvPr/>
        </p:nvSpPr>
        <p:spPr>
          <a:xfrm xmlns:a="http://schemas.openxmlformats.org/drawingml/2006/main">
            <a:off x="4114800" y="1914525"/>
            <a:ext cx="3943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315FEA"/>
                </a:solidFill>
                <a:latin typeface="Arial"/>
                <a:ea typeface="Arial"/>
                <a:cs typeface="Arial"/>
              </a:defRPr>
            </a:pPr>
            <a:r>
              <a:rPr sz="2025" b="1">
                <a:solidFill>
                  <a:srgbClr val="315FEA"/>
                </a:solidFill>
                <a:latin typeface="Arial"/>
                <a:ea typeface="Arial"/>
                <a:cs typeface="Arial"/>
              </a:rPr>
              <a:t>Система обрабатывает</a:t>
            </a:r>
          </a:p>
        </p:txBody>
      </p:sp>
      <p:sp>
        <p:nvSpPr>
          <p:cNvPr id="29" name="Извлекает знание:&#10;проверка восстановления">
            <a:extLst xmlns:a="http://schemas.openxmlformats.org/drawingml/2006/main">
              <a:ext uri="{FF2B5EF4-FFF2-40B4-BE49-F238E27FC236}">
                <a16:creationId xmlns:a16="http://schemas.microsoft.com/office/drawing/2014/main" id="{661F5CC5-140B-4D67-A08A-FB3E5E4B7F9E}"/>
              </a:ext>
            </a:extLst>
          </p:cNvPr>
          <p:cNvSpPr>
            <a:spLocks xmlns:a="http://schemas.openxmlformats.org/drawingml/2006/main" noGrp="1"/>
          </p:cNvSpPr>
          <p:nvPr/>
        </p:nvSpPr>
        <p:spPr>
          <a:xfrm xmlns:a="http://schemas.openxmlformats.org/drawingml/2006/main">
            <a:off x="4114800" y="2695575"/>
            <a:ext cx="3886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82B3A"/>
                </a:solidFill>
                <a:latin typeface="Arial"/>
                <a:ea typeface="Arial"/>
                <a:cs typeface="Arial"/>
              </a:defRPr>
            </a:pPr>
            <a:r>
              <a:rPr sz="1950" b="0">
                <a:solidFill>
                  <a:srgbClr val="182B3A"/>
                </a:solidFill>
                <a:latin typeface="Arial"/>
                <a:ea typeface="Arial"/>
                <a:cs typeface="Arial"/>
              </a:rPr>
              <a:t>Извлекает знание:</a:t>
            </a:r>
          </a:p>
          <a:p xmlns:a="http://schemas.openxmlformats.org/drawingml/2006/main">
            <a:pPr>
              <a:defRPr sz="1950" b="0">
                <a:solidFill>
                  <a:srgbClr val="182B3A"/>
                </a:solidFill>
                <a:latin typeface="Arial"/>
                <a:ea typeface="Arial"/>
                <a:cs typeface="Arial"/>
              </a:defRPr>
            </a:pPr>
            <a:r>
              <a:rPr sz="1950" b="0">
                <a:solidFill>
                  <a:srgbClr val="182B3A"/>
                </a:solidFill>
                <a:latin typeface="Arial"/>
                <a:ea typeface="Arial"/>
                <a:cs typeface="Arial"/>
              </a:rPr>
              <a:t>проверка восстановления</a:t>
            </a:r>
          </a:p>
        </p:txBody>
      </p:sp>
      <p:sp>
        <p:nvSpPr>
          <p:cNvPr id="30" name="Находит заметку&#10;«Резервное копирование»">
            <a:extLst xmlns:a="http://schemas.openxmlformats.org/drawingml/2006/main">
              <a:ext uri="{FF2B5EF4-FFF2-40B4-BE49-F238E27FC236}">
                <a16:creationId xmlns:a16="http://schemas.microsoft.com/office/drawing/2014/main" id="{7DF47E7B-FE20-4FAB-B6CE-2DD426124787}"/>
              </a:ext>
            </a:extLst>
          </p:cNvPr>
          <p:cNvSpPr>
            <a:spLocks xmlns:a="http://schemas.openxmlformats.org/drawingml/2006/main" noGrp="1"/>
          </p:cNvSpPr>
          <p:nvPr/>
        </p:nvSpPr>
        <p:spPr>
          <a:xfrm xmlns:a="http://schemas.openxmlformats.org/drawingml/2006/main">
            <a:off x="4114800" y="3686175"/>
            <a:ext cx="3886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82B3A"/>
                </a:solidFill>
                <a:latin typeface="Arial"/>
                <a:ea typeface="Arial"/>
                <a:cs typeface="Arial"/>
              </a:defRPr>
            </a:pPr>
            <a:r>
              <a:rPr sz="1950" b="0">
                <a:solidFill>
                  <a:srgbClr val="182B3A"/>
                </a:solidFill>
                <a:latin typeface="Arial"/>
                <a:ea typeface="Arial"/>
                <a:cs typeface="Arial"/>
              </a:rPr>
              <a:t>Находит заметку</a:t>
            </a:r>
          </a:p>
          <a:p xmlns:a="http://schemas.openxmlformats.org/drawingml/2006/main">
            <a:pPr>
              <a:defRPr sz="1950" b="0">
                <a:solidFill>
                  <a:srgbClr val="182B3A"/>
                </a:solidFill>
                <a:latin typeface="Arial"/>
                <a:ea typeface="Arial"/>
                <a:cs typeface="Arial"/>
              </a:defRPr>
            </a:pPr>
            <a:r>
              <a:rPr sz="1950" b="0">
                <a:solidFill>
                  <a:srgbClr val="182B3A"/>
                </a:solidFill>
                <a:latin typeface="Arial"/>
                <a:ea typeface="Arial"/>
                <a:cs typeface="Arial"/>
              </a:rPr>
              <a:t>«Резервное копирование»</a:t>
            </a:r>
          </a:p>
        </p:txBody>
      </p:sp>
      <p:sp>
        <p:nvSpPr>
          <p:cNvPr id="31" name="Готовит дополнение&#10;и связи с другими заметками">
            <a:extLst xmlns:a="http://schemas.openxmlformats.org/drawingml/2006/main">
              <a:ext uri="{FF2B5EF4-FFF2-40B4-BE49-F238E27FC236}">
                <a16:creationId xmlns:a16="http://schemas.microsoft.com/office/drawing/2014/main" id="{85CE6D40-251B-470F-A474-4EA188FE4BFD}"/>
              </a:ext>
            </a:extLst>
          </p:cNvPr>
          <p:cNvSpPr>
            <a:spLocks xmlns:a="http://schemas.openxmlformats.org/drawingml/2006/main" noGrp="1"/>
          </p:cNvSpPr>
          <p:nvPr/>
        </p:nvSpPr>
        <p:spPr>
          <a:xfrm xmlns:a="http://schemas.openxmlformats.org/drawingml/2006/main">
            <a:off x="4114800" y="4705350"/>
            <a:ext cx="3886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82B3A"/>
                </a:solidFill>
                <a:latin typeface="Arial"/>
                <a:ea typeface="Arial"/>
                <a:cs typeface="Arial"/>
              </a:defRPr>
            </a:pPr>
            <a:r>
              <a:rPr sz="1950" b="0">
                <a:solidFill>
                  <a:srgbClr val="182B3A"/>
                </a:solidFill>
                <a:latin typeface="Arial"/>
                <a:ea typeface="Arial"/>
                <a:cs typeface="Arial"/>
              </a:rPr>
              <a:t>Готовит дополнение</a:t>
            </a:r>
          </a:p>
          <a:p xmlns:a="http://schemas.openxmlformats.org/drawingml/2006/main">
            <a:pPr>
              <a:defRPr sz="1950" b="0">
                <a:solidFill>
                  <a:srgbClr val="182B3A"/>
                </a:solidFill>
                <a:latin typeface="Arial"/>
                <a:ea typeface="Arial"/>
                <a:cs typeface="Arial"/>
              </a:defRPr>
            </a:pPr>
            <a:r>
              <a:rPr sz="1950" b="0">
                <a:solidFill>
                  <a:srgbClr val="182B3A"/>
                </a:solidFill>
                <a:latin typeface="Arial"/>
                <a:ea typeface="Arial"/>
                <a:cs typeface="Arial"/>
              </a:rPr>
              <a:t>и связи с другими заметками</a:t>
            </a:r>
          </a:p>
        </p:txBody>
      </p:sp>
      <p:sp>
        <p:nvSpPr>
          <p:cNvPr id="32" name="Результат в базе">
            <a:extLst xmlns:a="http://schemas.openxmlformats.org/drawingml/2006/main">
              <a:ext uri="{FF2B5EF4-FFF2-40B4-BE49-F238E27FC236}">
                <a16:creationId xmlns:a16="http://schemas.microsoft.com/office/drawing/2014/main" id="{CE811B07-6AA8-4824-B8A3-64353043F7C9}"/>
              </a:ext>
            </a:extLst>
          </p:cNvPr>
          <p:cNvSpPr>
            <a:spLocks xmlns:a="http://schemas.openxmlformats.org/drawingml/2006/main" noGrp="1"/>
          </p:cNvSpPr>
          <p:nvPr/>
        </p:nvSpPr>
        <p:spPr>
          <a:xfrm xmlns:a="http://schemas.openxmlformats.org/drawingml/2006/main">
            <a:off x="8572500" y="1914525"/>
            <a:ext cx="2943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315FEA"/>
                </a:solidFill>
                <a:latin typeface="Arial"/>
                <a:ea typeface="Arial"/>
                <a:cs typeface="Arial"/>
              </a:defRPr>
            </a:pPr>
            <a:r>
              <a:rPr sz="2025" b="1">
                <a:solidFill>
                  <a:srgbClr val="315FEA"/>
                </a:solidFill>
                <a:latin typeface="Arial"/>
                <a:ea typeface="Arial"/>
                <a:cs typeface="Arial"/>
              </a:rPr>
              <a:t>Результат в базе</a:t>
            </a:r>
          </a:p>
        </p:txBody>
      </p:sp>
      <p:sp>
        <p:nvSpPr>
          <p:cNvPr id="33" name="Дополненная&#10;заметка со связями">
            <a:extLst xmlns:a="http://schemas.openxmlformats.org/drawingml/2006/main">
              <a:ext uri="{FF2B5EF4-FFF2-40B4-BE49-F238E27FC236}">
                <a16:creationId xmlns:a16="http://schemas.microsoft.com/office/drawing/2014/main" id="{DFFFC9DB-A5F6-48D9-BAF5-C3974D5D667D}"/>
              </a:ext>
            </a:extLst>
          </p:cNvPr>
          <p:cNvSpPr>
            <a:spLocks xmlns:a="http://schemas.openxmlformats.org/drawingml/2006/main" noGrp="1"/>
          </p:cNvSpPr>
          <p:nvPr/>
        </p:nvSpPr>
        <p:spPr>
          <a:xfrm xmlns:a="http://schemas.openxmlformats.org/drawingml/2006/main">
            <a:off x="8572500" y="2695575"/>
            <a:ext cx="2943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82B3A"/>
                </a:solidFill>
                <a:latin typeface="Arial"/>
                <a:ea typeface="Arial"/>
                <a:cs typeface="Arial"/>
              </a:defRPr>
            </a:pPr>
            <a:r>
              <a:rPr sz="2400" b="1">
                <a:solidFill>
                  <a:srgbClr val="182B3A"/>
                </a:solidFill>
                <a:latin typeface="Arial"/>
                <a:ea typeface="Arial"/>
                <a:cs typeface="Arial"/>
              </a:rPr>
              <a:t>Дополненная</a:t>
            </a:r>
          </a:p>
          <a:p xmlns:a="http://schemas.openxmlformats.org/drawingml/2006/main">
            <a:pPr>
              <a:defRPr sz="2400" b="1">
                <a:solidFill>
                  <a:srgbClr val="182B3A"/>
                </a:solidFill>
                <a:latin typeface="Arial"/>
                <a:ea typeface="Arial"/>
                <a:cs typeface="Arial"/>
              </a:defRPr>
            </a:pPr>
            <a:r>
              <a:rPr sz="2400" b="1">
                <a:solidFill>
                  <a:srgbClr val="182B3A"/>
                </a:solidFill>
                <a:latin typeface="Arial"/>
                <a:ea typeface="Arial"/>
                <a:cs typeface="Arial"/>
              </a:rPr>
              <a:t>заметка со связями</a:t>
            </a:r>
          </a:p>
        </p:txBody>
      </p:sp>
      <p:sp>
        <p:nvSpPr>
          <p:cNvPr id="34" name="Система генерирует текст,&#10;записывает изменения&#10;и проверяет результат.">
            <a:extLst xmlns:a="http://schemas.openxmlformats.org/drawingml/2006/main">
              <a:ext uri="{FF2B5EF4-FFF2-40B4-BE49-F238E27FC236}">
                <a16:creationId xmlns:a16="http://schemas.microsoft.com/office/drawing/2014/main" id="{1D6E95DF-5CCE-42BF-AE74-10A905E68635}"/>
              </a:ext>
            </a:extLst>
          </p:cNvPr>
          <p:cNvSpPr>
            <a:spLocks xmlns:a="http://schemas.openxmlformats.org/drawingml/2006/main" noGrp="1"/>
          </p:cNvSpPr>
          <p:nvPr/>
        </p:nvSpPr>
        <p:spPr>
          <a:xfrm xmlns:a="http://schemas.openxmlformats.org/drawingml/2006/main">
            <a:off x="8572500" y="3990975"/>
            <a:ext cx="29432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82B3A"/>
                </a:solidFill>
                <a:latin typeface="Arial"/>
                <a:ea typeface="Arial"/>
                <a:cs typeface="Arial"/>
              </a:defRPr>
            </a:pPr>
            <a:r>
              <a:rPr sz="1875" b="0">
                <a:solidFill>
                  <a:srgbClr val="182B3A"/>
                </a:solidFill>
                <a:latin typeface="Arial"/>
                <a:ea typeface="Arial"/>
                <a:cs typeface="Arial"/>
              </a:rPr>
              <a:t>Система генерирует текст,</a:t>
            </a:r>
          </a:p>
          <a:p xmlns:a="http://schemas.openxmlformats.org/drawingml/2006/main">
            <a:pPr>
              <a:defRPr sz="1875" b="0">
                <a:solidFill>
                  <a:srgbClr val="182B3A"/>
                </a:solidFill>
                <a:latin typeface="Arial"/>
                <a:ea typeface="Arial"/>
                <a:cs typeface="Arial"/>
              </a:defRPr>
            </a:pPr>
            <a:r>
              <a:rPr sz="1875" b="0">
                <a:solidFill>
                  <a:srgbClr val="182B3A"/>
                </a:solidFill>
                <a:latin typeface="Arial"/>
                <a:ea typeface="Arial"/>
                <a:cs typeface="Arial"/>
              </a:rPr>
              <a:t>записывает изменения</a:t>
            </a:r>
          </a:p>
          <a:p xmlns:a="http://schemas.openxmlformats.org/drawingml/2006/main">
            <a:pPr>
              <a:defRPr sz="1875" b="0">
                <a:solidFill>
                  <a:srgbClr val="182B3A"/>
                </a:solidFill>
                <a:latin typeface="Arial"/>
                <a:ea typeface="Arial"/>
                <a:cs typeface="Arial"/>
              </a:defRPr>
            </a:pPr>
            <a:r>
              <a:rPr sz="1875" b="0">
                <a:solidFill>
                  <a:srgbClr val="182B3A"/>
                </a:solidFill>
                <a:latin typeface="Arial"/>
                <a:ea typeface="Arial"/>
                <a:cs typeface="Arial"/>
              </a:rPr>
              <a:t>и проверяет результат.</a:t>
            </a:r>
          </a:p>
        </p:txBody>
      </p:sp>
      <p:sp>
        <p:nvSpPr>
          <p:cNvPr id="35" name="Пользователь импортирует диалог и при необходимости одобряет план.">
            <a:extLst xmlns:a="http://schemas.openxmlformats.org/drawingml/2006/main">
              <a:ext uri="{FF2B5EF4-FFF2-40B4-BE49-F238E27FC236}">
                <a16:creationId xmlns:a16="http://schemas.microsoft.com/office/drawing/2014/main" id="{D07F03BD-C4BF-4BE2-9CAA-B56F21CF7303}"/>
              </a:ext>
            </a:extLst>
          </p:cNvPr>
          <p:cNvSpPr>
            <a:spLocks xmlns:a="http://schemas.openxmlformats.org/drawingml/2006/main" noGrp="1"/>
          </p:cNvSpPr>
          <p:nvPr/>
        </p:nvSpPr>
        <p:spPr>
          <a:xfrm xmlns:a="http://schemas.openxmlformats.org/drawingml/2006/main">
            <a:off x="685800" y="587692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315FEA"/>
                </a:solidFill>
                <a:latin typeface="Arial"/>
                <a:ea typeface="Arial"/>
                <a:cs typeface="Arial"/>
              </a:defRPr>
            </a:pPr>
            <a:r>
              <a:rPr sz="1800" b="0">
                <a:solidFill>
                  <a:srgbClr val="315FEA"/>
                </a:solidFill>
                <a:latin typeface="Arial"/>
                <a:ea typeface="Arial"/>
                <a:cs typeface="Arial"/>
              </a:rPr>
              <a:t>Пользователь импортирует диалог и при необходимости одобряет план.</a:t>
            </a:r>
          </a:p>
        </p:txBody>
      </p:sp>
      <p:sp>
        <p:nvSpPr>
          <p:cNvPr id="36" name="Низкорисковые новые заметки могут сохраняться автоматически по настрой">
            <a:extLst xmlns:a="http://schemas.openxmlformats.org/drawingml/2006/main">
              <a:ext uri="{FF2B5EF4-FFF2-40B4-BE49-F238E27FC236}">
                <a16:creationId xmlns:a16="http://schemas.microsoft.com/office/drawing/2014/main" id="{2B1CA5EF-CDDA-4907-A9BE-BFB9146FA7BD}"/>
              </a:ext>
            </a:extLst>
          </p:cNvPr>
          <p:cNvSpPr>
            <a:spLocks xmlns:a="http://schemas.openxmlformats.org/drawingml/2006/main" noGrp="1"/>
          </p:cNvSpPr>
          <p:nvPr/>
        </p:nvSpPr>
        <p:spPr>
          <a:xfrm xmlns:a="http://schemas.openxmlformats.org/drawingml/2006/main">
            <a:off x="685800" y="625792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61707A"/>
                </a:solidFill>
                <a:latin typeface="Arial"/>
                <a:ea typeface="Arial"/>
                <a:cs typeface="Arial"/>
              </a:defRPr>
            </a:pPr>
            <a:r>
              <a:rPr sz="1575" b="0">
                <a:solidFill>
                  <a:srgbClr val="61707A"/>
                </a:solidFill>
                <a:latin typeface="Arial"/>
                <a:ea typeface="Arial"/>
                <a:cs typeface="Arial"/>
              </a:rPr>
              <a:t>Низкорисковые новые заметки могут сохраняться автоматически по настройке.</a:t>
            </a:r>
          </a:p>
        </p:txBody>
      </p:sp>
    </p:spTree>
    <p:extLst>
      <p:ext uri="{BB962C8B-B14F-4D97-AF65-F5344CB8AC3E}">
        <p14:creationId xmlns:p14="http://schemas.microsoft.com/office/powerpoint/2010/main" val="1769371435"/>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Интерфейс: знания и план изменений">
            <a:extLst xmlns:a="http://schemas.openxmlformats.org/drawingml/2006/main">
              <a:ext uri="{FF2B5EF4-FFF2-40B4-BE49-F238E27FC236}">
                <a16:creationId xmlns:a16="http://schemas.microsoft.com/office/drawing/2014/main" id="{27C4F551-DCE3-482A-80FE-B2A797B4D7DD}"/>
              </a:ext>
            </a:extLst>
          </p:cNvPr>
          <p:cNvSpPr>
            <a:spLocks xmlns:a="http://schemas.openxmlformats.org/drawingml/2006/main" noGrp="1"/>
          </p:cNvSpPr>
          <p:nvPr/>
        </p:nvSpPr>
        <p:spPr>
          <a:xfrm xmlns:a="http://schemas.openxmlformats.org/drawingml/2006/main">
            <a:off x="685800" y="476250"/>
            <a:ext cx="10820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225" b="1">
                <a:solidFill>
                  <a:srgbClr val="182B3A"/>
                </a:solidFill>
                <a:latin typeface="Arial"/>
                <a:ea typeface="Arial"/>
                <a:cs typeface="Arial"/>
              </a:defRPr>
            </a:pPr>
            <a:r>
              <a:rPr sz="3225" b="1">
                <a:solidFill>
                  <a:srgbClr val="182B3A"/>
                </a:solidFill>
                <a:latin typeface="Arial"/>
                <a:ea typeface="Arial"/>
                <a:cs typeface="Arial"/>
              </a:rPr>
              <a:t>Интерфейс: знания и план изменений</a:t>
            </a:r>
          </a:p>
        </p:txBody>
      </p:sp>
      <p:sp>
        <p:nvSpPr>
          <p:cNvPr id="2" name="07">
            <a:extLst xmlns:a="http://schemas.openxmlformats.org/drawingml/2006/main">
              <a:ext uri="{FF2B5EF4-FFF2-40B4-BE49-F238E27FC236}">
                <a16:creationId xmlns:a16="http://schemas.microsoft.com/office/drawing/2014/main" id="{8DE9B6BA-4DD5-4FBF-BAC1-D7306EA60A7D}"/>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61707A"/>
                </a:solidFill>
                <a:latin typeface="Arial"/>
                <a:ea typeface="Arial"/>
                <a:cs typeface="Arial"/>
              </a:defRPr>
            </a:pPr>
            <a:r>
              <a:rPr sz="1350" b="0">
                <a:solidFill>
                  <a:srgbClr val="61707A"/>
                </a:solidFill>
                <a:latin typeface="Arial"/>
                <a:ea typeface="Arial"/>
                <a:cs typeface="Arial"/>
              </a:rPr>
              <a:t>07</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c5e4d6f2d7d42c1"/>
          <a:stretch xmlns:a="http://schemas.openxmlformats.org/drawingml/2006/main"/>
        </p:blipFill>
        <p:spPr>
          <a:xfrm xmlns:a="http://schemas.openxmlformats.org/drawingml/2006/main">
            <a:off x="685800" y="1468438"/>
            <a:ext cx="7639050" cy="5092700"/>
          </a:xfrm>
          <a:prstGeom xmlns:a="http://schemas.openxmlformats.org/drawingml/2006/main" prst="rect">
            <a:avLst/>
          </a:prstGeom>
        </p:spPr>
      </p:pic>
      <p:sp>
        <p:nvSpPr>
          <p:cNvPr id="4" name="Что сохранить">
            <a:extLst xmlns:a="http://schemas.openxmlformats.org/drawingml/2006/main">
              <a:ext uri="{FF2B5EF4-FFF2-40B4-BE49-F238E27FC236}">
                <a16:creationId xmlns:a16="http://schemas.microsoft.com/office/drawing/2014/main" id="{E71A0001-AD8A-491D-A6AF-3513EA4F7054}"/>
              </a:ext>
            </a:extLst>
          </p:cNvPr>
          <p:cNvSpPr>
            <a:spLocks xmlns:a="http://schemas.openxmlformats.org/drawingml/2006/main" noGrp="1"/>
          </p:cNvSpPr>
          <p:nvPr/>
        </p:nvSpPr>
        <p:spPr>
          <a:xfrm xmlns:a="http://schemas.openxmlformats.org/drawingml/2006/main">
            <a:off x="8763000" y="1924050"/>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315FEA"/>
                </a:solidFill>
                <a:latin typeface="Arial"/>
                <a:ea typeface="Arial"/>
                <a:cs typeface="Arial"/>
              </a:defRPr>
            </a:pPr>
            <a:r>
              <a:rPr sz="2100" b="1">
                <a:solidFill>
                  <a:srgbClr val="315FEA"/>
                </a:solidFill>
                <a:latin typeface="Arial"/>
                <a:ea typeface="Arial"/>
                <a:cs typeface="Arial"/>
              </a:rPr>
              <a:t>Что сохранить</a:t>
            </a:r>
          </a:p>
        </p:txBody>
      </p:sp>
      <p:sp>
        <p:nvSpPr>
          <p:cNvPr id="5" name="Знание и его&#10;основание в диалоге">
            <a:extLst xmlns:a="http://schemas.openxmlformats.org/drawingml/2006/main">
              <a:ext uri="{FF2B5EF4-FFF2-40B4-BE49-F238E27FC236}">
                <a16:creationId xmlns:a16="http://schemas.microsoft.com/office/drawing/2014/main" id="{A6AC8C54-E5C8-4E3F-822E-24BCD99197DF}"/>
              </a:ext>
            </a:extLst>
          </p:cNvPr>
          <p:cNvSpPr>
            <a:spLocks xmlns:a="http://schemas.openxmlformats.org/drawingml/2006/main" noGrp="1"/>
          </p:cNvSpPr>
          <p:nvPr/>
        </p:nvSpPr>
        <p:spPr>
          <a:xfrm xmlns:a="http://schemas.openxmlformats.org/drawingml/2006/main">
            <a:off x="8763000" y="2466975"/>
            <a:ext cx="2724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2B3A"/>
                </a:solidFill>
                <a:latin typeface="Arial"/>
                <a:ea typeface="Arial"/>
                <a:cs typeface="Arial"/>
              </a:defRPr>
            </a:pPr>
            <a:r>
              <a:rPr sz="2025" b="0">
                <a:solidFill>
                  <a:srgbClr val="182B3A"/>
                </a:solidFill>
                <a:latin typeface="Arial"/>
                <a:ea typeface="Arial"/>
                <a:cs typeface="Arial"/>
              </a:rPr>
              <a:t>Знание и его</a:t>
            </a:r>
          </a:p>
          <a:p xmlns:a="http://schemas.openxmlformats.org/drawingml/2006/main">
            <a:pPr>
              <a:buNone/>
              <a:defRPr sz="2025" b="0">
                <a:solidFill>
                  <a:srgbClr val="182B3A"/>
                </a:solidFill>
                <a:latin typeface="Arial"/>
                <a:ea typeface="Arial"/>
                <a:cs typeface="Arial"/>
              </a:defRPr>
            </a:pPr>
            <a:r>
              <a:rPr sz="2025" b="0">
                <a:solidFill>
                  <a:srgbClr val="182B3A"/>
                </a:solidFill>
                <a:latin typeface="Arial"/>
                <a:ea typeface="Arial"/>
                <a:cs typeface="Arial"/>
              </a:rPr>
              <a:t>основание в диалоге</a:t>
            </a:r>
          </a:p>
        </p:txBody>
      </p:sp>
      <p:sp>
        <p:nvSpPr>
          <p:cNvPr id="6" name="Куда добавить">
            <a:extLst xmlns:a="http://schemas.openxmlformats.org/drawingml/2006/main">
              <a:ext uri="{FF2B5EF4-FFF2-40B4-BE49-F238E27FC236}">
                <a16:creationId xmlns:a16="http://schemas.microsoft.com/office/drawing/2014/main" id="{774CEEA3-CA6C-466D-8D7E-E5A37FE6F006}"/>
              </a:ext>
            </a:extLst>
          </p:cNvPr>
          <p:cNvSpPr>
            <a:spLocks xmlns:a="http://schemas.openxmlformats.org/drawingml/2006/main" noGrp="1"/>
          </p:cNvSpPr>
          <p:nvPr/>
        </p:nvSpPr>
        <p:spPr>
          <a:xfrm xmlns:a="http://schemas.openxmlformats.org/drawingml/2006/main">
            <a:off x="8763000" y="3695700"/>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315FEA"/>
                </a:solidFill>
                <a:latin typeface="Arial"/>
                <a:ea typeface="Arial"/>
                <a:cs typeface="Arial"/>
              </a:defRPr>
            </a:pPr>
            <a:r>
              <a:rPr sz="2100" b="1">
                <a:solidFill>
                  <a:srgbClr val="315FEA"/>
                </a:solidFill>
                <a:latin typeface="Arial"/>
                <a:ea typeface="Arial"/>
                <a:cs typeface="Arial"/>
              </a:rPr>
              <a:t>Куда добавить</a:t>
            </a:r>
          </a:p>
        </p:txBody>
      </p:sp>
      <p:sp>
        <p:nvSpPr>
          <p:cNvPr id="7" name="Связь с базой&#10;и выбор действия">
            <a:extLst xmlns:a="http://schemas.openxmlformats.org/drawingml/2006/main">
              <a:ext uri="{FF2B5EF4-FFF2-40B4-BE49-F238E27FC236}">
                <a16:creationId xmlns:a16="http://schemas.microsoft.com/office/drawing/2014/main" id="{C05B880A-F8D4-43FB-92B5-99293B679304}"/>
              </a:ext>
            </a:extLst>
          </p:cNvPr>
          <p:cNvSpPr>
            <a:spLocks xmlns:a="http://schemas.openxmlformats.org/drawingml/2006/main" noGrp="1"/>
          </p:cNvSpPr>
          <p:nvPr/>
        </p:nvSpPr>
        <p:spPr>
          <a:xfrm xmlns:a="http://schemas.openxmlformats.org/drawingml/2006/main">
            <a:off x="8763000" y="4248150"/>
            <a:ext cx="27241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82B3A"/>
                </a:solidFill>
                <a:latin typeface="Arial"/>
                <a:ea typeface="Arial"/>
                <a:cs typeface="Arial"/>
              </a:defRPr>
            </a:pPr>
            <a:r>
              <a:rPr sz="2025" b="0">
                <a:solidFill>
                  <a:srgbClr val="182B3A"/>
                </a:solidFill>
                <a:latin typeface="Arial"/>
                <a:ea typeface="Arial"/>
                <a:cs typeface="Arial"/>
              </a:rPr>
              <a:t>Найденная заметка</a:t>
            </a:r>
          </a:p>
          <a:p xmlns:a="http://schemas.openxmlformats.org/drawingml/2006/main">
            <a:pPr>
              <a:buNone/>
              <a:defRPr sz="2025" b="0">
                <a:solidFill>
                  <a:srgbClr val="182B3A"/>
                </a:solidFill>
                <a:latin typeface="Arial"/>
                <a:ea typeface="Arial"/>
                <a:cs typeface="Arial"/>
              </a:defRPr>
            </a:pPr>
            <a:r>
              <a:rPr sz="2025" b="0">
                <a:solidFill>
                  <a:srgbClr val="182B3A"/>
                </a:solidFill>
                <a:latin typeface="Arial"/>
                <a:ea typeface="Arial"/>
                <a:cs typeface="Arial"/>
              </a:rPr>
              <a:t>и план системы</a:t>
            </a:r>
          </a:p>
        </p:txBody>
      </p:sp>
      <p:sp>
        <p:nvSpPr>
          <p:cNvPr id="8" name="Концепция экрана">
            <a:extLst xmlns:a="http://schemas.openxmlformats.org/drawingml/2006/main">
              <a:ext uri="{FF2B5EF4-FFF2-40B4-BE49-F238E27FC236}">
                <a16:creationId xmlns:a16="http://schemas.microsoft.com/office/drawing/2014/main" id="{CA9BAD26-48B4-47B0-A0D3-9EC7698B4C58}"/>
              </a:ext>
            </a:extLst>
          </p:cNvPr>
          <p:cNvSpPr>
            <a:spLocks xmlns:a="http://schemas.openxmlformats.org/drawingml/2006/main" noGrp="1"/>
          </p:cNvSpPr>
          <p:nvPr/>
        </p:nvSpPr>
        <p:spPr>
          <a:xfrm xmlns:a="http://schemas.openxmlformats.org/drawingml/2006/main">
            <a:off x="8763000" y="5791200"/>
            <a:ext cx="2733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rgbClr val="61707A"/>
                </a:solidFill>
                <a:latin typeface="Arial"/>
                <a:ea typeface="Arial"/>
                <a:cs typeface="Arial"/>
              </a:defRPr>
            </a:pPr>
            <a:r>
              <a:rPr sz="1575" b="0">
                <a:solidFill>
                  <a:srgbClr val="61707A"/>
                </a:solidFill>
                <a:latin typeface="Arial"/>
                <a:ea typeface="Arial"/>
                <a:cs typeface="Arial"/>
              </a:rPr>
              <a:t>Концепция экрана</a:t>
            </a:r>
          </a:p>
        </p:txBody>
      </p:sp>
    </p:spTree>
    <p:extLst>
      <p:ext uri="{BB962C8B-B14F-4D97-AF65-F5344CB8AC3E}">
        <p14:creationId xmlns:p14="http://schemas.microsoft.com/office/powerpoint/2010/main" val="342981432"/>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Почему решение может быть эффективнее">
            <a:extLst xmlns:a="http://schemas.openxmlformats.org/drawingml/2006/main">
              <a:ext uri="{FF2B5EF4-FFF2-40B4-BE49-F238E27FC236}">
                <a16:creationId xmlns:a16="http://schemas.microsoft.com/office/drawing/2014/main" id="{36DB0ED0-AE36-4F5F-9930-C3C2AECAB5DC}"/>
              </a:ext>
            </a:extLst>
          </p:cNvPr>
          <p:cNvSpPr>
            <a:spLocks xmlns:a="http://schemas.openxmlformats.org/drawingml/2006/main" noGrp="1"/>
          </p:cNvSpPr>
          <p:nvPr/>
        </p:nvSpPr>
        <p:spPr>
          <a:xfrm xmlns:a="http://schemas.openxmlformats.org/drawingml/2006/main">
            <a:off x="685800" y="476250"/>
            <a:ext cx="10820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225" b="1">
                <a:solidFill>
                  <a:srgbClr val="182B3A"/>
                </a:solidFill>
                <a:latin typeface="Arial"/>
                <a:ea typeface="Arial"/>
                <a:cs typeface="Arial"/>
              </a:defRPr>
            </a:pPr>
            <a:r>
              <a:rPr sz="3225" b="1">
                <a:solidFill>
                  <a:srgbClr val="182B3A"/>
                </a:solidFill>
                <a:latin typeface="Arial"/>
                <a:ea typeface="Arial"/>
                <a:cs typeface="Arial"/>
              </a:rPr>
              <a:t>Почему решение может быть эффективнее</a:t>
            </a:r>
          </a:p>
        </p:txBody>
      </p:sp>
      <p:sp>
        <p:nvSpPr>
          <p:cNvPr id="2" name="08">
            <a:extLst xmlns:a="http://schemas.openxmlformats.org/drawingml/2006/main">
              <a:ext uri="{FF2B5EF4-FFF2-40B4-BE49-F238E27FC236}">
                <a16:creationId xmlns:a16="http://schemas.microsoft.com/office/drawing/2014/main" id="{F1E83062-0B80-421A-95A5-C70B0ECFA863}"/>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61707A"/>
                </a:solidFill>
                <a:latin typeface="Arial"/>
                <a:ea typeface="Arial"/>
                <a:cs typeface="Arial"/>
              </a:defRPr>
            </a:pPr>
            <a:r>
              <a:rPr sz="1350" b="0">
                <a:solidFill>
                  <a:srgbClr val="61707A"/>
                </a:solidFill>
                <a:latin typeface="Arial"/>
                <a:ea typeface="Arial"/>
                <a:cs typeface="Arial"/>
              </a:rPr>
              <a:t>08</a:t>
            </a:r>
          </a:p>
        </p:txBody>
      </p:sp>
      <p:graphicFrame>
        <p:nvGraphicFramePr>
          <p:cNvPr id="11" name=""/>
          <p:cNvGraphicFramePr/>
          <p:nvPr/>
        </p:nvGraphicFramePr>
        <p:xfrm>
          <a:off xmlns:a="http://schemas.openxmlformats.org/drawingml/2006/main" x="685800" y="1771650"/>
          <a:ext xmlns:a="http://schemas.openxmlformats.org/drawingml/2006/main" cx="10820400" cy="3514725"/>
        </p:xfrm>
        <a:graphic xmlns:a="http://schemas.openxmlformats.org/drawingml/2006/main">
          <a:graphicData uri="http://schemas.openxmlformats.org/drawingml/2006/table">
            <a:tbl>
              <a:tblPr/>
              <a:tblGrid>
                <a:gridCol w="2819400"/>
                <a:gridCol w="3905250"/>
                <a:gridCol w="4095750"/>
              </a:tblGrid>
              <a:tr h="762000">
                <a:tc>
                  <a:txBody>
                    <a:bodyPr/>
                    <a:lstStyle/>
                    <a:p>
                      <a:r>
                        <a:rPr sz="1725" b="1">
                          <a:solidFill>
                            <a:srgbClr val="FFFFFF"/>
                          </a:solidFill>
                          <a:latin typeface="Arial"/>
                          <a:ea typeface="Arial"/>
                          <a:cs typeface="Arial"/>
                        </a:rPr>
                        <a:t>Способ работы</a:t>
                      </a:r>
                    </a:p>
                  </a:txBody>
                  <a:tcPr marL="180975" marR="161925" marT="123825" marB="114300" anchor="ctr">
                    <a:solidFill>
                      <a:srgbClr val="182B3A"/>
                    </a:solidFill>
                  </a:tcPr>
                </a:tc>
                <a:tc>
                  <a:txBody>
                    <a:bodyPr/>
                    <a:lstStyle/>
                    <a:p>
                      <a:r>
                        <a:rPr sz="1725" b="1">
                          <a:solidFill>
                            <a:srgbClr val="FFFFFF"/>
                          </a:solidFill>
                          <a:latin typeface="Arial"/>
                          <a:ea typeface="Arial"/>
                          <a:cs typeface="Arial"/>
                        </a:rPr>
                        <a:t>Ручная работа</a:t>
                      </a:r>
                    </a:p>
                    <a:p>
                      <a:r>
                        <a:rPr sz="1725" b="1">
                          <a:solidFill>
                            <a:srgbClr val="FFFFFF"/>
                          </a:solidFill>
                          <a:latin typeface="Arial"/>
                          <a:ea typeface="Arial"/>
                          <a:cs typeface="Arial"/>
                        </a:rPr>
                        <a:t>без нашего приложения</a:t>
                      </a:r>
                    </a:p>
                  </a:txBody>
                  <a:tcPr marL="180975" marR="161925" marT="123825" marB="114300" anchor="ctr">
                    <a:solidFill>
                      <a:srgbClr val="182B3A"/>
                    </a:solidFill>
                  </a:tcPr>
                </a:tc>
                <a:tc>
                  <a:txBody>
                    <a:bodyPr/>
                    <a:lstStyle/>
                    <a:p>
                      <a:r>
                        <a:rPr sz="1725" b="1">
                          <a:solidFill>
                            <a:srgbClr val="FFFFFF"/>
                          </a:solidFill>
                          <a:latin typeface="Arial"/>
                          <a:ea typeface="Arial"/>
                          <a:cs typeface="Arial"/>
                        </a:rPr>
                        <a:t>Что выполняет</a:t>
                      </a:r>
                    </a:p>
                    <a:p>
                      <a:r>
                        <a:rPr sz="1725" b="1">
                          <a:solidFill>
                            <a:srgbClr val="FFFFFF"/>
                          </a:solidFill>
                          <a:latin typeface="Arial"/>
                          <a:ea typeface="Arial"/>
                          <a:cs typeface="Arial"/>
                        </a:rPr>
                        <a:t>наша система</a:t>
                      </a:r>
                    </a:p>
                  </a:txBody>
                  <a:tcPr marL="180975" marR="161925" marT="123825" marB="114300" anchor="ctr">
                    <a:solidFill>
                      <a:srgbClr val="182B3A"/>
                    </a:solidFill>
                  </a:tcPr>
                </a:tc>
              </a:tr>
              <a:tr h="857250">
                <a:tc>
                  <a:txBody>
                    <a:bodyPr/>
                    <a:lstStyle/>
                    <a:p>
                      <a:r>
                        <a:rPr sz="1800" b="0">
                          <a:solidFill>
                            <a:srgbClr val="182B3A"/>
                          </a:solidFill>
                          <a:latin typeface="Arial"/>
                          <a:ea typeface="Arial"/>
                          <a:cs typeface="Arial"/>
                        </a:rPr>
                        <a:t>Сохранить историю</a:t>
                      </a:r>
                    </a:p>
                    <a:p>
                      <a:r>
                        <a:rPr sz="1800" b="0">
                          <a:solidFill>
                            <a:srgbClr val="182B3A"/>
                          </a:solidFill>
                          <a:latin typeface="Arial"/>
                          <a:ea typeface="Arial"/>
                          <a:cs typeface="Arial"/>
                        </a:rPr>
                        <a:t>разговора</a:t>
                      </a:r>
                    </a:p>
                  </a:txBody>
                  <a:tcPr marL="180975" marR="161925" marT="123825" marB="114300" anchor="ctr">
                    <a:solidFill>
                      <a:srgbClr val="F7F6F2"/>
                    </a:solidFill>
                  </a:tcPr>
                </a:tc>
                <a:tc>
                  <a:txBody>
                    <a:bodyPr/>
                    <a:lstStyle/>
                    <a:p>
                      <a:r>
                        <a:rPr sz="1800" b="0">
                          <a:solidFill>
                            <a:srgbClr val="182B3A"/>
                          </a:solidFill>
                          <a:latin typeface="Arial"/>
                          <a:ea typeface="Arial"/>
                          <a:cs typeface="Arial"/>
                        </a:rPr>
                        <a:t>Перечитать и найти</a:t>
                      </a:r>
                    </a:p>
                    <a:p>
                      <a:r>
                        <a:rPr sz="1800" b="0">
                          <a:solidFill>
                            <a:srgbClr val="182B3A"/>
                          </a:solidFill>
                          <a:latin typeface="Arial"/>
                          <a:ea typeface="Arial"/>
                          <a:cs typeface="Arial"/>
                        </a:rPr>
                        <a:t>важные фрагменты</a:t>
                      </a:r>
                    </a:p>
                  </a:txBody>
                  <a:tcPr marL="180975" marR="161925" marT="123825" marB="114300" anchor="ctr">
                    <a:solidFill>
                      <a:srgbClr val="F7F6F2"/>
                    </a:solidFill>
                  </a:tcPr>
                </a:tc>
                <a:tc>
                  <a:txBody>
                    <a:bodyPr/>
                    <a:lstStyle/>
                    <a:p>
                      <a:r>
                        <a:rPr sz="1800" b="0">
                          <a:solidFill>
                            <a:srgbClr val="315FEA"/>
                          </a:solidFill>
                          <a:latin typeface="Arial"/>
                          <a:ea typeface="Arial"/>
                          <a:cs typeface="Arial"/>
                        </a:rPr>
                        <a:t>Извлекает ценные знания</a:t>
                      </a:r>
                    </a:p>
                    <a:p>
                      <a:r>
                        <a:rPr sz="1800" b="0">
                          <a:solidFill>
                            <a:srgbClr val="315FEA"/>
                          </a:solidFill>
                          <a:latin typeface="Arial"/>
                          <a:ea typeface="Arial"/>
                          <a:cs typeface="Arial"/>
                        </a:rPr>
                        <a:t>из разных реплик</a:t>
                      </a:r>
                    </a:p>
                  </a:txBody>
                  <a:tcPr marL="180975" marR="161925" marT="123825" marB="114300" anchor="ctr">
                    <a:solidFill>
                      <a:srgbClr val="ECF1FC"/>
                    </a:solidFill>
                  </a:tcPr>
                </a:tc>
              </a:tr>
              <a:tr h="962025">
                <a:tc>
                  <a:txBody>
                    <a:bodyPr/>
                    <a:lstStyle/>
                    <a:p>
                      <a:r>
                        <a:rPr sz="1800" b="0">
                          <a:solidFill>
                            <a:srgbClr val="182B3A"/>
                          </a:solidFill>
                          <a:latin typeface="Arial"/>
                          <a:ea typeface="Arial"/>
                          <a:cs typeface="Arial"/>
                        </a:rPr>
                        <a:t>Перенести вручную</a:t>
                      </a:r>
                    </a:p>
                    <a:p>
                      <a:r>
                        <a:rPr sz="1800" b="0">
                          <a:solidFill>
                            <a:srgbClr val="182B3A"/>
                          </a:solidFill>
                          <a:latin typeface="Arial"/>
                          <a:ea typeface="Arial"/>
                          <a:cs typeface="Arial"/>
                        </a:rPr>
                        <a:t>в заметки</a:t>
                      </a:r>
                    </a:p>
                  </a:txBody>
                  <a:tcPr marL="180975" marR="161925" marT="123825" marB="114300" anchor="ctr">
                    <a:solidFill>
                      <a:srgbClr val="F7F6F2"/>
                    </a:solidFill>
                  </a:tcPr>
                </a:tc>
                <a:tc>
                  <a:txBody>
                    <a:bodyPr/>
                    <a:lstStyle/>
                    <a:p>
                      <a:r>
                        <a:rPr sz="1800" b="0">
                          <a:solidFill>
                            <a:srgbClr val="182B3A"/>
                          </a:solidFill>
                          <a:latin typeface="Arial"/>
                          <a:ea typeface="Arial"/>
                          <a:cs typeface="Arial"/>
                        </a:rPr>
                        <a:t>Организовать материал</a:t>
                      </a:r>
                    </a:p>
                    <a:p>
                      <a:r>
                        <a:rPr sz="1800" b="0">
                          <a:solidFill>
                            <a:srgbClr val="182B3A"/>
                          </a:solidFill>
                          <a:latin typeface="Arial"/>
                          <a:ea typeface="Arial"/>
                          <a:cs typeface="Arial"/>
                        </a:rPr>
                        <a:t>и проверить повторы</a:t>
                      </a:r>
                    </a:p>
                  </a:txBody>
                  <a:tcPr marL="180975" marR="161925" marT="123825" marB="114300" anchor="ctr">
                    <a:solidFill>
                      <a:srgbClr val="F7F6F2"/>
                    </a:solidFill>
                  </a:tcPr>
                </a:tc>
                <a:tc>
                  <a:txBody>
                    <a:bodyPr/>
                    <a:lstStyle/>
                    <a:p>
                      <a:r>
                        <a:rPr sz="1800" b="0">
                          <a:solidFill>
                            <a:srgbClr val="315FEA"/>
                          </a:solidFill>
                          <a:latin typeface="Arial"/>
                          <a:ea typeface="Arial"/>
                          <a:cs typeface="Arial"/>
                        </a:rPr>
                        <a:t>Находит связанные заметки,</a:t>
                      </a:r>
                    </a:p>
                    <a:p>
                      <a:r>
                        <a:rPr sz="1800" b="0">
                          <a:solidFill>
                            <a:srgbClr val="315FEA"/>
                          </a:solidFill>
                          <a:latin typeface="Arial"/>
                          <a:ea typeface="Arial"/>
                          <a:cs typeface="Arial"/>
                        </a:rPr>
                        <a:t>определяет дополнения</a:t>
                      </a:r>
                    </a:p>
                    <a:p>
                      <a:r>
                        <a:rPr sz="1800" b="0">
                          <a:solidFill>
                            <a:srgbClr val="315FEA"/>
                          </a:solidFill>
                          <a:latin typeface="Arial"/>
                          <a:ea typeface="Arial"/>
                          <a:cs typeface="Arial"/>
                        </a:rPr>
                        <a:t>и повторы</a:t>
                      </a:r>
                    </a:p>
                  </a:txBody>
                  <a:tcPr marL="180975" marR="161925" marT="123825" marB="114300" anchor="ctr">
                    <a:solidFill>
                      <a:srgbClr val="ECF1FC"/>
                    </a:solidFill>
                  </a:tcPr>
                </a:tc>
              </a:tr>
              <a:tr h="962025">
                <a:tc>
                  <a:txBody>
                    <a:bodyPr/>
                    <a:lstStyle/>
                    <a:p>
                      <a:r>
                        <a:rPr sz="1800" b="0">
                          <a:solidFill>
                            <a:srgbClr val="182B3A"/>
                          </a:solidFill>
                          <a:latin typeface="Arial"/>
                          <a:ea typeface="Arial"/>
                          <a:cs typeface="Arial"/>
                        </a:rPr>
                        <a:t>Получить резюме</a:t>
                      </a:r>
                    </a:p>
                    <a:p>
                      <a:r>
                        <a:rPr sz="1800" b="0">
                          <a:solidFill>
                            <a:srgbClr val="182B3A"/>
                          </a:solidFill>
                          <a:latin typeface="Arial"/>
                          <a:ea typeface="Arial"/>
                          <a:cs typeface="Arial"/>
                        </a:rPr>
                        <a:t>и сохранить вручную</a:t>
                      </a:r>
                    </a:p>
                  </a:txBody>
                  <a:tcPr marL="180975" marR="161925" marT="123825" marB="114300" anchor="ctr">
                    <a:solidFill>
                      <a:srgbClr val="F7F6F2"/>
                    </a:solidFill>
                  </a:tcPr>
                </a:tc>
                <a:tc>
                  <a:txBody>
                    <a:bodyPr/>
                    <a:lstStyle/>
                    <a:p>
                      <a:r>
                        <a:rPr sz="1800" b="0">
                          <a:solidFill>
                            <a:srgbClr val="182B3A"/>
                          </a:solidFill>
                          <a:latin typeface="Arial"/>
                          <a:ea typeface="Arial"/>
                          <a:cs typeface="Arial"/>
                        </a:rPr>
                        <a:t>Выбрать место, записать</a:t>
                      </a:r>
                    </a:p>
                    <a:p>
                      <a:r>
                        <a:rPr sz="1800" b="0">
                          <a:solidFill>
                            <a:srgbClr val="182B3A"/>
                          </a:solidFill>
                          <a:latin typeface="Arial"/>
                          <a:ea typeface="Arial"/>
                          <a:cs typeface="Arial"/>
                        </a:rPr>
                        <a:t>и связать с прежними заметками</a:t>
                      </a:r>
                    </a:p>
                  </a:txBody>
                  <a:tcPr marL="180975" marR="161925" marT="123825" marB="114300" anchor="ctr">
                    <a:solidFill>
                      <a:srgbClr val="F7F6F2"/>
                    </a:solidFill>
                  </a:tcPr>
                </a:tc>
                <a:tc>
                  <a:txBody>
                    <a:bodyPr/>
                    <a:lstStyle/>
                    <a:p>
                      <a:r>
                        <a:rPr sz="1800" b="0">
                          <a:solidFill>
                            <a:srgbClr val="315FEA"/>
                          </a:solidFill>
                          <a:latin typeface="Arial"/>
                          <a:ea typeface="Arial"/>
                          <a:cs typeface="Arial"/>
                        </a:rPr>
                        <a:t>Генерирует текст, создаёт</a:t>
                      </a:r>
                    </a:p>
                    <a:p>
                      <a:r>
                        <a:rPr sz="1800" b="0">
                          <a:solidFill>
                            <a:srgbClr val="315FEA"/>
                          </a:solidFill>
                          <a:latin typeface="Arial"/>
                          <a:ea typeface="Arial"/>
                          <a:cs typeface="Arial"/>
                        </a:rPr>
                        <a:t>или дополняет заметки,</a:t>
                      </a:r>
                    </a:p>
                    <a:p>
                      <a:r>
                        <a:rPr sz="1800" b="0">
                          <a:solidFill>
                            <a:srgbClr val="315FEA"/>
                          </a:solidFill>
                          <a:latin typeface="Arial"/>
                          <a:ea typeface="Arial"/>
                          <a:cs typeface="Arial"/>
                        </a:rPr>
                        <a:t>добавляет связи</a:t>
                      </a:r>
                    </a:p>
                  </a:txBody>
                  <a:tcPr marL="180975" marR="161925" marT="123825" marB="114300" anchor="ctr">
                    <a:solidFill>
                      <a:srgbClr val="ECF1FC"/>
                    </a:solidFill>
                  </a:tcPr>
                </a:tc>
              </a:tr>
            </a:tbl>
          </a:graphicData>
        </a:graphic>
      </p:graphicFrame>
      <p:sp>
        <p:nvSpPr>
          <p:cNvPr id="7" name="После допуска плана система записывает изменения и проверяет результат">
            <a:extLst xmlns:a="http://schemas.openxmlformats.org/drawingml/2006/main">
              <a:ext uri="{FF2B5EF4-FFF2-40B4-BE49-F238E27FC236}">
                <a16:creationId xmlns:a16="http://schemas.microsoft.com/office/drawing/2014/main" id="{01EAFEFB-30C3-4999-8538-2B24EA9790BD}"/>
              </a:ext>
            </a:extLst>
          </p:cNvPr>
          <p:cNvSpPr>
            <a:spLocks xmlns:a="http://schemas.openxmlformats.org/drawingml/2006/main" noGrp="1"/>
          </p:cNvSpPr>
          <p:nvPr/>
        </p:nvSpPr>
        <p:spPr>
          <a:xfrm xmlns:a="http://schemas.openxmlformats.org/drawingml/2006/main">
            <a:off x="685800" y="56864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315FEA"/>
                </a:solidFill>
                <a:latin typeface="Arial"/>
                <a:ea typeface="Arial"/>
                <a:cs typeface="Arial"/>
              </a:defRPr>
            </a:pPr>
            <a:r>
              <a:rPr sz="1875" b="0">
                <a:solidFill>
                  <a:srgbClr val="315FEA"/>
                </a:solidFill>
                <a:latin typeface="Arial"/>
                <a:ea typeface="Arial"/>
                <a:cs typeface="Arial"/>
              </a:rPr>
              <a:t>После допуска плана система записывает изменения и проверяет результат.</a:t>
            </a:r>
          </a:p>
        </p:txBody>
      </p:sp>
      <p:sp>
        <p:nvSpPr>
          <p:cNvPr id="8" name="Пользователь импортирует диалог и при необходимости проверяет план.">
            <a:extLst xmlns:a="http://schemas.openxmlformats.org/drawingml/2006/main">
              <a:ext uri="{FF2B5EF4-FFF2-40B4-BE49-F238E27FC236}">
                <a16:creationId xmlns:a16="http://schemas.microsoft.com/office/drawing/2014/main" id="{827C3491-462B-4133-AB65-FA1C67446B8B}"/>
              </a:ext>
            </a:extLst>
          </p:cNvPr>
          <p:cNvSpPr>
            <a:spLocks xmlns:a="http://schemas.openxmlformats.org/drawingml/2006/main" noGrp="1"/>
          </p:cNvSpPr>
          <p:nvPr/>
        </p:nvSpPr>
        <p:spPr>
          <a:xfrm xmlns:a="http://schemas.openxmlformats.org/drawingml/2006/main">
            <a:off x="685800" y="60960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07A"/>
                </a:solidFill>
                <a:latin typeface="Arial"/>
                <a:ea typeface="Arial"/>
                <a:cs typeface="Arial"/>
              </a:defRPr>
            </a:pPr>
            <a:r>
              <a:rPr sz="1725" b="0">
                <a:solidFill>
                  <a:srgbClr val="61707A"/>
                </a:solidFill>
                <a:latin typeface="Arial"/>
                <a:ea typeface="Arial"/>
                <a:cs typeface="Arial"/>
              </a:rPr>
              <a:t>Пользователь импортирует диалог и при необходимости проверяет план.</a:t>
            </a:r>
          </a:p>
        </p:txBody>
      </p:sp>
    </p:spTree>
    <p:extLst>
      <p:ext uri="{BB962C8B-B14F-4D97-AF65-F5344CB8AC3E}">
        <p14:creationId xmlns:p14="http://schemas.microsoft.com/office/powerpoint/2010/main" val="296036825"/>
      </p:ext>
    </p:extLst>
  </p:cSld>
</p:sld>
</file>

<file path=ppt/slides/slide9.xml><?xml version="1.0" encoding="utf-8"?>
<p:sld xmlns:p="http://schemas.openxmlformats.org/presentationml/2006/main">
  <p:cSld>
    <p:bg>
      <p:bgPr>
        <a:solidFill xmlns:a="http://schemas.openxmlformats.org/drawingml/2006/main">
          <a:srgbClr val="182B3A"/>
        </a:solidFill>
      </p:bgPr>
    </p:bg>
    <p:spTree>
      <p:nvGrpSpPr>
        <p:cNvPr id="1" name=""/>
        <p:cNvGrpSpPr/>
        <p:nvPr/>
      </p:nvGrpSpPr>
      <p:grpSpPr>
        <a:xfrm xmlns:a="http://schemas.openxmlformats.org/drawingml/2006/main"/>
      </p:grpSpPr>
      <p:sp>
        <p:nvSpPr>
          <p:cNvPr id="9" name="Как проверить пользу интерфейса">
            <a:extLst xmlns:a="http://schemas.openxmlformats.org/drawingml/2006/main">
              <a:ext uri="{FF2B5EF4-FFF2-40B4-BE49-F238E27FC236}">
                <a16:creationId xmlns:a16="http://schemas.microsoft.com/office/drawing/2014/main" id="{DF1657BA-62EA-4570-A06C-BB2E7AE35B1D}"/>
              </a:ext>
            </a:extLst>
          </p:cNvPr>
          <p:cNvSpPr>
            <a:spLocks xmlns:a="http://schemas.openxmlformats.org/drawingml/2006/main" noGrp="1"/>
          </p:cNvSpPr>
          <p:nvPr/>
        </p:nvSpPr>
        <p:spPr>
          <a:xfrm xmlns:a="http://schemas.openxmlformats.org/drawingml/2006/main">
            <a:off x="685800" y="476250"/>
            <a:ext cx="10820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Как проверить пользу интерфейса</a:t>
            </a:r>
          </a:p>
        </p:txBody>
      </p:sp>
      <p:sp>
        <p:nvSpPr>
          <p:cNvPr id="2" name="09">
            <a:extLst xmlns:a="http://schemas.openxmlformats.org/drawingml/2006/main">
              <a:ext uri="{FF2B5EF4-FFF2-40B4-BE49-F238E27FC236}">
                <a16:creationId xmlns:a16="http://schemas.microsoft.com/office/drawing/2014/main" id="{CB007322-24DA-4247-BBCA-493A614A33E7}"/>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A8B7C3"/>
                </a:solidFill>
                <a:latin typeface="Arial"/>
                <a:ea typeface="Arial"/>
                <a:cs typeface="Arial"/>
              </a:defRPr>
            </a:pPr>
            <a:r>
              <a:rPr sz="1350" b="0">
                <a:solidFill>
                  <a:srgbClr val="A8B7C3"/>
                </a:solidFill>
                <a:latin typeface="Arial"/>
                <a:ea typeface="Arial"/>
                <a:cs typeface="Arial"/>
              </a:rPr>
              <a:t>09</a:t>
            </a:r>
          </a:p>
        </p:txBody>
      </p:sp>
      <p:sp>
        <p:nvSpPr>
          <p:cNvPr id="3" name="Сравнительный тест">
            <a:extLst xmlns:a="http://schemas.openxmlformats.org/drawingml/2006/main">
              <a:ext uri="{FF2B5EF4-FFF2-40B4-BE49-F238E27FC236}">
                <a16:creationId xmlns:a16="http://schemas.microsoft.com/office/drawing/2014/main" id="{E7371CB1-EAD1-48C3-8B71-3A9F7AA1BD13}"/>
              </a:ext>
            </a:extLst>
          </p:cNvPr>
          <p:cNvSpPr>
            <a:spLocks xmlns:a="http://schemas.openxmlformats.org/drawingml/2006/main" noGrp="1"/>
          </p:cNvSpPr>
          <p:nvPr/>
        </p:nvSpPr>
        <p:spPr>
          <a:xfrm xmlns:a="http://schemas.openxmlformats.org/drawingml/2006/main">
            <a:off x="685800" y="178117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1">
                <a:solidFill>
                  <a:srgbClr val="FFFFFF"/>
                </a:solidFill>
                <a:latin typeface="Arial"/>
                <a:ea typeface="Arial"/>
                <a:cs typeface="Arial"/>
              </a:defRPr>
            </a:pPr>
            <a:r>
              <a:rPr sz="2325" b="1">
                <a:solidFill>
                  <a:srgbClr val="FFFFFF"/>
                </a:solidFill>
                <a:latin typeface="Arial"/>
                <a:ea typeface="Arial"/>
                <a:cs typeface="Arial"/>
              </a:rPr>
              <a:t>Сравнительный тест</a:t>
            </a:r>
          </a:p>
        </p:txBody>
      </p:sp>
      <p:sp>
        <p:nvSpPr>
          <p:cNvPr id="4" name="Многошаговые диалоги&#10;и существующая база заметок">
            <a:extLst xmlns:a="http://schemas.openxmlformats.org/drawingml/2006/main">
              <a:ext uri="{FF2B5EF4-FFF2-40B4-BE49-F238E27FC236}">
                <a16:creationId xmlns:a16="http://schemas.microsoft.com/office/drawing/2014/main" id="{E0D535E3-0822-4697-9DF6-1B6757878F04}"/>
              </a:ext>
            </a:extLst>
          </p:cNvPr>
          <p:cNvSpPr>
            <a:spLocks xmlns:a="http://schemas.openxmlformats.org/drawingml/2006/main" noGrp="1"/>
          </p:cNvSpPr>
          <p:nvPr/>
        </p:nvSpPr>
        <p:spPr>
          <a:xfrm xmlns:a="http://schemas.openxmlformats.org/drawingml/2006/main">
            <a:off x="685800" y="2552700"/>
            <a:ext cx="51911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D1DCE4"/>
                </a:solidFill>
                <a:latin typeface="Arial"/>
                <a:ea typeface="Arial"/>
                <a:cs typeface="Arial"/>
              </a:defRPr>
            </a:pPr>
            <a:r>
              <a:rPr sz="2325" b="0">
                <a:solidFill>
                  <a:srgbClr val="D1DCE4"/>
                </a:solidFill>
                <a:latin typeface="Arial"/>
                <a:ea typeface="Arial"/>
                <a:cs typeface="Arial"/>
              </a:rPr>
              <a:t>Многошаговые диалоги</a:t>
            </a:r>
          </a:p>
          <a:p xmlns:a="http://schemas.openxmlformats.org/drawingml/2006/main">
            <a:pPr>
              <a:buNone/>
              <a:defRPr sz="2325" b="0">
                <a:solidFill>
                  <a:srgbClr val="D1DCE4"/>
                </a:solidFill>
                <a:latin typeface="Arial"/>
                <a:ea typeface="Arial"/>
                <a:cs typeface="Arial"/>
              </a:defRPr>
            </a:pPr>
            <a:r>
              <a:rPr sz="2325" b="0">
                <a:solidFill>
                  <a:srgbClr val="D1DCE4"/>
                </a:solidFill>
                <a:latin typeface="Arial"/>
                <a:ea typeface="Arial"/>
                <a:cs typeface="Arial"/>
              </a:rPr>
              <a:t>и существующая база заметок</a:t>
            </a:r>
          </a:p>
        </p:txBody>
      </p:sp>
      <p:sp>
        <p:nvSpPr>
          <p:cNvPr id="5" name="Ручная обработка&#10;и работа через интерфейс">
            <a:extLst xmlns:a="http://schemas.openxmlformats.org/drawingml/2006/main">
              <a:ext uri="{FF2B5EF4-FFF2-40B4-BE49-F238E27FC236}">
                <a16:creationId xmlns:a16="http://schemas.microsoft.com/office/drawing/2014/main" id="{40D68B94-05D0-44BC-98CA-0C2AC5DB5C33}"/>
              </a:ext>
            </a:extLst>
          </p:cNvPr>
          <p:cNvSpPr>
            <a:spLocks xmlns:a="http://schemas.openxmlformats.org/drawingml/2006/main" noGrp="1"/>
          </p:cNvSpPr>
          <p:nvPr/>
        </p:nvSpPr>
        <p:spPr>
          <a:xfrm xmlns:a="http://schemas.openxmlformats.org/drawingml/2006/main">
            <a:off x="685800" y="4048125"/>
            <a:ext cx="5048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D1DCE4"/>
                </a:solidFill>
                <a:latin typeface="Arial"/>
                <a:ea typeface="Arial"/>
                <a:cs typeface="Arial"/>
              </a:defRPr>
            </a:pPr>
            <a:r>
              <a:rPr sz="2325" b="0">
                <a:solidFill>
                  <a:srgbClr val="D1DCE4"/>
                </a:solidFill>
                <a:latin typeface="Arial"/>
                <a:ea typeface="Arial"/>
                <a:cs typeface="Arial"/>
              </a:rPr>
              <a:t>Ручная обработка</a:t>
            </a:r>
          </a:p>
          <a:p xmlns:a="http://schemas.openxmlformats.org/drawingml/2006/main">
            <a:pPr>
              <a:buNone/>
              <a:defRPr sz="2325" b="0">
                <a:solidFill>
                  <a:srgbClr val="D1DCE4"/>
                </a:solidFill>
                <a:latin typeface="Arial"/>
                <a:ea typeface="Arial"/>
                <a:cs typeface="Arial"/>
              </a:defRPr>
            </a:pPr>
            <a:r>
              <a:rPr sz="2325" b="0">
                <a:solidFill>
                  <a:srgbClr val="D1DCE4"/>
                </a:solidFill>
                <a:latin typeface="Arial"/>
                <a:ea typeface="Arial"/>
                <a:cs typeface="Arial"/>
              </a:rPr>
              <a:t>и работа через интерфейс</a:t>
            </a:r>
          </a:p>
        </p:txBody>
      </p:sp>
      <p:sp>
        <p:nvSpPr>
          <p:cNvPr id="6" name="Что измеряем">
            <a:extLst xmlns:a="http://schemas.openxmlformats.org/drawingml/2006/main">
              <a:ext uri="{FF2B5EF4-FFF2-40B4-BE49-F238E27FC236}">
                <a16:creationId xmlns:a16="http://schemas.microsoft.com/office/drawing/2014/main" id="{129B9E29-C837-43C5-8BC5-15332FEBAC6B}"/>
              </a:ext>
            </a:extLst>
          </p:cNvPr>
          <p:cNvSpPr>
            <a:spLocks xmlns:a="http://schemas.openxmlformats.org/drawingml/2006/main" noGrp="1"/>
          </p:cNvSpPr>
          <p:nvPr/>
        </p:nvSpPr>
        <p:spPr>
          <a:xfrm xmlns:a="http://schemas.openxmlformats.org/drawingml/2006/main">
            <a:off x="6838950" y="1781175"/>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1">
                <a:solidFill>
                  <a:srgbClr val="FFFFFF"/>
                </a:solidFill>
                <a:latin typeface="Arial"/>
                <a:ea typeface="Arial"/>
                <a:cs typeface="Arial"/>
              </a:defRPr>
            </a:pPr>
            <a:r>
              <a:rPr sz="2325" b="1">
                <a:solidFill>
                  <a:srgbClr val="FFFFFF"/>
                </a:solidFill>
                <a:latin typeface="Arial"/>
                <a:ea typeface="Arial"/>
                <a:cs typeface="Arial"/>
              </a:rPr>
              <a:t>Что измеряем</a:t>
            </a:r>
          </a:p>
        </p:txBody>
      </p:sp>
      <p:sp>
        <p:nvSpPr>
          <p:cNvPr id="7" name="Полное время до результата&#10;Пропуски и повторные записи&#10;Качество структ">
            <a:extLst xmlns:a="http://schemas.openxmlformats.org/drawingml/2006/main">
              <a:ext uri="{FF2B5EF4-FFF2-40B4-BE49-F238E27FC236}">
                <a16:creationId xmlns:a16="http://schemas.microsoft.com/office/drawing/2014/main" id="{1FF33528-B976-44DF-8831-CA122B7C6637}"/>
              </a:ext>
            </a:extLst>
          </p:cNvPr>
          <p:cNvSpPr>
            <a:spLocks xmlns:a="http://schemas.openxmlformats.org/drawingml/2006/main" noGrp="1"/>
          </p:cNvSpPr>
          <p:nvPr/>
        </p:nvSpPr>
        <p:spPr>
          <a:xfrm xmlns:a="http://schemas.openxmlformats.org/drawingml/2006/main">
            <a:off x="6838950" y="2571750"/>
            <a:ext cx="4667250" cy="2219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D1DCE4"/>
                </a:solidFill>
                <a:latin typeface="Arial"/>
                <a:ea typeface="Arial"/>
                <a:cs typeface="Arial"/>
              </a:defRPr>
            </a:pPr>
            <a:r>
              <a:rPr sz="2100" b="0">
                <a:solidFill>
                  <a:srgbClr val="D1DCE4"/>
                </a:solidFill>
                <a:latin typeface="Arial"/>
                <a:ea typeface="Arial"/>
                <a:cs typeface="Arial"/>
              </a:rPr>
              <a:t>Полное время до результата</a:t>
            </a:r>
          </a:p>
          <a:p xmlns:a="http://schemas.openxmlformats.org/drawingml/2006/main">
            <a:pPr>
              <a:buNone/>
              <a:defRPr sz="2100" b="0">
                <a:solidFill>
                  <a:srgbClr val="D1DCE4"/>
                </a:solidFill>
                <a:latin typeface="Arial"/>
                <a:ea typeface="Arial"/>
                <a:cs typeface="Arial"/>
              </a:defRPr>
            </a:pPr>
            <a:r>
              <a:rPr sz="2100" b="0">
                <a:solidFill>
                  <a:srgbClr val="D1DCE4"/>
                </a:solidFill>
                <a:latin typeface="Arial"/>
                <a:ea typeface="Arial"/>
                <a:cs typeface="Arial"/>
              </a:rPr>
              <a:t>Пропуски и повторные записи</a:t>
            </a:r>
          </a:p>
          <a:p xmlns:a="http://schemas.openxmlformats.org/drawingml/2006/main">
            <a:pPr>
              <a:buNone/>
              <a:defRPr sz="2100" b="0">
                <a:solidFill>
                  <a:srgbClr val="D1DCE4"/>
                </a:solidFill>
                <a:latin typeface="Arial"/>
                <a:ea typeface="Arial"/>
                <a:cs typeface="Arial"/>
              </a:defRPr>
            </a:pPr>
            <a:r>
              <a:rPr sz="2100" b="0">
                <a:solidFill>
                  <a:srgbClr val="D1DCE4"/>
                </a:solidFill>
                <a:latin typeface="Arial"/>
                <a:ea typeface="Arial"/>
                <a:cs typeface="Arial"/>
              </a:rPr>
              <a:t>Качество структуры и связей</a:t>
            </a:r>
          </a:p>
          <a:p xmlns:a="http://schemas.openxmlformats.org/drawingml/2006/main">
            <a:pPr>
              <a:buNone/>
              <a:defRPr sz="2100" b="0">
                <a:solidFill>
                  <a:srgbClr val="D1DCE4"/>
                </a:solidFill>
                <a:latin typeface="Arial"/>
                <a:ea typeface="Arial"/>
                <a:cs typeface="Arial"/>
              </a:defRPr>
            </a:pPr>
            <a:r>
              <a:rPr sz="2100" b="0">
                <a:solidFill>
                  <a:srgbClr val="D1DCE4"/>
                </a:solidFill>
                <a:latin typeface="Arial"/>
                <a:ea typeface="Arial"/>
                <a:cs typeface="Arial"/>
              </a:rPr>
              <a:t>Поиск и применение знаний позже</a:t>
            </a:r>
          </a:p>
        </p:txBody>
      </p:sp>
      <p:sp>
        <p:nvSpPr>
          <p:cNvPr id="8" name="Критерий пользы: меньше ручной работы без потери качества знаний">
            <a:extLst xmlns:a="http://schemas.openxmlformats.org/drawingml/2006/main">
              <a:ext uri="{FF2B5EF4-FFF2-40B4-BE49-F238E27FC236}">
                <a16:creationId xmlns:a16="http://schemas.microsoft.com/office/drawing/2014/main" id="{033BCB74-3F52-439C-8461-CBE252CA8719}"/>
              </a:ext>
            </a:extLst>
          </p:cNvPr>
          <p:cNvSpPr>
            <a:spLocks xmlns:a="http://schemas.openxmlformats.org/drawingml/2006/main" noGrp="1"/>
          </p:cNvSpPr>
          <p:nvPr/>
        </p:nvSpPr>
        <p:spPr>
          <a:xfrm xmlns:a="http://schemas.openxmlformats.org/drawingml/2006/main">
            <a:off x="685800" y="570547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Критерий пользы: меньше ручной работы без потери качества знаний</a:t>
            </a:r>
          </a:p>
        </p:txBody>
      </p:sp>
    </p:spTree>
    <p:extLst>
      <p:ext uri="{BB962C8B-B14F-4D97-AF65-F5344CB8AC3E}">
        <p14:creationId xmlns:p14="http://schemas.microsoft.com/office/powerpoint/2010/main" val="536171060"/>
      </p:ext>
    </p:extLst>
  </p:cSld>
</p:sld>
</file>

<file path=ppt/slides/slide10.xml><?xml version="1.0" encoding="utf-8"?>
<p:sld xmlns:p="http://schemas.openxmlformats.org/presentationml/2006/main">
  <p:cSld>
    <p:bg>
      <p:bgPr>
        <a:solidFill xmlns:a="http://schemas.openxmlformats.org/drawingml/2006/main">
          <a:srgbClr val="182B3A"/>
        </a:solidFill>
      </p:bgPr>
    </p:bg>
    <p:spTree>
      <p:nvGrpSpPr>
        <p:cNvPr id="1" name=""/>
        <p:cNvGrpSpPr/>
        <p:nvPr/>
      </p:nvGrpSpPr>
      <p:grpSpPr>
        <a:xfrm xmlns:a="http://schemas.openxmlformats.org/drawingml/2006/main"/>
      </p:grpSpPr>
      <p:sp>
        <p:nvSpPr>
          <p:cNvPr id="5" name="Спасибо за внимание!">
            <a:extLst xmlns:a="http://schemas.openxmlformats.org/drawingml/2006/main">
              <a:ext uri="{FF2B5EF4-FFF2-40B4-BE49-F238E27FC236}">
                <a16:creationId xmlns:a16="http://schemas.microsoft.com/office/drawing/2014/main" id="{A4D2A3F4-8459-4C7C-8B2E-7FC0EEDBB2AF}"/>
              </a:ext>
            </a:extLst>
          </p:cNvPr>
          <p:cNvSpPr>
            <a:spLocks xmlns:a="http://schemas.openxmlformats.org/drawingml/2006/main" noGrp="1"/>
          </p:cNvSpPr>
          <p:nvPr/>
        </p:nvSpPr>
        <p:spPr>
          <a:xfrm xmlns:a="http://schemas.openxmlformats.org/drawingml/2006/main">
            <a:off x="685800" y="2352675"/>
            <a:ext cx="10820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Спасибо за внимание!</a:t>
            </a:r>
          </a:p>
        </p:txBody>
      </p:sp>
      <p:sp>
        <p:nvSpPr>
          <p:cNvPr id="2" name="Готовы ответить на ваши вопросы">
            <a:extLst xmlns:a="http://schemas.openxmlformats.org/drawingml/2006/main">
              <a:ext uri="{FF2B5EF4-FFF2-40B4-BE49-F238E27FC236}">
                <a16:creationId xmlns:a16="http://schemas.microsoft.com/office/drawing/2014/main" id="{27644BDE-22F5-4B00-AE26-99DF4C46DE46}"/>
              </a:ext>
            </a:extLst>
          </p:cNvPr>
          <p:cNvSpPr>
            <a:spLocks xmlns:a="http://schemas.openxmlformats.org/drawingml/2006/main" noGrp="1"/>
          </p:cNvSpPr>
          <p:nvPr/>
        </p:nvSpPr>
        <p:spPr>
          <a:xfrm xmlns:a="http://schemas.openxmlformats.org/drawingml/2006/main">
            <a:off x="723900" y="3886200"/>
            <a:ext cx="10429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D1DCE4"/>
                </a:solidFill>
                <a:latin typeface="Arial"/>
                <a:ea typeface="Arial"/>
                <a:cs typeface="Arial"/>
              </a:defRPr>
            </a:pPr>
            <a:r>
              <a:rPr sz="2400" b="0">
                <a:solidFill>
                  <a:srgbClr val="D1DCE4"/>
                </a:solidFill>
                <a:latin typeface="Arial"/>
                <a:ea typeface="Arial"/>
                <a:cs typeface="Arial"/>
              </a:rPr>
              <a:t>Готовы ответить на ваши вопросы</a:t>
            </a:r>
          </a:p>
        </p:txBody>
      </p:sp>
      <p:sp>
        <p:nvSpPr>
          <p:cNvPr id="3" name="Conversation-to-Knowledge Agent">
            <a:extLst xmlns:a="http://schemas.openxmlformats.org/drawingml/2006/main">
              <a:ext uri="{FF2B5EF4-FFF2-40B4-BE49-F238E27FC236}">
                <a16:creationId xmlns:a16="http://schemas.microsoft.com/office/drawing/2014/main" id="{2C22BC85-13A9-4A4B-8FB4-95D356355D66}"/>
              </a:ext>
            </a:extLst>
          </p:cNvPr>
          <p:cNvSpPr>
            <a:spLocks xmlns:a="http://schemas.openxmlformats.org/drawingml/2006/main" noGrp="1"/>
          </p:cNvSpPr>
          <p:nvPr/>
        </p:nvSpPr>
        <p:spPr>
          <a:xfrm xmlns:a="http://schemas.openxmlformats.org/drawingml/2006/main">
            <a:off x="723900" y="5762625"/>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A8B7C3"/>
                </a:solidFill>
                <a:latin typeface="Arial"/>
                <a:ea typeface="Arial"/>
                <a:cs typeface="Arial"/>
              </a:defRPr>
            </a:pPr>
            <a:r>
              <a:rPr sz="1725" b="0">
                <a:solidFill>
                  <a:srgbClr val="A8B7C3"/>
                </a:solidFill>
                <a:latin typeface="Arial"/>
                <a:ea typeface="Arial"/>
                <a:cs typeface="Arial"/>
              </a:rPr>
              <a:t>Conversation-to-Knowledge Agent</a:t>
            </a:r>
          </a:p>
        </p:txBody>
      </p:sp>
      <p:sp>
        <p:nvSpPr>
          <p:cNvPr id="4" name="10">
            <a:extLst xmlns:a="http://schemas.openxmlformats.org/drawingml/2006/main">
              <a:ext uri="{FF2B5EF4-FFF2-40B4-BE49-F238E27FC236}">
                <a16:creationId xmlns:a16="http://schemas.microsoft.com/office/drawing/2014/main" id="{A1554210-6B42-4890-BE5F-56AFA820B213}"/>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7C3"/>
                </a:solidFill>
                <a:latin typeface="Arial"/>
                <a:ea typeface="Arial"/>
                <a:cs typeface="Arial"/>
              </a:defRPr>
            </a:pPr>
            <a:r>
              <a:rPr sz="1350" b="0">
                <a:solidFill>
                  <a:srgbClr val="A8B7C3"/>
                </a:solidFill>
                <a:latin typeface="Arial"/>
                <a:ea typeface="Arial"/>
                <a:cs typeface="Arial"/>
              </a:rPr>
              <a:t>10</a:t>
            </a:r>
          </a:p>
        </p:txBody>
      </p:sp>
    </p:spTree>
    <p:extLst>
      <p:ext uri="{BB962C8B-B14F-4D97-AF65-F5344CB8AC3E}">
        <p14:creationId xmlns:p14="http://schemas.microsoft.com/office/powerpoint/2010/main" val="6366129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2026-09-20T02:23:40.8580000Z</dcterms:created>
  <dcterms:modified xsi:type="dcterms:W3CDTF">2026-09-20T02:23:40.8580000Z</dcterms:modified>
</coreProperties>
</file>
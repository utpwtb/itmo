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57e1b7f1fe49ad" /><Relationship Type="http://schemas.openxmlformats.org/officeDocument/2006/relationships/extended-properties" Target="/docProps/app.xml" Id="R19a633d53b7a48ad" /><Relationship Type="http://schemas.openxmlformats.org/officeDocument/2006/relationships/officeDocument" Target="/ppt/presentation.xml" Id="Rfd599c4d1f25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f4c47ee87401e"/>
  </p:sldMasterIdLst>
  <p:notesMasterIdLst>
    <p:notesMasterId xmlns:r="http://schemas.openxmlformats.org/officeDocument/2006/relationships" r:id="Rc11b8225dc234fe2"/>
  </p:notesMasterIdLst>
  <p:sldIdLst>
    <p:sldId xmlns:r="http://schemas.openxmlformats.org/officeDocument/2006/relationships" id="256" r:id="R642c10f279934f42"/>
    <p:sldId xmlns:r="http://schemas.openxmlformats.org/officeDocument/2006/relationships" id="257" r:id="Rc3cf2727b9734d96"/>
    <p:sldId xmlns:r="http://schemas.openxmlformats.org/officeDocument/2006/relationships" id="258" r:id="R259bee0d8a1c48a1"/>
    <p:sldId xmlns:r="http://schemas.openxmlformats.org/officeDocument/2006/relationships" id="259" r:id="R00c90cf10ca247aa"/>
    <p:sldId xmlns:r="http://schemas.openxmlformats.org/officeDocument/2006/relationships" id="260" r:id="R917e20fb5a80431d"/>
    <p:sldId xmlns:r="http://schemas.openxmlformats.org/officeDocument/2006/relationships" id="261" r:id="Re04e003875e2454f"/>
    <p:sldId xmlns:r="http://schemas.openxmlformats.org/officeDocument/2006/relationships" id="262" r:id="R7b1c395c6b674f0d"/>
    <p:sldId xmlns:r="http://schemas.openxmlformats.org/officeDocument/2006/relationships" id="263" r:id="R9c2eba6980a749c0"/>
    <p:sldId xmlns:r="http://schemas.openxmlformats.org/officeDocument/2006/relationships" id="264" r:id="Rf53e670a048444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bf005dab0c448f" /><Relationship Type="http://schemas.openxmlformats.org/officeDocument/2006/relationships/slideMaster" Target="/ppt/slideMasters/slideMaster1.xml" Id="Rafff4c47ee87401e" /><Relationship Type="http://schemas.openxmlformats.org/officeDocument/2006/relationships/notesMaster" Target="/ppt/notesMasters/notesMaster1.xml" Id="Rc11b8225dc234fe2" /><Relationship Type="http://schemas.openxmlformats.org/officeDocument/2006/relationships/presProps" Target="/ppt/presProps.xml" Id="R6f577ddcf0884f73" /><Relationship Type="http://schemas.openxmlformats.org/officeDocument/2006/relationships/tableStyles" Target="/ppt/tableStyles.xml" Id="Rac835ed20da14991" /><Relationship Type="http://schemas.openxmlformats.org/officeDocument/2006/relationships/slide" Target="/ppt/slides/slide1.xml" Id="R642c10f279934f42" /><Relationship Type="http://schemas.openxmlformats.org/officeDocument/2006/relationships/slide" Target="/ppt/slides/slide2.xml" Id="Rc3cf2727b9734d96" /><Relationship Type="http://schemas.openxmlformats.org/officeDocument/2006/relationships/slide" Target="/ppt/slides/slide3.xml" Id="R259bee0d8a1c48a1" /><Relationship Type="http://schemas.openxmlformats.org/officeDocument/2006/relationships/slide" Target="/ppt/slides/slide4.xml" Id="R00c90cf10ca247aa" /><Relationship Type="http://schemas.openxmlformats.org/officeDocument/2006/relationships/slide" Target="/ppt/slides/slide5.xml" Id="R917e20fb5a80431d" /><Relationship Type="http://schemas.openxmlformats.org/officeDocument/2006/relationships/slide" Target="/ppt/slides/slide6.xml" Id="Re04e003875e2454f" /><Relationship Type="http://schemas.openxmlformats.org/officeDocument/2006/relationships/slide" Target="/ppt/slides/slide7.xml" Id="R7b1c395c6b674f0d" /><Relationship Type="http://schemas.openxmlformats.org/officeDocument/2006/relationships/slide" Target="/ppt/slides/slide8.xml" Id="R9c2eba6980a749c0" /><Relationship Type="http://schemas.openxmlformats.org/officeDocument/2006/relationships/slide" Target="/ppt/slides/slide9.xml" Id="Rf53e670a048444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0f56f29592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42ccef69a84f19" /><Relationship Type="http://schemas.openxmlformats.org/officeDocument/2006/relationships/notesMaster" Target="/ppt/notesMasters/notesMaster1.xml" Id="Rcbf0f8983b634c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69e0d4858f4685" /><Relationship Type="http://schemas.openxmlformats.org/officeDocument/2006/relationships/notesMaster" Target="/ppt/notesMasters/notesMaster1.xml" Id="R146fb1c3fe894a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d2614fde5d4bba" /><Relationship Type="http://schemas.openxmlformats.org/officeDocument/2006/relationships/notesMaster" Target="/ppt/notesMasters/notesMaster1.xml" Id="R6882f6783fb2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759765ccad4b0d" /><Relationship Type="http://schemas.openxmlformats.org/officeDocument/2006/relationships/notesMaster" Target="/ppt/notesMasters/notesMaster1.xml" Id="Ra6ff41f1e9cd4a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e86ed1d2741af" /><Relationship Type="http://schemas.openxmlformats.org/officeDocument/2006/relationships/notesMaster" Target="/ppt/notesMasters/notesMaster1.xml" Id="Rdc302d6b78744b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323c29b80347b1" /><Relationship Type="http://schemas.openxmlformats.org/officeDocument/2006/relationships/notesMaster" Target="/ppt/notesMasters/notesMaster1.xml" Id="Ra002aae79705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5e5180909d4971" /><Relationship Type="http://schemas.openxmlformats.org/officeDocument/2006/relationships/notesMaster" Target="/ppt/notesMasters/notesMaster1.xml" Id="Rae6159463d4548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724a233f4d4eb0" /><Relationship Type="http://schemas.openxmlformats.org/officeDocument/2006/relationships/notesMaster" Target="/ppt/notesMasters/notesMaster1.xml" Id="Rb0a574f5d5ed4b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d21771710e4429" /><Relationship Type="http://schemas.openxmlformats.org/officeDocument/2006/relationships/notesMaster" Target="/ppt/notesMasters/notesMaster1.xml" Id="Rbe270af5a46b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проект называется Conversation-to-Knowledge Agent. Мы предлагаем интерфейс, который извлекает ценные знания из многошаговых диалогов с ИИ и помогает включать их в личную базу знаний. Под многошаговым диалогом мы понимаем разговор с последовательными вопросами, уточнениями и ответами. Система учитывает весь доступный контекст и сопоставляет найденные знания с существующими заметками. Результатом становятся новые связанные заметки или дополнения к уже имеющимся. Сейчас проект использует Obsidian, где пользователь хранит заметки в формате Markdown. Применение охватывает работу, личные проекты и самостоятельное изучение интересующих тем.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docs/requirements.md, разделы 1–3; согласованное описание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определяем аудиторию через поведение. Это люди, которые регулярно обсуждают с ИИ сложные вопросы и хотят использовать полученные знания позже. Среди них могут быть разработчики, исследователи, аналитики, авторы и люди, самостоятельно изучающие новые темы. Общая задача состоит в накоплении личных знаний, которые можно применить в другом проекте или вернуться к ним спустя время. Для первого этапа особенно подходят пользователи, которые уже ведут заметки в Obsidian. Перечисленные группы задают нашу гипотезу аудитории. Распространённость потребности и привычки пользователей нужно уточнить в интервью.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разделы 1–2; README.md. Группы пользователей и частота потребности являются гипотезой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Полезное знание часто формируется постепенно. Человек задаёт вопрос, получает ответ, добавляет ограничения, уточняет детали и пересматривает первоначальное понимание. Важные части оказываются в разных репликах. Некоторые сведения повторяются, а разговор может переходить к другой теме. Чтобы сохранить результат, пользователю приходится заново просматривать историю, восстанавливать контекст и отделять устойчивые выводы от временных деталей. История разговора организована по последовательности общения. Для дальнейшего использования человеку нужна организация по темам и связям. Именно преобразование между этими двумя формами создаёт задачу для нашего интерфейса.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US-2, US-3, US-7 и сценарий 9; docs/agent-workflow.md, шаги 2–5.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центре внимания находится содержание, которое сохраняет ценность вне текущего разговора. Это могут быть понятия, методы с условиями применения, способы решения проблем, выводы и причины выбора решения. Особенность проекта — сохранение развития понимания. Если пользователь сначала понимал вопрос иначе, а в разговоре появилась аргументированная корректировка, заметка может зафиксировать исходное понимание, пояснение и итоговый вывод. Система также связывает извлечённое содержание с фрагментами исходного диалога. Приветствия, повторы и временные детали не должны превращаться в отдельные заметки. В проекте используется ориентир: будет ли это полезно перечитать через три месяца. Это критерий отбора, а не гарантия достоверности. Пользователь всё равно проверяет содержание.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backend/app/prompts/extract/prompt.md; backend/app/prompts/classify/prompt.md; backend/app/prompts/generate/prompt.md; docs/learning/05-knowledge-extraction.md.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извлечения система ищет связанные материалы в существующей базе. Затем она предлагает подходящий способ организации. Самостоятельное новое знание может стать отдельной заметкой. Новые сведения по знакомой теме дополняют существующую заметку. Небольшой составной элемент можно включить в раздел более общей темы. Если полезная информация уже есть, её можно пропустить. При противоречии система отмечает конфликт и оставляет решение пользователю. Между связанными заметками создаются ссылки. Благодаря этому следующий импорт диалога может продолжить уже начатое накопление знаний. В текущей реализации дополнение существующего текста выполняется через добавление новых разделов, без переписывания прежнего основного текста.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backend/app/prompts/plan/prompt.md; docs/agent-workflow.md, шаги 5–10; docs/architecture.md, D5.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Рассмотрим условный разговор о резервном копировании в личном проекте. Сначала пользователь спрашивает, как организовать копирование данных. Затем уточняет ограничения, например что данные находятся локально и свободного времени мало. ИИ поясняет возможные варианты, а пользователь задаёт дополнительный вопрос о проверке восстановления. После сравнения появляется решение и основания выбора. Система анализирует последовательность обсуждения и может выделить способы копирования, критерии выбора и метод проверки восстановления. Если в базе уже есть заметка о резервном копировании, агент предлагает дополнить её новым разделом. Самостоятельную новую тему он может оформить отдельно и связать с этой заметкой. Здесь показан возможный сценарий, а не результат запуска на реальной переписке.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Иллюстративный сценарий, согласованный для презентации. Логика обработки: docs/requirements.md, US-2, US-4, US-7; backend/app/prompts/plan/prompt.md.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путь пользователя начинается с импорта разговора. После анализа он видит темы, извлечённые знания и их основания в исходном тексте. На этапе проверки интерфейс связывает каждое предложение с конкретной заметкой в базе. Слева на концептуальном макете показано, какое знание найдено и из какого фрагмента разговора оно происходит. Справа показаны место сохранения и причина выбора. Пользователь может исключить отдельное действие или подтвердить план. После выполнения он видит результат и связи между заметками. По умолчанию изменения требуют подтверждения. Текущий план показывает структуру и назначение изменений, а окончательный текст генерируется после одобрения. Макет иллюстрирует предлагаемую организацию экрана и не является снимком текущего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docs/agent-workflow.md, шаги 8–13; frontend/src/components/ExtractionPanel.vue; frontend/src/components/PlanPanel.vue. Концептуальная иллюстрация создана встроенным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Сравним способы выполнения одной задачи. Сохранённая история разговора требует повторного чтения и поиска важных фрагментов. Ручной перенос в заметки требует дополнительно разбить материал по темам, найти прежние записи и проверить повторы. Если попросить ИИ сделать краткое содержание, а затем вручную его сохранить, остаётся работа по включению результата в личную базу. Наш проект объединяет извлечение содержания с поиском по уже имеющимся заметкам и подготовкой конкретных действий. Пользователь проверяет предложения. Мы ожидаем сокращения повторного чтения и ручной организации материала. Это гипотеза эффективности, которую нужно измерить вместе с качеством результата. Сравнение относится к описанным рабочим способам, без утверждения о превосходстве над всеми возможностями других продуктов.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Анализ рабочих сценариев на основе docs/requirements.md, US-1–US-9. Преимущество пока является гипотезой, пользовательских измерений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интервью с людьми, которые регулярно используют ИИ и ведут личные заметки. Нужно выяснить, как часто они возвращаются к разговорам и где теряют время. Затем проведём сравнительный тест: участники обработают сопоставимые многошаговые диалоги вручную и через интерфейс, имея подготовленную базу с повторяющимися и дополняемыми темами. Порядок способов следует менять между участниками. Мы измерим полное время до принятого результата, включая ожидание модели и исправления. Также оценим пропущенные полезные сведения, дубли, неудачную организацию и ошибочные связи. Отдельное задание позже покажет, может ли человек найти и применить сохранённое знание. Польза подтверждается, если ручной работы становится меньше, а качество и повторное использование знаний не ухудшаются. Пока мы предлагаем метод проверки, а не сообщаем готовые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Предлагаемый план пользовательского исследования. Критерии качества основаны на docs/requirements.md, раздел 6; ограничения доказательств описаны в docs/known-limitations.md, раздел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46edf15a0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b959ec29634764" /><Relationship Type="http://schemas.openxmlformats.org/officeDocument/2006/relationships/slideLayout" Target="/ppt/slideLayouts/slideLayout1.xml" Id="R0f1af60666904e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af60666904e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620c5f9664f09" /><Relationship Type="http://schemas.openxmlformats.org/officeDocument/2006/relationships/notesSlide" Target="/ppt/notesSlides/notesSlide1.xml" Id="Rea6ec51d6138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337b091f04448" /><Relationship Type="http://schemas.openxmlformats.org/officeDocument/2006/relationships/notesSlide" Target="/ppt/notesSlides/notesSlide2.xml" Id="R02f87a4aa450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162b00aad47d6" /><Relationship Type="http://schemas.openxmlformats.org/officeDocument/2006/relationships/notesSlide" Target="/ppt/notesSlides/notesSlide3.xml" Id="Ra4a997a78908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6fca75ae248fc" /><Relationship Type="http://schemas.openxmlformats.org/officeDocument/2006/relationships/notesSlide" Target="/ppt/notesSlides/notesSlide4.xml" Id="R9458538c7bef48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926a562d14a8e" /><Relationship Type="http://schemas.openxmlformats.org/officeDocument/2006/relationships/notesSlide" Target="/ppt/notesSlides/notesSlide5.xml" Id="R8b0677b9172c46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250cec5174f09" /><Relationship Type="http://schemas.openxmlformats.org/officeDocument/2006/relationships/notesSlide" Target="/ppt/notesSlides/notesSlide6.xml" Id="R92b7d7cf0a54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d7ec220f64e1b" /><Relationship Type="http://schemas.openxmlformats.org/officeDocument/2006/relationships/image" Target="/ppt/media/image.png" Id="R8c360020e4a5426d" /><Relationship Type="http://schemas.openxmlformats.org/officeDocument/2006/relationships/notesSlide" Target="/ppt/notesSlides/notesSlide7.xml" Id="Rcdf80ee092f14d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b5057019c4879" /><Relationship Type="http://schemas.openxmlformats.org/officeDocument/2006/relationships/notesSlide" Target="/ppt/notesSlides/notesSlide8.xml" Id="R48d1b5fc174c4a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4d612bfa45cb" /><Relationship Type="http://schemas.openxmlformats.org/officeDocument/2006/relationships/notesSlide" Target="/ppt/notesSlides/notesSlide9.xml" Id="R6ce15282333e45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E58AC63-43A4-434A-A95B-2DD42778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 xmlns:a="http://schemas.openxmlformats.org/drawingml/2006/main">
              <a:ext uri="{FF2B5EF4-FFF2-40B4-BE49-F238E27FC236}">
                <a16:creationId xmlns:a16="http://schemas.microsoft.com/office/drawing/2014/main" id="{B28E03A0-DF8A-42CA-9B93-0FA73BA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 xmlns:a="http://schemas.openxmlformats.org/drawingml/2006/main">
              <a:ext uri="{FF2B5EF4-FFF2-40B4-BE49-F238E27FC236}">
                <a16:creationId xmlns:a16="http://schemas.microsoft.com/office/drawing/2014/main" id="{DBB4AA4D-C35F-4116-89DC-52E2B4DC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 xmlns:a="http://schemas.openxmlformats.org/drawingml/2006/main">
            <a:pPr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0F198FEF-E1BC-4A7F-AC79-1608DC8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141675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Для кого мы создаём интерфейс">
            <a:extLst xmlns:a="http://schemas.openxmlformats.org/drawingml/2006/main">
              <a:ext uri="{FF2B5EF4-FFF2-40B4-BE49-F238E27FC236}">
                <a16:creationId xmlns:a16="http://schemas.microsoft.com/office/drawing/2014/main" id="{850134F3-029C-48D8-AB86-933245F4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 кого мы создаём интерфейс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5B866B25-44CA-4955-A987-7C27888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 xmlns:a="http://schemas.openxmlformats.org/drawingml/2006/main">
              <a:ext uri="{FF2B5EF4-FFF2-40B4-BE49-F238E27FC236}">
                <a16:creationId xmlns:a16="http://schemas.microsoft.com/office/drawing/2014/main" id="{90776D90-A71C-4D0F-861E-30B940A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 обсуждают</a:t>
            </a:r>
          </a:p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 с ИИ</a:t>
            </a:r>
          </a:p>
        </p:txBody>
      </p:sp>
      <p:sp>
        <p:nvSpPr>
          <p:cNvPr id="4" name="Хотят сохранять знания&#10;и применять их снова">
            <a:extLst xmlns:a="http://schemas.openxmlformats.org/drawingml/2006/main">
              <a:ext uri="{FF2B5EF4-FFF2-40B4-BE49-F238E27FC236}">
                <a16:creationId xmlns:a16="http://schemas.microsoft.com/office/drawing/2014/main" id="{B248D098-F698-42F0-9BDB-098A1A28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 xmlns:a="http://schemas.openxmlformats.org/drawingml/2006/main">
            <a:pPr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 xmlns:a="http://schemas.openxmlformats.org/drawingml/2006/main">
              <a:ext uri="{FF2B5EF4-FFF2-40B4-BE49-F238E27FC236}">
                <a16:creationId xmlns:a16="http://schemas.microsoft.com/office/drawing/2014/main" id="{F53D45D6-1AA7-4F64-966E-BD2BEC19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 первого этапа:</a:t>
            </a:r>
          </a:p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 Obsidian</a:t>
            </a:r>
          </a:p>
        </p:txBody>
      </p:sp>
      <p:sp>
        <p:nvSpPr>
          <p:cNvPr id="6" name="Работа и личные проекты">
            <a:extLst xmlns:a="http://schemas.openxmlformats.org/drawingml/2006/main">
              <a:ext uri="{FF2B5EF4-FFF2-40B4-BE49-F238E27FC236}">
                <a16:creationId xmlns:a16="http://schemas.microsoft.com/office/drawing/2014/main" id="{AB934E2D-64E6-4F3A-AAD4-B4B782A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 и личные проекты</a:t>
            </a:r>
          </a:p>
        </p:txBody>
      </p:sp>
      <p:sp>
        <p:nvSpPr>
          <p:cNvPr id="7" name="Разработка, исследования,&#10;анализ и создание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26493BF7-9BED-40D8-8015-9EC96179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4857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Разработка, исследования,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 и создание материалов</a:t>
            </a:r>
          </a:p>
        </p:txBody>
      </p:sp>
      <p:sp>
        <p:nvSpPr>
          <p:cNvPr id="8" name="Самостоятельное изучение тем">
            <a:extLst xmlns:a="http://schemas.openxmlformats.org/drawingml/2006/main">
              <a:ext uri="{FF2B5EF4-FFF2-40B4-BE49-F238E27FC236}">
                <a16:creationId xmlns:a16="http://schemas.microsoft.com/office/drawing/2014/main" id="{5FB059FB-7240-41F8-A6FF-FEACC32B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 xmlns:a="http://schemas.openxmlformats.org/drawingml/2006/main">
              <a:ext uri="{FF2B5EF4-FFF2-40B4-BE49-F238E27FC236}">
                <a16:creationId xmlns:a16="http://schemas.microsoft.com/office/drawing/2014/main" id="{798427C0-7825-46B8-A92B-EAE7C078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 интересы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повседневные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260791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чему знания трудно сохранить из диалога">
            <a:extLst xmlns:a="http://schemas.openxmlformats.org/drawingml/2006/main">
              <a:ext uri="{FF2B5EF4-FFF2-40B4-BE49-F238E27FC236}">
                <a16:creationId xmlns:a16="http://schemas.microsoft.com/office/drawing/2014/main" id="{CDF37292-0BDE-4535-B17F-ED0B851E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знания трудно сохранить из диалога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06839B9E-BAB0-4E01-AE85-B22F105E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 xmlns:a="http://schemas.openxmlformats.org/drawingml/2006/main">
              <a:ext uri="{FF2B5EF4-FFF2-40B4-BE49-F238E27FC236}">
                <a16:creationId xmlns:a16="http://schemas.microsoft.com/office/drawing/2014/main" id="{6C57DF77-C57F-46C8-8CE6-C6DF6B49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В ходе разговора</a:t>
            </a:r>
          </a:p>
        </p:txBody>
      </p:sp>
      <p:sp>
        <p:nvSpPr>
          <p:cNvPr id="4" name="Вопрос и первый ответ&#10;Уточнения и новые условия&#10;Исправления и выводы">
            <a:extLst xmlns:a="http://schemas.openxmlformats.org/drawingml/2006/main">
              <a:ext uri="{FF2B5EF4-FFF2-40B4-BE49-F238E27FC236}">
                <a16:creationId xmlns:a16="http://schemas.microsoft.com/office/drawing/2014/main" id="{CA6EAF27-F088-4953-901C-62BA0905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 и первый ответ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 и новые условия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 и выводы</a:t>
            </a:r>
          </a:p>
        </p:txBody>
      </p:sp>
      <p:sp>
        <p:nvSpPr>
          <p:cNvPr id="5" name="Чтобы использовать позже">
            <a:extLst xmlns:a="http://schemas.openxmlformats.org/drawingml/2006/main">
              <a:ext uri="{FF2B5EF4-FFF2-40B4-BE49-F238E27FC236}">
                <a16:creationId xmlns:a16="http://schemas.microsoft.com/office/drawing/2014/main" id="{C43F550D-2051-40ED-BD49-DC4D88C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 xmlns:a="http://schemas.openxmlformats.org/drawingml/2006/main">
              <a:ext uri="{FF2B5EF4-FFF2-40B4-BE49-F238E27FC236}">
                <a16:creationId xmlns:a16="http://schemas.microsoft.com/office/drawing/2014/main" id="{0A6497D7-D5C7-4820-86CE-2E731836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72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 смысл из разных реплик</a:t>
            </a:r>
          </a:p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 повторы и временные детали</a:t>
            </a:r>
          </a:p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 с тем, что уже известно</a:t>
            </a:r>
          </a:p>
        </p:txBody>
      </p:sp>
      <p:sp>
        <p:nvSpPr>
          <p:cNvPr id="7" name="Обсуждение идёт по порядку реплик.&#10;Знания нужны в структуре тем и связ">
            <a:extLst xmlns:a="http://schemas.openxmlformats.org/drawingml/2006/main">
              <a:ext uri="{FF2B5EF4-FFF2-40B4-BE49-F238E27FC236}">
                <a16:creationId xmlns:a16="http://schemas.microsoft.com/office/drawing/2014/main" id="{44B8AF4C-93BC-42B1-B5C2-BB8A2032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 идёт по порядку реплик.</a:t>
            </a:r>
          </a:p>
          <a:p xmlns:a="http://schemas.openxmlformats.org/drawingml/2006/main">
            <a:pPr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 нужны в структуре тем и связей.</a:t>
            </a:r>
          </a:p>
        </p:txBody>
      </p:sp>
    </p:spTree>
    <p:extLst>
      <p:ext uri="{BB962C8B-B14F-4D97-AF65-F5344CB8AC3E}">
        <p14:creationId xmlns:p14="http://schemas.microsoft.com/office/powerpoint/2010/main" val="1876307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ие знания мы извлекаем">
            <a:extLst xmlns:a="http://schemas.openxmlformats.org/drawingml/2006/main">
              <a:ext uri="{FF2B5EF4-FFF2-40B4-BE49-F238E27FC236}">
                <a16:creationId xmlns:a16="http://schemas.microsoft.com/office/drawing/2014/main" id="{97E9535F-B249-4D15-83F8-D56D705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7EAA51B6-52C0-493B-8208-F5B3FDD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3A74EEF2-CBEB-49B7-8E2C-27E48932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 xmlns:a="http://schemas.openxmlformats.org/drawingml/2006/main">
              <a:ext uri="{FF2B5EF4-FFF2-40B4-BE49-F238E27FC236}">
                <a16:creationId xmlns:a16="http://schemas.microsoft.com/office/drawing/2014/main" id="{476A7891-6EDF-4FAE-83D8-9E16267E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383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 xmlns:a="http://schemas.openxmlformats.org/drawingml/2006/main">
              <a:ext uri="{FF2B5EF4-FFF2-40B4-BE49-F238E27FC236}">
                <a16:creationId xmlns:a16="http://schemas.microsoft.com/office/drawing/2014/main" id="{0EE59EA0-1565-483B-A913-A3B8439A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 xmlns:a="http://schemas.openxmlformats.org/drawingml/2006/main">
              <a:ext uri="{FF2B5EF4-FFF2-40B4-BE49-F238E27FC236}">
                <a16:creationId xmlns:a16="http://schemas.microsoft.com/office/drawing/2014/main" id="{E8D74C1E-FD6C-4F9B-992E-6838EB0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 xmlns:a="http://schemas.openxmlformats.org/drawingml/2006/main">
              <a:ext uri="{FF2B5EF4-FFF2-40B4-BE49-F238E27FC236}">
                <a16:creationId xmlns:a16="http://schemas.microsoft.com/office/drawing/2014/main" id="{35D8DF80-CAF2-4786-A379-C7E1F6F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 xmlns:a="http://schemas.openxmlformats.org/drawingml/2006/main">
              <a:ext uri="{FF2B5EF4-FFF2-40B4-BE49-F238E27FC236}">
                <a16:creationId xmlns:a16="http://schemas.microsoft.com/office/drawing/2014/main" id="{FB3114BA-BDA0-45D4-BE2E-D69B3B31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 xmlns:a="http://schemas.openxmlformats.org/drawingml/2006/main">
              <a:ext uri="{FF2B5EF4-FFF2-40B4-BE49-F238E27FC236}">
                <a16:creationId xmlns:a16="http://schemas.microsoft.com/office/drawing/2014/main" id="{AF00625C-3525-4010-ADDD-D57A033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 xmlns:a="http://schemas.openxmlformats.org/drawingml/2006/main">
              <a:ext uri="{FF2B5EF4-FFF2-40B4-BE49-F238E27FC236}">
                <a16:creationId xmlns:a16="http://schemas.microsoft.com/office/drawing/2014/main" id="{922367B7-A0A2-4257-AF91-EB7ADE81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815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 xmlns:a="http://schemas.openxmlformats.org/drawingml/2006/main">
              <a:ext uri="{FF2B5EF4-FFF2-40B4-BE49-F238E27FC236}">
                <a16:creationId xmlns:a16="http://schemas.microsoft.com/office/drawing/2014/main" id="{349A1571-9592-421E-9235-C1A23D49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19233587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Как новые знания дополняют базу">
            <a:extLst xmlns:a="http://schemas.openxmlformats.org/drawingml/2006/main">
              <a:ext uri="{FF2B5EF4-FFF2-40B4-BE49-F238E27FC236}">
                <a16:creationId xmlns:a16="http://schemas.microsoft.com/office/drawing/2014/main" id="{F22697DD-CC82-4D48-98EC-A1A3CB9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B2661E7B-7AA4-43D6-BB1B-FC0D83FC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6007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Добавить содержание в существующую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 xmlns:a="http://schemas.openxmlformats.org/drawingml/2006/main">
              <a:ext uri="{FF2B5EF4-FFF2-40B4-BE49-F238E27FC236}">
                <a16:creationId xmlns:a16="http://schemas.microsoft.com/office/drawing/2014/main" id="{BF62E7F4-6E0E-4CA0-9639-4B3F171A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 между заметками объединяют знания из разных диалогов</a:t>
            </a:r>
          </a:p>
        </p:txBody>
      </p:sp>
    </p:spTree>
    <p:extLst>
      <p:ext uri="{BB962C8B-B14F-4D97-AF65-F5344CB8AC3E}">
        <p14:creationId xmlns:p14="http://schemas.microsoft.com/office/powerpoint/2010/main" val="1462389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имер: резервное копирование для проекта">
            <a:extLst xmlns:a="http://schemas.openxmlformats.org/drawingml/2006/main">
              <a:ext uri="{FF2B5EF4-FFF2-40B4-BE49-F238E27FC236}">
                <a16:creationId xmlns:a16="http://schemas.microsoft.com/office/drawing/2014/main" id="{91B5B06F-72AA-4C5E-AE9C-F0D0784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C765D180-361C-4BBE-B81F-B0687380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Несколько ходов диалога">
            <a:extLst xmlns:a="http://schemas.openxmlformats.org/drawingml/2006/main">
              <a:ext uri="{FF2B5EF4-FFF2-40B4-BE49-F238E27FC236}">
                <a16:creationId xmlns:a16="http://schemas.microsoft.com/office/drawing/2014/main" id="{62E38CFC-B897-4224-9416-8E10FDC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Несколько ходов диалога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AA92C7C-408D-42C5-8A95-EBAD8396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2ED54F58-C91D-4AD1-A68D-4074292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71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6" name="Как организовать резервное копирование?">
            <a:extLst xmlns:a="http://schemas.openxmlformats.org/drawingml/2006/main">
              <a:ext uri="{FF2B5EF4-FFF2-40B4-BE49-F238E27FC236}">
                <a16:creationId xmlns:a16="http://schemas.microsoft.com/office/drawing/2014/main" id="{20AF6B17-8E04-447A-9F61-E5FF81F4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организовать резервное копирование?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666EDF1F-BB54-4ACF-8DE9-4F008CA9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ИИ">
            <a:extLst xmlns:a="http://schemas.openxmlformats.org/drawingml/2006/main">
              <a:ext uri="{FF2B5EF4-FFF2-40B4-BE49-F238E27FC236}">
                <a16:creationId xmlns:a16="http://schemas.microsoft.com/office/drawing/2014/main" id="{CF567C48-5159-4F7A-9175-714915B2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90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ИИ</a:t>
            </a:r>
          </a:p>
        </p:txBody>
      </p:sp>
      <p:sp>
        <p:nvSpPr>
          <p:cNvPr id="9" name="Поясняет варианты и уточняет условия.">
            <a:extLst xmlns:a="http://schemas.openxmlformats.org/drawingml/2006/main">
              <a:ext uri="{FF2B5EF4-FFF2-40B4-BE49-F238E27FC236}">
                <a16:creationId xmlns:a16="http://schemas.microsoft.com/office/drawing/2014/main" id="{4ED1DAB7-DA12-4E9E-BF89-DD8C39C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Поясняет варианты и уточняет условия.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6568E2A6-DB6B-4563-BF4E-BFAA0BF5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A78C15B2-1CE1-45E8-A4BC-EBAA7BD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00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12" name="Как проверить, что данные восстановятся?">
            <a:extLst xmlns:a="http://schemas.openxmlformats.org/drawingml/2006/main">
              <a:ext uri="{FF2B5EF4-FFF2-40B4-BE49-F238E27FC236}">
                <a16:creationId xmlns:a16="http://schemas.microsoft.com/office/drawing/2014/main" id="{EB0FBF20-1171-4FC7-937B-9BB2BD0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проверить, что данные восстановятся?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24E82F96-9EA2-474E-91FA-DECF5C94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ИИ и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289DF712-27B8-4132-B599-471AC623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ИИ и пользователь</a:t>
            </a:r>
          </a:p>
        </p:txBody>
      </p:sp>
      <p:sp>
        <p:nvSpPr>
          <p:cNvPr id="15" name="Обсуждают проверку и основания выбора.">
            <a:extLst xmlns:a="http://schemas.openxmlformats.org/drawingml/2006/main">
              <a:ext uri="{FF2B5EF4-FFF2-40B4-BE49-F238E27FC236}">
                <a16:creationId xmlns:a16="http://schemas.microsoft.com/office/drawing/2014/main" id="{788C2C5E-B05A-4945-A3F0-27C22AC8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Обсуждают проверку и основания выбора.</a:t>
            </a:r>
          </a:p>
        </p:txBody>
      </p:sp>
      <p:sp>
        <p:nvSpPr>
          <p:cNvPr id="16" name="Результат в базе">
            <a:extLst xmlns:a="http://schemas.openxmlformats.org/drawingml/2006/main">
              <a:ext uri="{FF2B5EF4-FFF2-40B4-BE49-F238E27FC236}">
                <a16:creationId xmlns:a16="http://schemas.microsoft.com/office/drawing/2014/main" id="{691F0AE6-9050-428B-B0C7-664E0E4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17" name="«Резервное копирование»">
            <a:extLst xmlns:a="http://schemas.openxmlformats.org/drawingml/2006/main">
              <a:ext uri="{FF2B5EF4-FFF2-40B4-BE49-F238E27FC236}">
                <a16:creationId xmlns:a16="http://schemas.microsoft.com/office/drawing/2014/main" id="{97B5720D-985A-445D-89E3-7FD6FAD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9825"/>
            <a:ext cx="44291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18" name="Новый раздел:&#10;«Проверка восстановления»">
            <a:extLst xmlns:a="http://schemas.openxmlformats.org/drawingml/2006/main">
              <a:ext uri="{FF2B5EF4-FFF2-40B4-BE49-F238E27FC236}">
                <a16:creationId xmlns:a16="http://schemas.microsoft.com/office/drawing/2014/main" id="{F539238C-09AA-48F8-AAA9-526BA85B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4429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Новый раздел: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«Проверка восстановления»</a:t>
            </a:r>
          </a:p>
        </p:txBody>
      </p:sp>
      <p:sp>
        <p:nvSpPr>
          <p:cNvPr id="19" name="Связи с подходящими&#10;заметками по теме">
            <a:extLst xmlns:a="http://schemas.openxmlformats.org/drawingml/2006/main">
              <a:ext uri="{FF2B5EF4-FFF2-40B4-BE49-F238E27FC236}">
                <a16:creationId xmlns:a16="http://schemas.microsoft.com/office/drawing/2014/main" id="{0D10223F-A112-4B53-A783-39D7298B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Связи с подходящими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заметками по теме</a:t>
            </a:r>
          </a:p>
        </p:txBody>
      </p:sp>
      <p:sp>
        <p:nvSpPr>
          <p:cNvPr id="20" name="Условный пример обработки диалога">
            <a:extLst xmlns:a="http://schemas.openxmlformats.org/drawingml/2006/main">
              <a:ext uri="{FF2B5EF4-FFF2-40B4-BE49-F238E27FC236}">
                <a16:creationId xmlns:a16="http://schemas.microsoft.com/office/drawing/2014/main" id="{E94562CC-EA05-4915-A52C-6FB55D0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 обработки диалога</a:t>
            </a:r>
          </a:p>
        </p:txBody>
      </p:sp>
    </p:spTree>
    <p:extLst>
      <p:ext uri="{BB962C8B-B14F-4D97-AF65-F5344CB8AC3E}">
        <p14:creationId xmlns:p14="http://schemas.microsoft.com/office/powerpoint/2010/main" val="1459700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нтерфейс: знания и план изменений">
            <a:extLst xmlns:a="http://schemas.openxmlformats.org/drawingml/2006/main">
              <a:ext uri="{FF2B5EF4-FFF2-40B4-BE49-F238E27FC236}">
                <a16:creationId xmlns:a16="http://schemas.microsoft.com/office/drawing/2014/main" id="{0FC9E9F2-CE0F-4217-AE4C-04C51E4B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43B0ECD7-C6E5-499A-AF21-8202C99C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60020e4a5426d"/>
          <a:stretch xmlns:a="http://schemas.openxmlformats.org/drawingml/2006/main"/>
        </p:blipFill>
        <p:spPr>
          <a:xfrm xmlns:a="http://schemas.openxmlformats.org/drawingml/2006/main">
            <a:off x="685800" y="1468438"/>
            <a:ext cx="7639050" cy="5092700"/>
          </a:xfrm>
          <a:prstGeom xmlns:a="http://schemas.openxmlformats.org/drawingml/2006/main" prst="rect">
            <a:avLst/>
          </a:prstGeom>
        </p:spPr>
      </p:pic>
      <p:sp>
        <p:nvSpPr>
          <p:cNvPr id="4" name="Что сохранить">
            <a:extLst xmlns:a="http://schemas.openxmlformats.org/drawingml/2006/main">
              <a:ext uri="{FF2B5EF4-FFF2-40B4-BE49-F238E27FC236}">
                <a16:creationId xmlns:a16="http://schemas.microsoft.com/office/drawing/2014/main" id="{4FBC2A73-8DD1-4E20-91A5-EB0465DA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 xmlns:a="http://schemas.openxmlformats.org/drawingml/2006/main">
              <a:ext uri="{FF2B5EF4-FFF2-40B4-BE49-F238E27FC236}">
                <a16:creationId xmlns:a16="http://schemas.microsoft.com/office/drawing/2014/main" id="{D268D7DF-4DA7-46D0-AE70-97E11C2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 xmlns:a="http://schemas.openxmlformats.org/drawingml/2006/main">
              <a:ext uri="{FF2B5EF4-FFF2-40B4-BE49-F238E27FC236}">
                <a16:creationId xmlns:a16="http://schemas.microsoft.com/office/drawing/2014/main" id="{D1CF46F6-7EA1-431E-B1B9-3A95F86D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 xmlns:a="http://schemas.openxmlformats.org/drawingml/2006/main">
              <a:ext uri="{FF2B5EF4-FFF2-40B4-BE49-F238E27FC236}">
                <a16:creationId xmlns:a16="http://schemas.microsoft.com/office/drawing/2014/main" id="{D48855E6-70CE-45CA-ABDD-068FA43C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724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Связь с базой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выбор действия</a:t>
            </a:r>
          </a:p>
        </p:txBody>
      </p:sp>
      <p:sp>
        <p:nvSpPr>
          <p:cNvPr id="8" name="Концепция экрана">
            <a:extLst xmlns:a="http://schemas.openxmlformats.org/drawingml/2006/main">
              <a:ext uri="{FF2B5EF4-FFF2-40B4-BE49-F238E27FC236}">
                <a16:creationId xmlns:a16="http://schemas.microsoft.com/office/drawing/2014/main" id="{A1DD6A72-52A4-49FA-89CC-B20AAA23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9879509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чему решение может быть эффективнее">
            <a:extLst xmlns:a="http://schemas.openxmlformats.org/drawingml/2006/main">
              <a:ext uri="{FF2B5EF4-FFF2-40B4-BE49-F238E27FC236}">
                <a16:creationId xmlns:a16="http://schemas.microsoft.com/office/drawing/2014/main" id="{4B5949AF-99BD-4B9C-8538-17792DBA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3389BC51-87F5-4B69-BB05-F9029511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108204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3905250"/>
                <a:gridCol w="409575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Текущий способ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остаётся пользователю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предлагает агент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Выделить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Сопоставить содержание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 существующей базой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записями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Предложить новые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дополнения и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4" name="Ожидаем меньше ручной работы при сохранении контроля пользователя">
            <a:extLst xmlns:a="http://schemas.openxmlformats.org/drawingml/2006/main">
              <a:ext uri="{FF2B5EF4-FFF2-40B4-BE49-F238E27FC236}">
                <a16:creationId xmlns:a16="http://schemas.microsoft.com/office/drawing/2014/main" id="{73709C7A-9B49-44B8-9C3E-1BEEA1CB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Ожидаем меньше ручной работы при сохранении контроля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194152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ак проверить пользу интерфейса">
            <a:extLst xmlns:a="http://schemas.openxmlformats.org/drawingml/2006/main">
              <a:ext uri="{FF2B5EF4-FFF2-40B4-BE49-F238E27FC236}">
                <a16:creationId xmlns:a16="http://schemas.microsoft.com/office/drawing/2014/main" id="{6624FDC4-D28D-40D2-8614-7AB7091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AD93308-9CAF-4E51-BDB6-E49983ED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 xmlns:a="http://schemas.openxmlformats.org/drawingml/2006/main">
              <a:ext uri="{FF2B5EF4-FFF2-40B4-BE49-F238E27FC236}">
                <a16:creationId xmlns:a16="http://schemas.microsoft.com/office/drawing/2014/main" id="{48A69C04-E021-4445-A6A0-40598F68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 xmlns:a="http://schemas.openxmlformats.org/drawingml/2006/main">
              <a:ext uri="{FF2B5EF4-FFF2-40B4-BE49-F238E27FC236}">
                <a16:creationId xmlns:a16="http://schemas.microsoft.com/office/drawing/2014/main" id="{798A340B-99FD-4AE2-8927-0C04B28C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191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 xmlns:a="http://schemas.openxmlformats.org/drawingml/2006/main">
              <a:ext uri="{FF2B5EF4-FFF2-40B4-BE49-F238E27FC236}">
                <a16:creationId xmlns:a16="http://schemas.microsoft.com/office/drawing/2014/main" id="{99E1BEB5-A12C-410E-8121-5D0F188F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 xmlns:a="http://schemas.openxmlformats.org/drawingml/2006/main">
              <a:ext uri="{FF2B5EF4-FFF2-40B4-BE49-F238E27FC236}">
                <a16:creationId xmlns:a16="http://schemas.microsoft.com/office/drawing/2014/main" id="{DCBB8865-D89A-4680-9EE9-C27CCFA4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81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 xmlns:a="http://schemas.openxmlformats.org/drawingml/2006/main">
              <a:ext uri="{FF2B5EF4-FFF2-40B4-BE49-F238E27FC236}">
                <a16:creationId xmlns:a16="http://schemas.microsoft.com/office/drawing/2014/main" id="{A33EACED-0D47-47C4-927B-A70D2445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6672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 xmlns:a="http://schemas.openxmlformats.org/drawingml/2006/main">
              <a:ext uri="{FF2B5EF4-FFF2-40B4-BE49-F238E27FC236}">
                <a16:creationId xmlns:a16="http://schemas.microsoft.com/office/drawing/2014/main" id="{53915EE6-8F37-481D-A29E-97405627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1085736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2026-09-20T01:48:59.9060000Z</dcterms:created>
  <dcterms:modified xsi:type="dcterms:W3CDTF">2026-09-20T01:48:59.9060000Z</dcterms:modified>
</coreProperties>
</file>
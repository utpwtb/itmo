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5f6ca78f6f4b89" /><Relationship Type="http://schemas.openxmlformats.org/officeDocument/2006/relationships/extended-properties" Target="/docProps/app.xml" Id="Rf34af5ece9284154" /><Relationship Type="http://schemas.openxmlformats.org/officeDocument/2006/relationships/officeDocument" Target="/ppt/presentation.xml" Id="R01880a253e9c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5240b29ec846c6"/>
  </p:sldMasterIdLst>
  <p:notesMasterIdLst>
    <p:notesMasterId xmlns:r="http://schemas.openxmlformats.org/officeDocument/2006/relationships" r:id="Rdcab3e041c434726"/>
  </p:notesMasterIdLst>
  <p:sldIdLst>
    <p:sldId xmlns:r="http://schemas.openxmlformats.org/officeDocument/2006/relationships" id="256" r:id="R4cae38866089434c"/>
    <p:sldId xmlns:r="http://schemas.openxmlformats.org/officeDocument/2006/relationships" id="257" r:id="R9b2fb4eef6c043e7"/>
    <p:sldId xmlns:r="http://schemas.openxmlformats.org/officeDocument/2006/relationships" id="258" r:id="R7ac64cb976e94730"/>
    <p:sldId xmlns:r="http://schemas.openxmlformats.org/officeDocument/2006/relationships" id="259" r:id="R6a60cefef99a44c1"/>
    <p:sldId xmlns:r="http://schemas.openxmlformats.org/officeDocument/2006/relationships" id="260" r:id="R8b2a6986b80840ab"/>
    <p:sldId xmlns:r="http://schemas.openxmlformats.org/officeDocument/2006/relationships" id="261" r:id="R052568d2c8784584"/>
    <p:sldId xmlns:r="http://schemas.openxmlformats.org/officeDocument/2006/relationships" id="262" r:id="Rb5541e6f911241b3"/>
    <p:sldId xmlns:r="http://schemas.openxmlformats.org/officeDocument/2006/relationships" id="263" r:id="R2ea067f72f844e0a"/>
    <p:sldId xmlns:r="http://schemas.openxmlformats.org/officeDocument/2006/relationships" id="264" r:id="R848a06fc41ac42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d6f333e3984871" /><Relationship Type="http://schemas.openxmlformats.org/officeDocument/2006/relationships/slideMaster" Target="/ppt/slideMasters/slideMaster1.xml" Id="R825240b29ec846c6" /><Relationship Type="http://schemas.openxmlformats.org/officeDocument/2006/relationships/notesMaster" Target="/ppt/notesMasters/notesMaster1.xml" Id="Rdcab3e041c434726" /><Relationship Type="http://schemas.openxmlformats.org/officeDocument/2006/relationships/presProps" Target="/ppt/presProps.xml" Id="R832c03ad84d2418f" /><Relationship Type="http://schemas.openxmlformats.org/officeDocument/2006/relationships/tableStyles" Target="/ppt/tableStyles.xml" Id="Rb56738b4c50141dc" /><Relationship Type="http://schemas.openxmlformats.org/officeDocument/2006/relationships/slide" Target="/ppt/slides/slide1.xml" Id="R4cae38866089434c" /><Relationship Type="http://schemas.openxmlformats.org/officeDocument/2006/relationships/slide" Target="/ppt/slides/slide2.xml" Id="R9b2fb4eef6c043e7" /><Relationship Type="http://schemas.openxmlformats.org/officeDocument/2006/relationships/slide" Target="/ppt/slides/slide3.xml" Id="R7ac64cb976e94730" /><Relationship Type="http://schemas.openxmlformats.org/officeDocument/2006/relationships/slide" Target="/ppt/slides/slide4.xml" Id="R6a60cefef99a44c1" /><Relationship Type="http://schemas.openxmlformats.org/officeDocument/2006/relationships/slide" Target="/ppt/slides/slide5.xml" Id="R8b2a6986b80840ab" /><Relationship Type="http://schemas.openxmlformats.org/officeDocument/2006/relationships/slide" Target="/ppt/slides/slide6.xml" Id="R052568d2c8784584" /><Relationship Type="http://schemas.openxmlformats.org/officeDocument/2006/relationships/slide" Target="/ppt/slides/slide7.xml" Id="Rb5541e6f911241b3" /><Relationship Type="http://schemas.openxmlformats.org/officeDocument/2006/relationships/slide" Target="/ppt/slides/slide8.xml" Id="R2ea067f72f844e0a" /><Relationship Type="http://schemas.openxmlformats.org/officeDocument/2006/relationships/slide" Target="/ppt/slides/slide9.xml" Id="R848a06fc41ac42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54505e9864d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257043ec34377" /><Relationship Type="http://schemas.openxmlformats.org/officeDocument/2006/relationships/notesMaster" Target="/ppt/notesMasters/notesMaster1.xml" Id="Rf056893395a040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ee4ff6a0c74608" /><Relationship Type="http://schemas.openxmlformats.org/officeDocument/2006/relationships/notesMaster" Target="/ppt/notesMasters/notesMaster1.xml" Id="R523bd71770cb45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f38ca1af174756" /><Relationship Type="http://schemas.openxmlformats.org/officeDocument/2006/relationships/notesMaster" Target="/ppt/notesMasters/notesMaster1.xml" Id="Ra5a4aeff8b9443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d758fbc4dc40b1" /><Relationship Type="http://schemas.openxmlformats.org/officeDocument/2006/relationships/notesMaster" Target="/ppt/notesMasters/notesMaster1.xml" Id="R1227055c6c8c4a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196e20079d474e" /><Relationship Type="http://schemas.openxmlformats.org/officeDocument/2006/relationships/notesMaster" Target="/ppt/notesMasters/notesMaster1.xml" Id="Rb5d122ad81c843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f3dd0651084813" /><Relationship Type="http://schemas.openxmlformats.org/officeDocument/2006/relationships/notesMaster" Target="/ppt/notesMasters/notesMaster1.xml" Id="R4bd1b4deb09043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e86eb86b52469e" /><Relationship Type="http://schemas.openxmlformats.org/officeDocument/2006/relationships/notesMaster" Target="/ppt/notesMasters/notesMaster1.xml" Id="R9ad829c66b044b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e6791385e1490f" /><Relationship Type="http://schemas.openxmlformats.org/officeDocument/2006/relationships/notesMaster" Target="/ppt/notesMasters/notesMaster1.xml" Id="R7d2d8eb266ba40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dbe7a52eb44539" /><Relationship Type="http://schemas.openxmlformats.org/officeDocument/2006/relationships/notesMaster" Target="/ppt/notesMasters/notesMaster1.xml" Id="R3201802895a641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предлагаем интерфейс, который помогает превращать полезные диалоги с искусственным интеллектом в личную базу знаний. Проект называется Conversation-to-Knowledge Agent. Пользователь импортирует разговор, проверяет предложенные действия и сохраняет связанные заметки в Obsidian. Obsidian здесь служит хранилищем заметок в формате Markdown. Для лабораторной работы мы сосредоточились на потребности студентов и на том, как сделать проверку изменений понятной.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README.md, docs/requirements.md, разделы 1–3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Наша начальная аудитория — студенты технических направлений, которые регулярно обсуждают учебные темы с ИИ и уже ведут заметки в Obsidian. Мы выбираем достаточно узкую группу, потому что у неё есть понятный повторяющийся сценарий: разобраться в теме, сохранить объяснение и вернуться к нему перед лабораторной или экзаменом. Потребность возникает из-за разницы между форматом диалога и форматом конспекта. Это гипотеза аудитории, основанная на сценариях проекта. Интервью с пользователями ещё предстоит провести.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раздел 2. Аудитория и частота потребности — гипотеза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Представим, что студент обсуждает с ИИ Attention и Multi-Head Attention. В разговоре есть объяснение, вопросы и уточнения. При этом заметка Attention уже существует в его базе. Полезный результат — дополнить её новым примером и создать связанную заметку о Multi-Head Attention, если отдельной заметки ещё нет. Копирование всего разговора переносит в конспект повторения. Ручная обработка требует каждый раз решать, что сохранить, куда это поместить и как связать с другими материалами. Это иллюстративный сценарий из требований проекта, а не результат исследования.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US-2, US-4, US-7; frontend/src/components/PlanPanel.vue. Пример условный.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Сравним три способа решения одной задачи. История чата сохраняет исходный разговор, однако при повторном использовании студенту приходится искать нужные реплики и восстанавливать контекст. Ручной конспект в Obsidian даёт полный контроль, но требует выделять главное, проверять существующие заметки и расставлять связи. Наш агент предлагает эти действия с учётом базы, а пользователь проверяет решение. Ожидаемая эффективность связана с сокращением повторяющейся работы. Мы не утверждаем, что приложение уже доказало превосходство над всеми инструментами. В таблице сравниваются конкретные рабочие сценарии без дополнительных расширений и автоматизаций.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US-1–US-9. Сравнение сценариев и ожидаемый эффект — анализ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интерфейсе есть четыре основных этапа. Сначала пользователь вставляет текст диалога или импортирует файл. Затем приложение выделяет темы и показывает найденные знания. На этапе проверки пользователь видит, какие заметки агент предлагает создать или дополнить и почему. Отдельные действия можно исключить. После подтверждения приложение сохраняет изменения и показывает результат. По умолчанию запись требует одобрения. Это важно: пользователь принимает понятное решение, а не следит за техническими шагами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README.md; frontend/src/views/WorkbenchView.vue; frontend/src/components/ImportPanel.vue, ExtractionPanel.vue, PlanPanel.vue, ResultPanel.vue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слайде показана концепция русскоязычного экрана, а не снимок текущего приложения. Слева расположен список действий. Справа пользователь видит основания для выбранного действия, новый раздел и связь с другой заметкой. Прямо на экране объясняется, что до подтверждения файлы не изменятся. Можно исключить отдельное действие или отменить весь план. Такой экран должен помочь быстро ответить на вопросы: что изменится, почему и как это контролировать. Макет опирается на функции существующего компонента проверки плана.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frontend/src/components/PlanPanel.vue. Концептуальный макет создан с помощью встроенного imagegen, не является снимком работающего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проекте уже есть программная основа: импорт диалогов, выделение знаний, поиск по существующей базе, план изменений и запись после подтверждения. В рамках курса мы предлагаем сосредоточиться на пользовательском пути, русскоязычных формулировках и удобстве проверки. Текущий интерфейс в репозитории использует китайские подписи, поэтому русский макет показывает предлагаемое направление. Приложение рассчитано на одного пользователя и локальную базу Obsidian. Внешняя модель может получать текст для обработки. Кроме того, извлечение знаний не доказывает истинность утверждений ИИ. Проверка содержания пользователем остаётся необходимой.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README.md; docs/requirements.md, NFR-1; docs/known-limitations.md, раздел 4; frontend/src/components/PlanPanel.vue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мы проведём короткие интервью со студентами, чтобы выяснить, возникает ли проблема регулярно. Затем для предварительного теста пригласим шесть студентов, знакомых с Obsidian. Каждый обработает два сопоставимых диалога и небольшой подготовленный набор заметок: один вручную, другой через интерфейс. Половина участников начнёт с ручного способа, половина — с интерфейса. Мы измерим полное время до принятой заметки, включая ожидание модели и проверку. Также сравним пропуски ключевых идей, дубли и ошибочные связи. Цель пилота — сократить медианное время минимум на тридцать процентов без ухудшения качества. Это целевой критерий, а не достигнутый результат. Небольшой тест поможет найти проблемы интерфейса, но не докажет универсальное преимущество.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Предлагаемый план пользовательского исследования команды. Участники ещё не набраны, измерений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Таким образом, наша идея — интерфейс для сохранения полезных знаний из учебных диалогов с ИИ в Obsidian. У выбранной группы есть задача повторно использовать материал, который сейчас остаётся в истории чатов или требует ручного конспектирования. Предлагаемое решение переносит выделение и сопоставление знаний на агента и оставляет пользователю проверку конкретного плана. Поэтому мы ожидаем уменьшения ручной работы без потери контроля над базой. Следующий шаг команды — проверить потребность в интервью и провести тест основного сценария. Спасибо, готовы ответить на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Обобщение сценариев проекта и гипотез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d09ba78c14d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1989be0605422b" /><Relationship Type="http://schemas.openxmlformats.org/officeDocument/2006/relationships/slideLayout" Target="/ppt/slideLayouts/slideLayout1.xml" Id="R8b4f814145df43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4f814145df43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ca8bb1e2b4300" /><Relationship Type="http://schemas.openxmlformats.org/officeDocument/2006/relationships/notesSlide" Target="/ppt/notesSlides/notesSlide1.xml" Id="R79a4916ad36d4b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cf6bac5e24f3e" /><Relationship Type="http://schemas.openxmlformats.org/officeDocument/2006/relationships/notesSlide" Target="/ppt/notesSlides/notesSlide2.xml" Id="Rd5a43bf70ea74b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aaa5760754526" /><Relationship Type="http://schemas.openxmlformats.org/officeDocument/2006/relationships/notesSlide" Target="/ppt/notesSlides/notesSlide3.xml" Id="R814c29a3e9a9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8aa511d82468e" /><Relationship Type="http://schemas.openxmlformats.org/officeDocument/2006/relationships/notesSlide" Target="/ppt/notesSlides/notesSlide4.xml" Id="Rebc9bf873abd4d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7fde7ed824ac2" /><Relationship Type="http://schemas.openxmlformats.org/officeDocument/2006/relationships/notesSlide" Target="/ppt/notesSlides/notesSlide5.xml" Id="Rb4b4ae8012b24a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93c774be4592" /><Relationship Type="http://schemas.openxmlformats.org/officeDocument/2006/relationships/image" Target="/ppt/media/image.png" Id="Ra19b301232414675" /><Relationship Type="http://schemas.openxmlformats.org/officeDocument/2006/relationships/notesSlide" Target="/ppt/notesSlides/notesSlide6.xml" Id="R3f56dad2843848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ed4ee3ccd46ad" /><Relationship Type="http://schemas.openxmlformats.org/officeDocument/2006/relationships/notesSlide" Target="/ppt/notesSlides/notesSlide7.xml" Id="R9bda3c69e6d740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60416ba1748b8" /><Relationship Type="http://schemas.openxmlformats.org/officeDocument/2006/relationships/notesSlide" Target="/ppt/notesSlides/notesSlide8.xml" Id="Rdc77e6941af643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19821dbd14a89" /><Relationship Type="http://schemas.openxmlformats.org/officeDocument/2006/relationships/notesSlide" Target="/ppt/notesSlides/notesSlide9.xml" Id="Rab99f806e7fb41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0B075615-8AF4-4928-907C-5E444CE4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База знаний&#10;из диалогов с ИИ">
            <a:extLst xmlns:a="http://schemas.openxmlformats.org/drawingml/2006/main">
              <a:ext uri="{FF2B5EF4-FFF2-40B4-BE49-F238E27FC236}">
                <a16:creationId xmlns:a16="http://schemas.microsoft.com/office/drawing/2014/main" id="{17EC96A5-EE1C-4AE9-9424-09DC5AF3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знаний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диалогов с ИИ</a:t>
            </a:r>
          </a:p>
        </p:txBody>
      </p:sp>
      <p:sp>
        <p:nvSpPr>
          <p:cNvPr id="3" name="Идея интерфейса для студентов,&#10;которые учатся с по">
            <a:extLst xmlns:a="http://schemas.openxmlformats.org/drawingml/2006/main">
              <a:ext uri="{FF2B5EF4-FFF2-40B4-BE49-F238E27FC236}">
                <a16:creationId xmlns:a16="http://schemas.microsoft.com/office/drawing/2014/main" id="{03FDA8D4-4914-4FE7-8187-5FBF015A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Идея интерфейса для студентов,</a:t>
            </a:r>
          </a:p>
          <a:p xmlns:a="http://schemas.openxmlformats.org/drawingml/2006/main"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которые учатся с помощью ИИ</a:t>
            </a:r>
          </a:p>
        </p:txBody>
      </p:sp>
      <p:sp>
        <p:nvSpPr>
          <p:cNvPr id="4" name="Conversation-to-Knowledge Agent">
            <a:extLst xmlns:a="http://schemas.openxmlformats.org/drawingml/2006/main">
              <a:ext uri="{FF2B5EF4-FFF2-40B4-BE49-F238E27FC236}">
                <a16:creationId xmlns:a16="http://schemas.microsoft.com/office/drawing/2014/main" id="{AE156920-B9B6-42D7-BD49-18843CE3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</p:spTree>
    <p:extLst>
      <p:ext uri="{BB962C8B-B14F-4D97-AF65-F5344CB8AC3E}">
        <p14:creationId xmlns:p14="http://schemas.microsoft.com/office/powerpoint/2010/main" val="1451599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ому нужен этот интерфейс">
            <a:extLst xmlns:a="http://schemas.openxmlformats.org/drawingml/2006/main">
              <a:ext uri="{FF2B5EF4-FFF2-40B4-BE49-F238E27FC236}">
                <a16:creationId xmlns:a16="http://schemas.microsoft.com/office/drawing/2014/main" id="{501DF4EB-8CAA-4140-87E9-A5F98D1D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Кому нужен этот интерфейс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08144F21-9FB5-49B9-9987-FB17653C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Студенты технических&#10;направлений">
            <a:extLst xmlns:a="http://schemas.openxmlformats.org/drawingml/2006/main">
              <a:ext uri="{FF2B5EF4-FFF2-40B4-BE49-F238E27FC236}">
                <a16:creationId xmlns:a16="http://schemas.microsoft.com/office/drawing/2014/main" id="{16CCB98B-EE07-49AF-8721-15C10FFB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Студенты технических</a:t>
            </a:r>
          </a:p>
          <a:p xmlns:a="http://schemas.openxmlformats.org/drawingml/2006/main">
            <a:pPr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направлений</a:t>
            </a:r>
          </a:p>
        </p:txBody>
      </p:sp>
      <p:sp>
        <p:nvSpPr>
          <p:cNvPr id="4" name="Учатся с ИИ и ведут&#10;заметки в Obsidian">
            <a:extLst xmlns:a="http://schemas.openxmlformats.org/drawingml/2006/main">
              <a:ext uri="{FF2B5EF4-FFF2-40B4-BE49-F238E27FC236}">
                <a16:creationId xmlns:a16="http://schemas.microsoft.com/office/drawing/2014/main" id="{8B907E94-1162-40FB-9FA1-DD53E6A0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Учатся с ИИ и ведут</a:t>
            </a:r>
          </a:p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заметки в Obsidian</a:t>
            </a:r>
          </a:p>
        </p:txBody>
      </p:sp>
      <p:sp>
        <p:nvSpPr>
          <p:cNvPr id="5" name="Когда возникает задача">
            <a:extLst xmlns:a="http://schemas.openxmlformats.org/drawingml/2006/main">
              <a:ext uri="{FF2B5EF4-FFF2-40B4-BE49-F238E27FC236}">
                <a16:creationId xmlns:a16="http://schemas.microsoft.com/office/drawing/2014/main" id="{2F82E1FC-7A50-4E75-87A9-C1F3ABBC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Когда возникает задача</a:t>
            </a:r>
          </a:p>
        </p:txBody>
      </p:sp>
      <p:sp>
        <p:nvSpPr>
          <p:cNvPr id="6" name="После диалога нужно сохранить&#10;объяснение и примеры">
            <a:extLst xmlns:a="http://schemas.openxmlformats.org/drawingml/2006/main">
              <a:ext uri="{FF2B5EF4-FFF2-40B4-BE49-F238E27FC236}">
                <a16:creationId xmlns:a16="http://schemas.microsoft.com/office/drawing/2014/main" id="{2F924F5A-8715-46CA-8896-C9550605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После диалога нужно сохранить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объяснение и примеры.</a:t>
            </a:r>
          </a:p>
        </p:txBody>
      </p:sp>
      <p:sp>
        <p:nvSpPr>
          <p:cNvPr id="7" name="Перед лабораторной нужно&#10;найти материал по теме.">
            <a:extLst xmlns:a="http://schemas.openxmlformats.org/drawingml/2006/main">
              <a:ext uri="{FF2B5EF4-FFF2-40B4-BE49-F238E27FC236}">
                <a16:creationId xmlns:a16="http://schemas.microsoft.com/office/drawing/2014/main" id="{D48EEB68-F6BE-4E27-B5C2-80685213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90925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Перед лабораторной нужно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найти материал по теме.</a:t>
            </a:r>
          </a:p>
        </p:txBody>
      </p:sp>
      <p:sp>
        <p:nvSpPr>
          <p:cNvPr id="8" name="Новые сведения нужно связать&#10;с уже изученным.">
            <a:extLst xmlns:a="http://schemas.openxmlformats.org/drawingml/2006/main">
              <a:ext uri="{FF2B5EF4-FFF2-40B4-BE49-F238E27FC236}">
                <a16:creationId xmlns:a16="http://schemas.microsoft.com/office/drawing/2014/main" id="{03CA5C97-A69C-432D-8F01-0E57A805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Новые сведения нужно связать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 уже изученным.</a:t>
            </a:r>
          </a:p>
        </p:txBody>
      </p:sp>
      <p:sp>
        <p:nvSpPr>
          <p:cNvPr id="9" name="Гипотеза аудитории, которую проверим в интервью">
            <a:extLst xmlns:a="http://schemas.openxmlformats.org/drawingml/2006/main">
              <a:ext uri="{FF2B5EF4-FFF2-40B4-BE49-F238E27FC236}">
                <a16:creationId xmlns:a16="http://schemas.microsoft.com/office/drawing/2014/main" id="{B32ECF26-7047-4D67-8E32-C1CB6433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Гипотеза аудитории, которую проверим в интервью</a:t>
            </a:r>
          </a:p>
        </p:txBody>
      </p:sp>
    </p:spTree>
    <p:extLst>
      <p:ext uri="{BB962C8B-B14F-4D97-AF65-F5344CB8AC3E}">
        <p14:creationId xmlns:p14="http://schemas.microsoft.com/office/powerpoint/2010/main" val="1606705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Один учебный сценарий">
            <a:extLst xmlns:a="http://schemas.openxmlformats.org/drawingml/2006/main">
              <a:ext uri="{FF2B5EF4-FFF2-40B4-BE49-F238E27FC236}">
                <a16:creationId xmlns:a16="http://schemas.microsoft.com/office/drawing/2014/main" id="{785B0A81-40C9-4B7F-A8D1-8AC35BA1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Один учебный сценарий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02EB8BF6-D860-4746-A233-6CC1E0EA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Контекст">
            <a:extLst xmlns:a="http://schemas.openxmlformats.org/drawingml/2006/main">
              <a:ext uri="{FF2B5EF4-FFF2-40B4-BE49-F238E27FC236}">
                <a16:creationId xmlns:a16="http://schemas.microsoft.com/office/drawing/2014/main" id="{300398D0-298D-447C-80DB-9B39C285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4" name="Диалог об Attention&#10;и Multi-Head Attention">
            <a:extLst xmlns:a="http://schemas.openxmlformats.org/drawingml/2006/main">
              <a:ext uri="{FF2B5EF4-FFF2-40B4-BE49-F238E27FC236}">
                <a16:creationId xmlns:a16="http://schemas.microsoft.com/office/drawing/2014/main" id="{AD951298-DB57-4E2E-9D04-DB57C9A7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4762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Диалог об Attention</a:t>
            </a:r>
          </a:p>
          <a:p xmlns:a="http://schemas.openxmlformats.org/drawingml/2006/main">
            <a:pPr>
              <a:defRPr sz="29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 Multi-Head Attention</a:t>
            </a:r>
          </a:p>
        </p:txBody>
      </p:sp>
      <p:sp>
        <p:nvSpPr>
          <p:cNvPr id="5" name="В базе уже есть&#10;заметка Attention">
            <a:extLst xmlns:a="http://schemas.openxmlformats.org/drawingml/2006/main">
              <a:ext uri="{FF2B5EF4-FFF2-40B4-BE49-F238E27FC236}">
                <a16:creationId xmlns:a16="http://schemas.microsoft.com/office/drawing/2014/main" id="{0C659964-60C3-4670-A1B5-5B92DDD7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 базе уже есть</a:t>
            </a:r>
          </a:p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заметка Attention</a:t>
            </a:r>
          </a:p>
        </p:txBody>
      </p:sp>
      <p:sp>
        <p:nvSpPr>
          <p:cNvPr id="6" name="Нужный результат">
            <a:extLst xmlns:a="http://schemas.openxmlformats.org/drawingml/2006/main">
              <a:ext uri="{FF2B5EF4-FFF2-40B4-BE49-F238E27FC236}">
                <a16:creationId xmlns:a16="http://schemas.microsoft.com/office/drawing/2014/main" id="{DF755AC8-740C-453D-8F5A-4FDD4D2C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Нужный результат</a:t>
            </a:r>
          </a:p>
        </p:txBody>
      </p:sp>
      <p:sp>
        <p:nvSpPr>
          <p:cNvPr id="7" name="Дополнить существующую&#10;заметку новым примером">
            <a:extLst xmlns:a="http://schemas.openxmlformats.org/drawingml/2006/main">
              <a:ext uri="{FF2B5EF4-FFF2-40B4-BE49-F238E27FC236}">
                <a16:creationId xmlns:a16="http://schemas.microsoft.com/office/drawing/2014/main" id="{387F9ABC-3885-4A0D-A574-3F5687D2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622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Дополнить существующую</a:t>
            </a:r>
          </a:p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заметку новым примером</a:t>
            </a:r>
          </a:p>
        </p:txBody>
      </p:sp>
      <p:sp>
        <p:nvSpPr>
          <p:cNvPr id="8" name="Создать связанную заметку&#10;по новой теме">
            <a:extLst xmlns:a="http://schemas.openxmlformats.org/drawingml/2006/main">
              <a:ext uri="{FF2B5EF4-FFF2-40B4-BE49-F238E27FC236}">
                <a16:creationId xmlns:a16="http://schemas.microsoft.com/office/drawing/2014/main" id="{95682777-4079-46DB-874A-AB60F51C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290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Создать связанную заметку</a:t>
            </a:r>
          </a:p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 новой теме</a:t>
            </a:r>
          </a:p>
        </p:txBody>
      </p:sp>
      <p:sp>
        <p:nvSpPr>
          <p:cNvPr id="9" name="Задача пользователя: сохранить знания без повторно">
            <a:extLst xmlns:a="http://schemas.openxmlformats.org/drawingml/2006/main">
              <a:ext uri="{FF2B5EF4-FFF2-40B4-BE49-F238E27FC236}">
                <a16:creationId xmlns:a16="http://schemas.microsoft.com/office/drawing/2014/main" id="{57A26A82-0637-4B06-9918-587BCD87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Задача пользователя: сохранить знания без повторного ручного разбора</a:t>
            </a:r>
          </a:p>
        </p:txBody>
      </p:sp>
    </p:spTree>
    <p:extLst>
      <p:ext uri="{BB962C8B-B14F-4D97-AF65-F5344CB8AC3E}">
        <p14:creationId xmlns:p14="http://schemas.microsoft.com/office/powerpoint/2010/main" val="1121147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Сравнение способов работы">
            <a:extLst xmlns:a="http://schemas.openxmlformats.org/drawingml/2006/main">
              <a:ext uri="{FF2B5EF4-FFF2-40B4-BE49-F238E27FC236}">
                <a16:creationId xmlns:a16="http://schemas.microsoft.com/office/drawing/2014/main" id="{24F6B598-DEA2-4144-994C-F2960A1B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Сравнение способов работы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A0C2CD4D-F930-48BE-B15E-56EE4E27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952875"/>
                <a:gridCol w="4105275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</a:t>
                      </a:r>
                    </a:p>
                  </a:txBody>
                  <a:tcPr marL="190500" marR="171450" marT="152400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получает пользователь</a:t>
                      </a:r>
                    </a:p>
                  </a:txBody>
                  <a:tcPr marL="190500" marR="171450" marT="152400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 вручную</a:t>
                      </a:r>
                    </a:p>
                  </a:txBody>
                  <a:tcPr marL="190500" marR="171450" marT="152400" marB="114300" anchor="ctr">
                    <a:solidFill>
                      <a:srgbClr val="182B3A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История чата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Исходный разговор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Ищет объяснение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среди реплик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Ручной конспект</a:t>
                      </a:r>
                    </a:p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 Obsidian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Структуру и связи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под своим контролем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Выделяет главное,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проверяет повторы</a:t>
                      </a:r>
                    </a:p>
                  </a:txBody>
                  <a:tcPr marL="190500" marR="171450" marT="152400" marB="114300" anchor="ctr">
                    <a:solidFill>
                      <a:srgbClr val="F7F6F2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Наш интерфейс</a:t>
                      </a:r>
                    </a:p>
                  </a:txBody>
                  <a:tcPr marL="190500" marR="171450" marT="152400" marB="1143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План новых заметок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дополнений к базе</a:t>
                      </a:r>
                    </a:p>
                  </a:txBody>
                  <a:tcPr marL="190500" marR="171450" marT="152400" marB="114300" anchor="ctr"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Проверяет предложения</a:t>
                      </a:r>
                    </a:p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подтверждает запись</a:t>
                      </a:r>
                    </a:p>
                  </a:txBody>
                  <a:tcPr marL="190500" marR="171450" marT="152400" marB="114300" anchor="ctr">
                    <a:solidFill>
                      <a:srgbClr val="EAF0FC"/>
                    </a:solidFill>
                  </a:tcPr>
                </a:tc>
              </a:tr>
            </a:tbl>
          </a:graphicData>
        </a:graphic>
      </p:graphicFrame>
      <p:sp>
        <p:nvSpPr>
          <p:cNvPr id="4" name="Ожидаемый выигрыш: меньше ручного переноса и повто">
            <a:extLst xmlns:a="http://schemas.openxmlformats.org/drawingml/2006/main">
              <a:ext uri="{FF2B5EF4-FFF2-40B4-BE49-F238E27FC236}">
                <a16:creationId xmlns:a16="http://schemas.microsoft.com/office/drawing/2014/main" id="{2C623D57-5A1B-4411-A9F8-CECE4730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Ожидаемый выигрыш: меньше ручного переноса и повторного поиска</a:t>
            </a:r>
          </a:p>
        </p:txBody>
      </p:sp>
    </p:spTree>
    <p:extLst>
      <p:ext uri="{BB962C8B-B14F-4D97-AF65-F5344CB8AC3E}">
        <p14:creationId xmlns:p14="http://schemas.microsoft.com/office/powerpoint/2010/main" val="737977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Как работает интерфейс">
            <a:extLst xmlns:a="http://schemas.openxmlformats.org/drawingml/2006/main">
              <a:ext uri="{FF2B5EF4-FFF2-40B4-BE49-F238E27FC236}">
                <a16:creationId xmlns:a16="http://schemas.microsoft.com/office/drawing/2014/main" id="{FC04401D-855D-45E9-A7BA-EBF2ECC1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работает интерфейс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A4D96E77-BD00-4F37-9E6B-BA43B8F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FAF54F4E-D70F-4C6B-B60D-701067B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Импорт">
            <a:extLst xmlns:a="http://schemas.openxmlformats.org/drawingml/2006/main">
              <a:ext uri="{FF2B5EF4-FFF2-40B4-BE49-F238E27FC236}">
                <a16:creationId xmlns:a16="http://schemas.microsoft.com/office/drawing/2014/main" id="{EB5D9967-0A39-4E22-A06C-A37A731D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288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Импорт</a:t>
            </a:r>
          </a:p>
        </p:txBody>
      </p:sp>
      <p:sp>
        <p:nvSpPr>
          <p:cNvPr id="5" name="Вставить диалог или выбрать файл">
            <a:extLst xmlns:a="http://schemas.openxmlformats.org/drawingml/2006/main">
              <a:ext uri="{FF2B5EF4-FFF2-40B4-BE49-F238E27FC236}">
                <a16:creationId xmlns:a16="http://schemas.microsoft.com/office/drawing/2014/main" id="{30B65B81-7271-4780-BE54-2178B244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87642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Вставить диалог или выбрать файл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7868EBF1-19A0-4CA3-BE7B-C032712A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Анализ">
            <a:extLst xmlns:a="http://schemas.openxmlformats.org/drawingml/2006/main">
              <a:ext uri="{FF2B5EF4-FFF2-40B4-BE49-F238E27FC236}">
                <a16:creationId xmlns:a16="http://schemas.microsoft.com/office/drawing/2014/main" id="{28F0C8A4-926E-4FCC-90C4-0FA6E38D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384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8" name="Посмотреть темы и найденные знания">
            <a:extLst xmlns:a="http://schemas.openxmlformats.org/drawingml/2006/main">
              <a:ext uri="{FF2B5EF4-FFF2-40B4-BE49-F238E27FC236}">
                <a16:creationId xmlns:a16="http://schemas.microsoft.com/office/drawing/2014/main" id="{477D6320-33FC-4CB5-97DD-C484DF1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8607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Посмотреть темы и найденные знания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6ED5FBDB-73E9-4233-A577-8936D16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оверка">
            <a:extLst xmlns:a="http://schemas.openxmlformats.org/drawingml/2006/main">
              <a:ext uri="{FF2B5EF4-FFF2-40B4-BE49-F238E27FC236}">
                <a16:creationId xmlns:a16="http://schemas.microsoft.com/office/drawing/2014/main" id="{C50E9E1C-17A1-4A8C-9FB1-69C2FFEE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481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1" name="Проверить действия и исключить лишнее">
            <a:extLst xmlns:a="http://schemas.openxmlformats.org/drawingml/2006/main">
              <a:ext uri="{FF2B5EF4-FFF2-40B4-BE49-F238E27FC236}">
                <a16:creationId xmlns:a16="http://schemas.microsoft.com/office/drawing/2014/main" id="{84022AA8-A34E-40D4-B1FF-3D83AFE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9572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Проверить действия и исключить лишнее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59F213AA-5AF3-4932-8BAF-C412DDB7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1BC45F41-D4BA-4D5A-AB39-0DE7A47F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57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4" name="Подтвердить запись и увидеть изменения">
            <a:extLst xmlns:a="http://schemas.openxmlformats.org/drawingml/2006/main">
              <a:ext uri="{FF2B5EF4-FFF2-40B4-BE49-F238E27FC236}">
                <a16:creationId xmlns:a16="http://schemas.microsoft.com/office/drawing/2014/main" id="{CD23E5AB-BF23-4819-A8D4-53BFDCE4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05375"/>
            <a:ext cx="65436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Подтвердить запись и увидеть изменения</a:t>
            </a:r>
          </a:p>
        </p:txBody>
      </p:sp>
      <p:sp>
        <p:nvSpPr>
          <p:cNvPr id="15" name="По умолчанию пользователь подтверждает изменения д">
            <a:extLst xmlns:a="http://schemas.openxmlformats.org/drawingml/2006/main">
              <a:ext uri="{FF2B5EF4-FFF2-40B4-BE49-F238E27FC236}">
                <a16:creationId xmlns:a16="http://schemas.microsoft.com/office/drawing/2014/main" id="{E21AFD2D-6AB4-4AC2-BA8D-E40D2C68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 умолчанию пользователь подтверждает изменения до записи</a:t>
            </a:r>
          </a:p>
        </p:txBody>
      </p:sp>
    </p:spTree>
    <p:extLst>
      <p:ext uri="{BB962C8B-B14F-4D97-AF65-F5344CB8AC3E}">
        <p14:creationId xmlns:p14="http://schemas.microsoft.com/office/powerpoint/2010/main" val="1840860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Ключевой экран: проверка изменений">
            <a:extLst xmlns:a="http://schemas.openxmlformats.org/drawingml/2006/main">
              <a:ext uri="{FF2B5EF4-FFF2-40B4-BE49-F238E27FC236}">
                <a16:creationId xmlns:a16="http://schemas.microsoft.com/office/drawing/2014/main" id="{09FF3C28-AD92-4AFE-BD31-1BB52BEF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Ключевой экран: проверка изменений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C3BF38D3-EBBB-424D-8C00-94E4A9A1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b301232414675"/>
          <a:stretch xmlns:a="http://schemas.openxmlformats.org/drawingml/2006/main"/>
        </p:blipFill>
        <p:spPr>
          <a:xfrm xmlns:a="http://schemas.openxmlformats.org/drawingml/2006/main">
            <a:off x="685800" y="1420813"/>
            <a:ext cx="7696200" cy="5130800"/>
          </a:xfrm>
          <a:prstGeom xmlns:a="http://schemas.openxmlformats.org/drawingml/2006/main" prst="rect">
            <a:avLst/>
          </a:prstGeom>
        </p:spPr>
      </p:pic>
      <p:sp>
        <p:nvSpPr>
          <p:cNvPr id="4" name="Что изменится">
            <a:extLst xmlns:a="http://schemas.openxmlformats.org/drawingml/2006/main">
              <a:ext uri="{FF2B5EF4-FFF2-40B4-BE49-F238E27FC236}">
                <a16:creationId xmlns:a16="http://schemas.microsoft.com/office/drawing/2014/main" id="{3F15D3D5-D749-4F5B-A2D5-9BB9921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1930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 изменится</a:t>
            </a:r>
          </a:p>
        </p:txBody>
      </p:sp>
      <p:sp>
        <p:nvSpPr>
          <p:cNvPr id="5" name="Действия и темы&#10;в одном списке">
            <a:extLst xmlns:a="http://schemas.openxmlformats.org/drawingml/2006/main">
              <a:ext uri="{FF2B5EF4-FFF2-40B4-BE49-F238E27FC236}">
                <a16:creationId xmlns:a16="http://schemas.microsoft.com/office/drawing/2014/main" id="{79F295B3-1206-4874-A539-A9096A40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Действия и темы</a:t>
            </a:r>
          </a:p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 одном списке</a:t>
            </a:r>
          </a:p>
        </p:txBody>
      </p:sp>
      <p:sp>
        <p:nvSpPr>
          <p:cNvPr id="6" name="Почему и как">
            <a:extLst xmlns:a="http://schemas.openxmlformats.org/drawingml/2006/main">
              <a:ext uri="{FF2B5EF4-FFF2-40B4-BE49-F238E27FC236}">
                <a16:creationId xmlns:a16="http://schemas.microsoft.com/office/drawing/2014/main" id="{084F234D-1E55-4ECB-95B4-4A29146A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0522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Почему и как</a:t>
            </a:r>
          </a:p>
        </p:txBody>
      </p:sp>
      <p:sp>
        <p:nvSpPr>
          <p:cNvPr id="7" name="Основание решения&#10;и явное подтверждение">
            <a:extLst xmlns:a="http://schemas.openxmlformats.org/drawingml/2006/main">
              <a:ext uri="{FF2B5EF4-FFF2-40B4-BE49-F238E27FC236}">
                <a16:creationId xmlns:a16="http://schemas.microsoft.com/office/drawing/2014/main" id="{AFD605ED-1195-4EDF-929C-8ECEBD40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0050"/>
            <a:ext cx="2714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Основание решения</a:t>
            </a:r>
          </a:p>
          <a:p xmlns:a="http://schemas.openxmlformats.org/drawingml/2006/main">
            <a:pPr>
              <a:defRPr sz="19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явное подтверждение</a:t>
            </a:r>
          </a:p>
        </p:txBody>
      </p:sp>
      <p:sp>
        <p:nvSpPr>
          <p:cNvPr id="8" name="Концепция экрана">
            <a:extLst xmlns:a="http://schemas.openxmlformats.org/drawingml/2006/main">
              <a:ext uri="{FF2B5EF4-FFF2-40B4-BE49-F238E27FC236}">
                <a16:creationId xmlns:a16="http://schemas.microsoft.com/office/drawing/2014/main" id="{247C424C-3D0B-4CC7-A9A5-2C392E6B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340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Концепция экрана</a:t>
            </a:r>
          </a:p>
        </p:txBody>
      </p:sp>
    </p:spTree>
    <p:extLst>
      <p:ext uri="{BB962C8B-B14F-4D97-AF65-F5344CB8AC3E}">
        <p14:creationId xmlns:p14="http://schemas.microsoft.com/office/powerpoint/2010/main" val="2037997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Основа проекта и границы идеи">
            <a:extLst xmlns:a="http://schemas.openxmlformats.org/drawingml/2006/main">
              <a:ext uri="{FF2B5EF4-FFF2-40B4-BE49-F238E27FC236}">
                <a16:creationId xmlns:a16="http://schemas.microsoft.com/office/drawing/2014/main" id="{75794D1C-333F-4147-9058-7C42FF7F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 проекта и границы идеи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B1E1F5FD-9CAD-4047-A177-957A7D8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Уже есть в проекте">
            <a:extLst xmlns:a="http://schemas.openxmlformats.org/drawingml/2006/main">
              <a:ext uri="{FF2B5EF4-FFF2-40B4-BE49-F238E27FC236}">
                <a16:creationId xmlns:a16="http://schemas.microsoft.com/office/drawing/2014/main" id="{106AF46B-D8DC-474E-B013-0E33B2C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Уже есть в проекте</a:t>
            </a:r>
          </a:p>
        </p:txBody>
      </p:sp>
      <p:sp>
        <p:nvSpPr>
          <p:cNvPr id="4" name="Импорт и выделение знаний&#10;Поиск по существующим за">
            <a:extLst xmlns:a="http://schemas.openxmlformats.org/drawingml/2006/main">
              <a:ext uri="{FF2B5EF4-FFF2-40B4-BE49-F238E27FC236}">
                <a16:creationId xmlns:a16="http://schemas.microsoft.com/office/drawing/2014/main" id="{F6C7E814-81C9-440C-B233-44A8D2A7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Импорт и выделение знаний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Поиск по существующим заметкам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План изменений с подтверждением</a:t>
            </a:r>
          </a:p>
        </p:txBody>
      </p:sp>
      <p:sp>
        <p:nvSpPr>
          <p:cNvPr id="5" name="Фокус работы по курсу">
            <a:extLst xmlns:a="http://schemas.openxmlformats.org/drawingml/2006/main">
              <a:ext uri="{FF2B5EF4-FFF2-40B4-BE49-F238E27FC236}">
                <a16:creationId xmlns:a16="http://schemas.microsoft.com/office/drawing/2014/main" id="{5F368E19-B4F1-428C-A063-DE647C23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Фокус работы по курсу</a:t>
            </a:r>
          </a:p>
        </p:txBody>
      </p:sp>
      <p:sp>
        <p:nvSpPr>
          <p:cNvPr id="6" name="Понятный путь пользователя&#10;Русскоязычный экран про">
            <a:extLst xmlns:a="http://schemas.openxmlformats.org/drawingml/2006/main">
              <a:ext uri="{FF2B5EF4-FFF2-40B4-BE49-F238E27FC236}">
                <a16:creationId xmlns:a16="http://schemas.microsoft.com/office/drawing/2014/main" id="{0A544931-5FE9-42D6-B187-554583BA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Понятный путь пользователя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Русскоязычный экран проверки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Тестирование удобства</a:t>
            </a:r>
          </a:p>
        </p:txBody>
      </p:sp>
      <p:sp>
        <p:nvSpPr>
          <p:cNvPr id="7" name="Личная база Obsidian. Содержание требует проверки.">
            <a:extLst xmlns:a="http://schemas.openxmlformats.org/drawingml/2006/main">
              <a:ext uri="{FF2B5EF4-FFF2-40B4-BE49-F238E27FC236}">
                <a16:creationId xmlns:a16="http://schemas.microsoft.com/office/drawing/2014/main" id="{AFAFC487-AEB7-427F-BBF8-5DA44E4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Личная база Obsidian. Содержание требует проверки.</a:t>
            </a:r>
          </a:p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При выборе внешней модели текст отправляется её провайдеру.</a:t>
            </a:r>
          </a:p>
        </p:txBody>
      </p:sp>
    </p:spTree>
    <p:extLst>
      <p:ext uri="{BB962C8B-B14F-4D97-AF65-F5344CB8AC3E}">
        <p14:creationId xmlns:p14="http://schemas.microsoft.com/office/powerpoint/2010/main" val="308094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Как проверим эффективность">
            <a:extLst xmlns:a="http://schemas.openxmlformats.org/drawingml/2006/main">
              <a:ext uri="{FF2B5EF4-FFF2-40B4-BE49-F238E27FC236}">
                <a16:creationId xmlns:a16="http://schemas.microsoft.com/office/drawing/2014/main" id="{6347849F-DA60-4339-8264-E5C3F5F8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проверим эффективность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07994EC6-DDD6-43B2-ABAB-C27C54F9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30%">
            <a:extLst xmlns:a="http://schemas.openxmlformats.org/drawingml/2006/main">
              <a:ext uri="{FF2B5EF4-FFF2-40B4-BE49-F238E27FC236}">
                <a16:creationId xmlns:a16="http://schemas.microsoft.com/office/drawing/2014/main" id="{1CC9B961-8392-4828-A3D7-76140EE4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4" name="Цель: сократить медианное&#10;время работы минимум на ">
            <a:extLst xmlns:a="http://schemas.openxmlformats.org/drawingml/2006/main">
              <a:ext uri="{FF2B5EF4-FFF2-40B4-BE49-F238E27FC236}">
                <a16:creationId xmlns:a16="http://schemas.microsoft.com/office/drawing/2014/main" id="{C5DCCE1A-55ED-48D8-ADFB-10F51F7D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Цель: сократить медианное</a:t>
            </a:r>
          </a:p>
          <a:p xmlns:a="http://schemas.openxmlformats.org/drawingml/2006/main">
            <a:pPr>
              <a:defRPr sz="23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время работы минимум на 30%</a:t>
            </a:r>
          </a:p>
        </p:txBody>
      </p:sp>
      <p:sp>
        <p:nvSpPr>
          <p:cNvPr id="5" name="При качестве не хуже&#10;ручного конспекта">
            <a:extLst xmlns:a="http://schemas.openxmlformats.org/drawingml/2006/main">
              <a:ext uri="{FF2B5EF4-FFF2-40B4-BE49-F238E27FC236}">
                <a16:creationId xmlns:a16="http://schemas.microsoft.com/office/drawing/2014/main" id="{46FC310C-32C7-4C2C-9B99-BA8A866D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714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При качестве не хуже</a:t>
            </a:r>
          </a:p>
          <a:p xmlns:a="http://schemas.openxmlformats.org/drawingml/2006/main">
            <a:pPr>
              <a:defRPr sz="210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ручного конспекта</a:t>
            </a:r>
          </a:p>
        </p:txBody>
      </p:sp>
      <p:sp>
        <p:nvSpPr>
          <p:cNvPr id="6" name="Предварительный тест">
            <a:extLst xmlns:a="http://schemas.openxmlformats.org/drawingml/2006/main">
              <a:ext uri="{FF2B5EF4-FFF2-40B4-BE49-F238E27FC236}">
                <a16:creationId xmlns:a16="http://schemas.microsoft.com/office/drawing/2014/main" id="{AFE8C5A5-6CF2-440E-935C-46428A0F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8595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Предварительный тест</a:t>
            </a:r>
          </a:p>
        </p:txBody>
      </p:sp>
      <p:sp>
        <p:nvSpPr>
          <p:cNvPr id="7" name="6 студентов, 2 сопоставимых диалога&#10;Ручной способ ">
            <a:extLst xmlns:a="http://schemas.openxmlformats.org/drawingml/2006/main">
              <a:ext uri="{FF2B5EF4-FFF2-40B4-BE49-F238E27FC236}">
                <a16:creationId xmlns:a16="http://schemas.microsoft.com/office/drawing/2014/main" id="{9DEA50F0-B418-4283-A3D2-B5B2C548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19375"/>
            <a:ext cx="49530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6 студентов, 2 сопоставимых диалога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Ручной способ и наш интерфейс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Порядок способов меняется</a:t>
            </a:r>
          </a:p>
        </p:txBody>
      </p:sp>
      <p:sp>
        <p:nvSpPr>
          <p:cNvPr id="8" name="Измеряем полное время, пропуски,&#10;дубли и ошибочные">
            <a:extLst xmlns:a="http://schemas.openxmlformats.org/drawingml/2006/main">
              <a:ext uri="{FF2B5EF4-FFF2-40B4-BE49-F238E27FC236}">
                <a16:creationId xmlns:a16="http://schemas.microsoft.com/office/drawing/2014/main" id="{72FDF101-6842-4911-9DCC-AA393137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386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Измеряем полное время, пропуски,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дубли и ошибочные связи</a:t>
            </a:r>
          </a:p>
        </p:txBody>
      </p:sp>
      <p:sp>
        <p:nvSpPr>
          <p:cNvPr id="9" name="Критерий успеха, а не результат измерений">
            <a:extLst xmlns:a="http://schemas.openxmlformats.org/drawingml/2006/main">
              <a:ext uri="{FF2B5EF4-FFF2-40B4-BE49-F238E27FC236}">
                <a16:creationId xmlns:a16="http://schemas.microsoft.com/office/drawing/2014/main" id="{E1523421-ECE3-4291-AEBC-0DB2983F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Критерий успеха, а не результат измерений</a:t>
            </a:r>
          </a:p>
        </p:txBody>
      </p:sp>
    </p:spTree>
    <p:extLst>
      <p:ext uri="{BB962C8B-B14F-4D97-AF65-F5344CB8AC3E}">
        <p14:creationId xmlns:p14="http://schemas.microsoft.com/office/powerpoint/2010/main" val="14623230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Идея проекта">
            <a:extLst xmlns:a="http://schemas.openxmlformats.org/drawingml/2006/main">
              <a:ext uri="{FF2B5EF4-FFF2-40B4-BE49-F238E27FC236}">
                <a16:creationId xmlns:a16="http://schemas.microsoft.com/office/drawing/2014/main" id="{EA5B5389-E026-4B7B-B7B3-CED1569E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715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Идея проекта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0F8670E2-5EF3-4D75-90D6-223D4E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Сохранить полезное из диалога&#10;в связанную базу зна">
            <a:extLst xmlns:a="http://schemas.openxmlformats.org/drawingml/2006/main">
              <a:ext uri="{FF2B5EF4-FFF2-40B4-BE49-F238E27FC236}">
                <a16:creationId xmlns:a16="http://schemas.microsoft.com/office/drawing/2014/main" id="{831D1D8F-4A62-40B8-ACE8-7535EA8F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1066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Сохранить полезное из диалога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связанную базу знаний</a:t>
            </a:r>
          </a:p>
        </p:txBody>
      </p:sp>
      <p:sp>
        <p:nvSpPr>
          <p:cNvPr id="4" name="Агент предлагает изменения.&#10;Пользователь проверяет">
            <a:extLst xmlns:a="http://schemas.openxmlformats.org/drawingml/2006/main">
              <a:ext uri="{FF2B5EF4-FFF2-40B4-BE49-F238E27FC236}">
                <a16:creationId xmlns:a16="http://schemas.microsoft.com/office/drawing/2014/main" id="{4BE9B4C7-33B6-4FFE-9AB0-ADCB0F88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28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Агент предлагает изменения.</a:t>
            </a:r>
          </a:p>
          <a:p xmlns:a="http://schemas.openxmlformats.org/drawingml/2006/main">
            <a:pPr>
              <a:defRPr sz="24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Пользователь проверяет и подтверждает.</a:t>
            </a:r>
          </a:p>
        </p:txBody>
      </p:sp>
      <p:sp>
        <p:nvSpPr>
          <p:cNvPr id="5" name="Следующий шаг: интервью и тест основного сценария">
            <a:extLst xmlns:a="http://schemas.openxmlformats.org/drawingml/2006/main">
              <a:ext uri="{FF2B5EF4-FFF2-40B4-BE49-F238E27FC236}">
                <a16:creationId xmlns:a16="http://schemas.microsoft.com/office/drawing/2014/main" id="{89E7A362-1BE6-48B4-A3A9-1DA058A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Следующий шаг: интервью и тест основного сценария</a:t>
            </a:r>
          </a:p>
        </p:txBody>
      </p:sp>
    </p:spTree>
    <p:extLst>
      <p:ext uri="{BB962C8B-B14F-4D97-AF65-F5344CB8AC3E}">
        <p14:creationId xmlns:p14="http://schemas.microsoft.com/office/powerpoint/2010/main" val="1241573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2026-09-07T21:17:13.9780000Z</dcterms:created>
  <dcterms:modified xsi:type="dcterms:W3CDTF">2026-09-07T21:17:13.9780000Z</dcterms:modified>
</coreProperties>
</file>
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ce14501ab4814" /><Relationship Type="http://schemas.openxmlformats.org/officeDocument/2006/relationships/extended-properties" Target="/docProps/app.xml" Id="Ra82774306a8a4700" /><Relationship Type="http://schemas.openxmlformats.org/officeDocument/2006/relationships/officeDocument" Target="/ppt/presentation.xml" Id="R0e45d2083ddf43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86b8b610164531"/>
  </p:sldMasterIdLst>
  <p:notesMasterIdLst>
    <p:notesMasterId xmlns:r="http://schemas.openxmlformats.org/officeDocument/2006/relationships" r:id="Rda6809c7afcf473d"/>
  </p:notesMasterIdLst>
  <p:sldIdLst>
    <p:sldId xmlns:r="http://schemas.openxmlformats.org/officeDocument/2006/relationships" id="256" r:id="Rc14b1914689c4d05"/>
    <p:sldId xmlns:r="http://schemas.openxmlformats.org/officeDocument/2006/relationships" id="257" r:id="Ra7983f147d924521"/>
    <p:sldId xmlns:r="http://schemas.openxmlformats.org/officeDocument/2006/relationships" id="258" r:id="Rb19a4bd2ddc3447e"/>
    <p:sldId xmlns:r="http://schemas.openxmlformats.org/officeDocument/2006/relationships" id="259" r:id="Rca2b79c8858a4673"/>
    <p:sldId xmlns:r="http://schemas.openxmlformats.org/officeDocument/2006/relationships" id="260" r:id="R9e57164989ed4e8e"/>
    <p:sldId xmlns:r="http://schemas.openxmlformats.org/officeDocument/2006/relationships" id="261" r:id="R38a8a91fd8b64e30"/>
    <p:sldId xmlns:r="http://schemas.openxmlformats.org/officeDocument/2006/relationships" id="262" r:id="R028a1b0f41784f7a"/>
    <p:sldId xmlns:r="http://schemas.openxmlformats.org/officeDocument/2006/relationships" id="263" r:id="Rab5f81daeddd4f6e"/>
    <p:sldId xmlns:r="http://schemas.openxmlformats.org/officeDocument/2006/relationships" id="264" r:id="Rcd4d47e9186b48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7c9a8d86da4531" /><Relationship Type="http://schemas.openxmlformats.org/officeDocument/2006/relationships/slideMaster" Target="/ppt/slideMasters/slideMaster1.xml" Id="Raf86b8b610164531" /><Relationship Type="http://schemas.openxmlformats.org/officeDocument/2006/relationships/notesMaster" Target="/ppt/notesMasters/notesMaster1.xml" Id="Rda6809c7afcf473d" /><Relationship Type="http://schemas.openxmlformats.org/officeDocument/2006/relationships/presProps" Target="/ppt/presProps.xml" Id="R2b9205c6043b46e5" /><Relationship Type="http://schemas.openxmlformats.org/officeDocument/2006/relationships/tableStyles" Target="/ppt/tableStyles.xml" Id="R1a5616f4d9aa450e" /><Relationship Type="http://schemas.openxmlformats.org/officeDocument/2006/relationships/slide" Target="/ppt/slides/slide1.xml" Id="Rc14b1914689c4d05" /><Relationship Type="http://schemas.openxmlformats.org/officeDocument/2006/relationships/slide" Target="/ppt/slides/slide2.xml" Id="Ra7983f147d924521" /><Relationship Type="http://schemas.openxmlformats.org/officeDocument/2006/relationships/slide" Target="/ppt/slides/slide3.xml" Id="Rb19a4bd2ddc3447e" /><Relationship Type="http://schemas.openxmlformats.org/officeDocument/2006/relationships/slide" Target="/ppt/slides/slide4.xml" Id="Rca2b79c8858a4673" /><Relationship Type="http://schemas.openxmlformats.org/officeDocument/2006/relationships/slide" Target="/ppt/slides/slide5.xml" Id="R9e57164989ed4e8e" /><Relationship Type="http://schemas.openxmlformats.org/officeDocument/2006/relationships/slide" Target="/ppt/slides/slide6.xml" Id="R38a8a91fd8b64e30" /><Relationship Type="http://schemas.openxmlformats.org/officeDocument/2006/relationships/slide" Target="/ppt/slides/slide7.xml" Id="R028a1b0f41784f7a" /><Relationship Type="http://schemas.openxmlformats.org/officeDocument/2006/relationships/slide" Target="/ppt/slides/slide8.xml" Id="Rab5f81daeddd4f6e" /><Relationship Type="http://schemas.openxmlformats.org/officeDocument/2006/relationships/slide" Target="/ppt/slides/slide9.xml" Id="Rcd4d47e9186b48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3f61c9bdaa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aa77da427f41af" /><Relationship Type="http://schemas.openxmlformats.org/officeDocument/2006/relationships/notesMaster" Target="/ppt/notesMasters/notesMaster1.xml" Id="Racd335e878d4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b3469f65e948e9" /><Relationship Type="http://schemas.openxmlformats.org/officeDocument/2006/relationships/notesMaster" Target="/ppt/notesMasters/notesMaster1.xml" Id="R8cb9c788f2fa48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f62a4a3dcc4324" /><Relationship Type="http://schemas.openxmlformats.org/officeDocument/2006/relationships/notesMaster" Target="/ppt/notesMasters/notesMaster1.xml" Id="Raddbd9af9fb848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488e79422448d" /><Relationship Type="http://schemas.openxmlformats.org/officeDocument/2006/relationships/notesMaster" Target="/ppt/notesMasters/notesMaster1.xml" Id="R93fa20e0feb846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84cb886ac5406b" /><Relationship Type="http://schemas.openxmlformats.org/officeDocument/2006/relationships/notesMaster" Target="/ppt/notesMasters/notesMaster1.xml" Id="R023b19224b0d47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44cf28ed73431c" /><Relationship Type="http://schemas.openxmlformats.org/officeDocument/2006/relationships/notesMaster" Target="/ppt/notesMasters/notesMaster1.xml" Id="R770897882fbd4d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cde197c2224739" /><Relationship Type="http://schemas.openxmlformats.org/officeDocument/2006/relationships/notesMaster" Target="/ppt/notesMasters/notesMaster1.xml" Id="R82c2fbf249ab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c12a9055414b15" /><Relationship Type="http://schemas.openxmlformats.org/officeDocument/2006/relationships/notesMaster" Target="/ppt/notesMasters/notesMaster1.xml" Id="Ref74dee5537d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2d6b3c13b44cc0" /><Relationship Type="http://schemas.openxmlformats.org/officeDocument/2006/relationships/notesMaster" Target="/ppt/notesMasters/notesMaster1.xml" Id="R49a7c381318b4a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предлагаем интерфейс, который помогает превращать полезные диалоги с искусственным интеллектом в личную базу знаний. Проект называется Conversation-to-Knowledge Agent. Пользователь импортирует разговор, проверяет предложенные действия и сохраняет связанные заметки в Obsidian. Obsidian здесь служит хранилищем заметок в формате Markdown. Для лабораторной работы мы сосредоточились на потребности студентов и на том, как сделать проверку изменений понятной.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README.md, docs/requirements.md, разделы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Наша начальная аудитория — студенты технических направлений, которые регулярно обсуждают учебные темы с ИИ и уже ведут заметки в Obsidian. Мы выбираем достаточно узкую группу, потому что у неё есть понятный повторяющийся сценарий: разобраться в теме, сохранить объяснение и вернуться к нему перед лабораторной или экзаменом. Потребность возникает из-за разницы между форматом диалога и форматом конспекта. Это гипотеза аудитории, основанная на сценариях проекта. Интервью с пользователями ещё предстоит провести.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раздел 2. Аудитория и частота потребности — гипотеза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Представим, что студент обсуждает с ИИ Attention и Multi-Head Attention. В разговоре есть объяснение, вопросы и уточнения. При этом заметка Attention уже существует в его базе. Полезный результат — дополнить её новым примером и создать связанную заметку о Multi-Head Attention, если отдельной заметки ещё нет. Копирование всего разговора переносит в конспект повторения. Ручная обработка требует каждый раз решать, что сохранить, куда это поместить и как связать с другими материалами. Это иллюстративный сценарий из требований проекта, а не результат исследования.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US-2, US-4, US-7; frontend/src/components/PlanPanel.vue. Пример условный.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Сравним три способа решения одной задачи. История чата сохраняет исходный разговор, однако при повторном использовании студенту приходится искать нужные реплики и восстанавливать контекст. Ручной конспект в Obsidian даёт полный контроль, но требует выделять главное, проверять существующие заметки и расставлять связи. Наш агент предлагает эти действия с учётом базы, а пользователь проверяет решение. Ожидаемая эффективность связана с сокращением повторяющейся работы. Мы не утверждаем, что приложение уже доказало превосходство над всеми инструментами. В таблице сравниваются конкретные рабочие сценарии без дополнительных расширений и автоматизаций.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US-1–US-9. Сравнение сценариев и ожидаемый эффект — анализ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интерфейсе есть четыре основных этапа. Сначала пользователь вставляет текст диалога или импортирует файл. Затем приложение выделяет темы и показывает найденные знания. На этапе проверки пользователь видит, какие заметки агент предлагает создать или дополнить и почему. Отдельные действия можно исключить. После подтверждения приложение сохраняет изменения и показывает результат. По умолчанию запись требует одобрения. Это важно: пользователь принимает понятное решение, а не следит за техническими шагами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README.md; frontend/src/views/WorkbenchView.vue; frontend/src/components/ImportPanel.vue, ExtractionPanel.vue, PlanPanel.vue, ResultPanel.vue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показана концепция русскоязычного экрана, а не снимок текущего приложения. Слева расположен список действий. Справа пользователь видит основания для выбранного действия, новый раздел и связь с другой заметкой. Прямо на экране объясняется, что до подтверждения файлы не изменятся. Можно исключить отдельное действие или отменить весь план. Такой экран должен помочь быстро ответить на вопросы: что изменится, почему и как это контролировать. Макет опирается на функции существующего компонента проверки плана.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frontend/src/components/PlanPanel.vue. Концептуальный макет создан с помощью встроенного imagegen, не является снимком работающего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проекте уже есть программная основа: импорт диалогов, выделение знаний, поиск по существующей базе, план изменений и запись после подтверждения. В рамках курса мы предлагаем сосредоточиться на пользовательском пути, русскоязычных формулировках и удобстве проверки. Текущий интерфейс в репозитории использует китайские подписи, поэтому русский макет показывает предлагаемое направление. Приложение рассчитано на одного пользователя и локальную базу Obsidian. Внешняя модель может получать текст для обработки. Кроме того, извлечение знаний не доказывает истинность утверждений ИИ. Проверка содержания пользователем остаётся необходимой.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README.md; docs/requirements.md, NFR-1; docs/known-limitations.md, раздел 4; frontend/src/components/PlanPanel.vue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мы проведём короткие интервью со студентами, чтобы выяснить, возникает ли проблема регулярно. Затем для предварительного теста пригласим шесть студентов, знакомых с Obsidian. Каждый обработает два сопоставимых диалога и небольшой подготовленный набор заметок: один вручную, другой через интерфейс. Половина участников начнёт с ручного способа, половина — с интерфейса. Мы измерим полное время до принятой заметки, включая ожидание модели и проверку. Также сравним пропуски ключевых идей, дубли и ошибочные связи. Цель пилота — сократить медианное время минимум на тридцать процентов без ухудшения качества. Это целевой критерий, а не достигнутый результат. Небольшой тест поможет найти проблемы интерфейса, но не докажет универсальное преимущество.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Предлагаемый план пользовательского исследования команды. Участники ещё не набраны, измерений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Таким образом, наша идея — интерфейс для сохранения полезных знаний из учебных диалогов с ИИ в Obsidian. У выбранной группы есть задача повторно использовать материал, который сейчас остаётся в истории чатов или требует ручного конспектирования. Предлагаемое решение переносит выделение и сопоставление знаний на агента и оставляет пользователю проверку конкретного плана. Поэтому мы ожидаем уменьшения ручной работы без потери контроля над базой. Следующий шаг команды — проверить потребность в интервью и провести тест основного сценария. Спасибо, готовы ответить на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Обобщение сценариев проекта и гипотез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8727557da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d2dd83f0240dd" /><Relationship Type="http://schemas.openxmlformats.org/officeDocument/2006/relationships/slideLayout" Target="/ppt/slideLayouts/slideLayout1.xml" Id="Re5b26429dcea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26429dcea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e19fd1b634168" /><Relationship Type="http://schemas.openxmlformats.org/officeDocument/2006/relationships/notesSlide" Target="/ppt/notesSlides/notesSlide1.xml" Id="R447bacc6212f44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adbb3df474467" /><Relationship Type="http://schemas.openxmlformats.org/officeDocument/2006/relationships/notesSlide" Target="/ppt/notesSlides/notesSlide2.xml" Id="R4f72761de50d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498cf7e6e488e" /><Relationship Type="http://schemas.openxmlformats.org/officeDocument/2006/relationships/notesSlide" Target="/ppt/notesSlides/notesSlide3.xml" Id="R717122ebdaaf48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d95fa59e44ab1" /><Relationship Type="http://schemas.openxmlformats.org/officeDocument/2006/relationships/notesSlide" Target="/ppt/notesSlides/notesSlide4.xml" Id="R5eec74b51200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6fd4493834cb7" /><Relationship Type="http://schemas.openxmlformats.org/officeDocument/2006/relationships/notesSlide" Target="/ppt/notesSlides/notesSlide5.xml" Id="R35f7d342d9d8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686dd20434fec" /><Relationship Type="http://schemas.openxmlformats.org/officeDocument/2006/relationships/image" Target="/ppt/media/image.png" Id="Ra0e94c6884de4ccc" /><Relationship Type="http://schemas.openxmlformats.org/officeDocument/2006/relationships/notesSlide" Target="/ppt/notesSlides/notesSlide6.xml" Id="R5e902e5b3f42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96b9a1d84fe1" /><Relationship Type="http://schemas.openxmlformats.org/officeDocument/2006/relationships/notesSlide" Target="/ppt/notesSlides/notesSlide7.xml" Id="R767a5633fd55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3e727acbd439d" /><Relationship Type="http://schemas.openxmlformats.org/officeDocument/2006/relationships/notesSlide" Target="/ppt/notesSlides/notesSlide8.xml" Id="R7900bff2b50f42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80d75e104324" /><Relationship Type="http://schemas.openxmlformats.org/officeDocument/2006/relationships/notesSlide" Target="/ppt/notesSlides/notesSlide9.xml" Id="Rdfd72987bd2449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5D36A65-13EA-4A04-96DA-E7DE63C5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База знаний&#10;из диалогов с ИИ">
            <a:extLst xmlns:a="http://schemas.openxmlformats.org/drawingml/2006/main">
              <a:ext uri="{FF2B5EF4-FFF2-40B4-BE49-F238E27FC236}">
                <a16:creationId xmlns:a16="http://schemas.microsoft.com/office/drawing/2014/main" id="{892D4EA4-AED4-4DD7-8958-ADC754B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знаний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дея интерфейса для студентов,&#10;которые учатся с по">
            <a:extLst xmlns:a="http://schemas.openxmlformats.org/drawingml/2006/main">
              <a:ext uri="{FF2B5EF4-FFF2-40B4-BE49-F238E27FC236}">
                <a16:creationId xmlns:a16="http://schemas.microsoft.com/office/drawing/2014/main" id="{1F5F01C5-3B56-47F1-9D13-BD12EEB6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Идея интерфейса для студентов,</a:t>
            </a:r>
          </a:p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которые учатся с помощью ИИ</a:t>
            </a:r>
          </a:p>
        </p:txBody>
      </p:sp>
      <p:sp>
        <p:nvSpPr>
          <p:cNvPr id="4" name="Conversation-to-Knowledge Agent">
            <a:extLst xmlns:a="http://schemas.openxmlformats.org/drawingml/2006/main">
              <a:ext uri="{FF2B5EF4-FFF2-40B4-BE49-F238E27FC236}">
                <a16:creationId xmlns:a16="http://schemas.microsoft.com/office/drawing/2014/main" id="{529E0706-E2A1-4D15-A63E-D1FBD30F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750636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ому нужен этот интерфейс">
            <a:extLst xmlns:a="http://schemas.openxmlformats.org/drawingml/2006/main">
              <a:ext uri="{FF2B5EF4-FFF2-40B4-BE49-F238E27FC236}">
                <a16:creationId xmlns:a16="http://schemas.microsoft.com/office/drawing/2014/main" id="{8E2E69EE-1FD4-419C-974B-3366474C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Кому нужен этот интерфейс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705D2B15-71D0-4A3E-9213-872476C1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Студенты технических&#10;направлений">
            <a:extLst xmlns:a="http://schemas.openxmlformats.org/drawingml/2006/main">
              <a:ext uri="{FF2B5EF4-FFF2-40B4-BE49-F238E27FC236}">
                <a16:creationId xmlns:a16="http://schemas.microsoft.com/office/drawing/2014/main" id="{A74175E8-564F-4B83-9BF4-782E95EB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Студенты технических</a:t>
            </a:r>
          </a:p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направлений</a:t>
            </a:r>
          </a:p>
        </p:txBody>
      </p:sp>
      <p:sp>
        <p:nvSpPr>
          <p:cNvPr id="4" name="Учатся с ИИ и ведут&#10;заметки в Obsidian">
            <a:extLst xmlns:a="http://schemas.openxmlformats.org/drawingml/2006/main">
              <a:ext uri="{FF2B5EF4-FFF2-40B4-BE49-F238E27FC236}">
                <a16:creationId xmlns:a16="http://schemas.microsoft.com/office/drawing/2014/main" id="{3C05572C-7CBB-478C-BE7B-81551EAB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Учатся с ИИ и ведут</a:t>
            </a:r>
          </a:p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заметки в Obsidian</a:t>
            </a:r>
          </a:p>
        </p:txBody>
      </p:sp>
      <p:sp>
        <p:nvSpPr>
          <p:cNvPr id="5" name="Когда возникает задача">
            <a:extLst xmlns:a="http://schemas.openxmlformats.org/drawingml/2006/main">
              <a:ext uri="{FF2B5EF4-FFF2-40B4-BE49-F238E27FC236}">
                <a16:creationId xmlns:a16="http://schemas.microsoft.com/office/drawing/2014/main" id="{E8995348-08E1-450E-A630-56019469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Когда возникает задача</a:t>
            </a:r>
          </a:p>
        </p:txBody>
      </p:sp>
      <p:sp>
        <p:nvSpPr>
          <p:cNvPr id="6" name="После диалога нужно сохранить&#10;объяснение и примеры">
            <a:extLst xmlns:a="http://schemas.openxmlformats.org/drawingml/2006/main">
              <a:ext uri="{FF2B5EF4-FFF2-40B4-BE49-F238E27FC236}">
                <a16:creationId xmlns:a16="http://schemas.microsoft.com/office/drawing/2014/main" id="{BED30C99-EA17-46C3-97CF-051AB87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После диалога нужно сохранить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объяснение и примеры.</a:t>
            </a:r>
          </a:p>
        </p:txBody>
      </p:sp>
      <p:sp>
        <p:nvSpPr>
          <p:cNvPr id="7" name="Перед лабораторной нужно&#10;найти материал по теме.">
            <a:extLst xmlns:a="http://schemas.openxmlformats.org/drawingml/2006/main">
              <a:ext uri="{FF2B5EF4-FFF2-40B4-BE49-F238E27FC236}">
                <a16:creationId xmlns:a16="http://schemas.microsoft.com/office/drawing/2014/main" id="{6B39DB9E-BFE9-4544-9D53-BCDAA07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Перед лабораторной нужно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найти материал по теме.</a:t>
            </a:r>
          </a:p>
        </p:txBody>
      </p:sp>
      <p:sp>
        <p:nvSpPr>
          <p:cNvPr id="8" name="Новые сведения нужно связать&#10;с уже изученным.">
            <a:extLst xmlns:a="http://schemas.openxmlformats.org/drawingml/2006/main">
              <a:ext uri="{FF2B5EF4-FFF2-40B4-BE49-F238E27FC236}">
                <a16:creationId xmlns:a16="http://schemas.microsoft.com/office/drawing/2014/main" id="{FF7458E6-147F-4C38-9164-F8FFEA7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Новые сведения нужно связать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 уже изученным.</a:t>
            </a:r>
          </a:p>
        </p:txBody>
      </p:sp>
      <p:sp>
        <p:nvSpPr>
          <p:cNvPr id="9" name="Гипотеза аудитории, которую проверим в интервью">
            <a:extLst xmlns:a="http://schemas.openxmlformats.org/drawingml/2006/main">
              <a:ext uri="{FF2B5EF4-FFF2-40B4-BE49-F238E27FC236}">
                <a16:creationId xmlns:a16="http://schemas.microsoft.com/office/drawing/2014/main" id="{835ECD92-CCF5-4DA0-A3F5-6A9BF95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Гипотеза аудитории, которую проверим в интервью</a:t>
            </a:r>
          </a:p>
        </p:txBody>
      </p:sp>
    </p:spTree>
    <p:extLst>
      <p:ext uri="{BB962C8B-B14F-4D97-AF65-F5344CB8AC3E}">
        <p14:creationId xmlns:p14="http://schemas.microsoft.com/office/powerpoint/2010/main" val="1089463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дин учебный сценарий">
            <a:extLst xmlns:a="http://schemas.openxmlformats.org/drawingml/2006/main">
              <a:ext uri="{FF2B5EF4-FFF2-40B4-BE49-F238E27FC236}">
                <a16:creationId xmlns:a16="http://schemas.microsoft.com/office/drawing/2014/main" id="{863E43D8-599C-4B50-AA83-CA2C3D62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Один учебный сценарий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95258D0B-095E-489C-B217-55989C1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Контекст">
            <a:extLst xmlns:a="http://schemas.openxmlformats.org/drawingml/2006/main">
              <a:ext uri="{FF2B5EF4-FFF2-40B4-BE49-F238E27FC236}">
                <a16:creationId xmlns:a16="http://schemas.microsoft.com/office/drawing/2014/main" id="{A4025D66-E68A-4848-8179-D163948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4" name="Диалог об Attention&#10;и Multi-Head Attention">
            <a:extLst xmlns:a="http://schemas.openxmlformats.org/drawingml/2006/main">
              <a:ext uri="{FF2B5EF4-FFF2-40B4-BE49-F238E27FC236}">
                <a16:creationId xmlns:a16="http://schemas.microsoft.com/office/drawing/2014/main" id="{5CCC512D-6879-47F4-92E5-A167652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Диалог об Attention</a:t>
            </a:r>
          </a:p>
          <a:p xmlns:a="http://schemas.openxmlformats.org/drawingml/2006/main">
            <a:pPr>
              <a:defRPr sz="29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 Multi-Head Attention</a:t>
            </a:r>
          </a:p>
        </p:txBody>
      </p:sp>
      <p:sp>
        <p:nvSpPr>
          <p:cNvPr id="5" name="В базе уже есть&#10;заметка Attention">
            <a:extLst xmlns:a="http://schemas.openxmlformats.org/drawingml/2006/main">
              <a:ext uri="{FF2B5EF4-FFF2-40B4-BE49-F238E27FC236}">
                <a16:creationId xmlns:a16="http://schemas.microsoft.com/office/drawing/2014/main" id="{DA17D704-FC54-4F80-86F8-AB608F5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 базе уже есть</a:t>
            </a:r>
          </a:p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 Attention</a:t>
            </a:r>
          </a:p>
        </p:txBody>
      </p:sp>
      <p:sp>
        <p:nvSpPr>
          <p:cNvPr id="6" name="Нужны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1E9813DA-52AC-443A-A14C-F090455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Нужный результат</a:t>
            </a:r>
          </a:p>
        </p:txBody>
      </p:sp>
      <p:sp>
        <p:nvSpPr>
          <p:cNvPr id="7" name="Дополнить существующую&#10;заметку новым примером">
            <a:extLst xmlns:a="http://schemas.openxmlformats.org/drawingml/2006/main">
              <a:ext uri="{FF2B5EF4-FFF2-40B4-BE49-F238E27FC236}">
                <a16:creationId xmlns:a16="http://schemas.microsoft.com/office/drawing/2014/main" id="{345B0233-4161-4ABE-A41B-F42A945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622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Дополнить существующую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заметку новым примером</a:t>
            </a:r>
          </a:p>
        </p:txBody>
      </p:sp>
      <p:sp>
        <p:nvSpPr>
          <p:cNvPr id="8" name="Создать связанную заметку&#10;по новой теме">
            <a:extLst xmlns:a="http://schemas.openxmlformats.org/drawingml/2006/main">
              <a:ext uri="{FF2B5EF4-FFF2-40B4-BE49-F238E27FC236}">
                <a16:creationId xmlns:a16="http://schemas.microsoft.com/office/drawing/2014/main" id="{3195EEB0-FD80-4374-AC5A-AC7F9DB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290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Создать связанную заметку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 новой теме</a:t>
            </a:r>
          </a:p>
        </p:txBody>
      </p:sp>
      <p:sp>
        <p:nvSpPr>
          <p:cNvPr id="9" name="Задача пользователя: сохранить знания без повторно">
            <a:extLst xmlns:a="http://schemas.openxmlformats.org/drawingml/2006/main">
              <a:ext uri="{FF2B5EF4-FFF2-40B4-BE49-F238E27FC236}">
                <a16:creationId xmlns:a16="http://schemas.microsoft.com/office/drawing/2014/main" id="{6BF76D7C-34CE-4B32-9DBB-C0CDEC3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Задача пользователя: сохранить знания без повторного ручного разбора</a:t>
            </a:r>
          </a:p>
        </p:txBody>
      </p:sp>
    </p:spTree>
    <p:extLst>
      <p:ext uri="{BB962C8B-B14F-4D97-AF65-F5344CB8AC3E}">
        <p14:creationId xmlns:p14="http://schemas.microsoft.com/office/powerpoint/2010/main" val="303581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Сравнение способов работы">
            <a:extLst xmlns:a="http://schemas.openxmlformats.org/drawingml/2006/main">
              <a:ext uri="{FF2B5EF4-FFF2-40B4-BE49-F238E27FC236}">
                <a16:creationId xmlns:a16="http://schemas.microsoft.com/office/drawing/2014/main" id="{DF8B6B14-D980-46C4-9236-F5D9F675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Сравнение способов работы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D4078C1-0C44-4B5F-8EEF-0A4C94A6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952875"/>
                <a:gridCol w="4105275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</a:t>
                      </a:r>
                    </a:p>
                  </a:txBody>
                  <a:tcPr marL="190500" marR="171450" marT="152400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получает пользователь</a:t>
                      </a:r>
                    </a:p>
                  </a:txBody>
                  <a:tcPr marL="190500" marR="171450" marT="152400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вручную</a:t>
                      </a:r>
                    </a:p>
                  </a:txBody>
                  <a:tcPr marL="190500" marR="171450" marT="152400" marB="114300" anchor="ctr">
                    <a:solidFill>
                      <a:srgbClr val="182B3A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История чата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Исходный разговор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Ищет объяснение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среди реплик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Ручной конспект</a:t>
                      </a:r>
                    </a:p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Obsidian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Структуру и связи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под своим контролем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Выделяет главное,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проверяет повторы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Наш интерфейс</a:t>
                      </a:r>
                    </a:p>
                  </a:txBody>
                  <a:tcPr marL="190500" marR="171450" marT="152400" marB="1143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План новых заметок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дополнений к базе</a:t>
                      </a:r>
                    </a:p>
                  </a:txBody>
                  <a:tcPr marL="190500" marR="171450" marT="152400" marB="1143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Проверяет предложения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подтверждает запись</a:t>
                      </a:r>
                    </a:p>
                  </a:txBody>
                  <a:tcPr marL="190500" marR="171450" marT="152400" marB="114300" anchor="ctr"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4" name="Ожидаемый выигрыш: меньше ручного переноса и повто">
            <a:extLst xmlns:a="http://schemas.openxmlformats.org/drawingml/2006/main">
              <a:ext uri="{FF2B5EF4-FFF2-40B4-BE49-F238E27FC236}">
                <a16:creationId xmlns:a16="http://schemas.microsoft.com/office/drawing/2014/main" id="{C01EDED8-DFCE-4DED-ABB5-450C6AB3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Ожидаемый выигрыш: меньше ручного переноса и повторного поиска</a:t>
            </a:r>
          </a:p>
        </p:txBody>
      </p:sp>
    </p:spTree>
    <p:extLst>
      <p:ext uri="{BB962C8B-B14F-4D97-AF65-F5344CB8AC3E}">
        <p14:creationId xmlns:p14="http://schemas.microsoft.com/office/powerpoint/2010/main" val="1961139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Как работает интерфейс">
            <a:extLst xmlns:a="http://schemas.openxmlformats.org/drawingml/2006/main">
              <a:ext uri="{FF2B5EF4-FFF2-40B4-BE49-F238E27FC236}">
                <a16:creationId xmlns:a16="http://schemas.microsoft.com/office/drawing/2014/main" id="{5B691314-296F-4BD6-926A-788E85D6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работает интерфейс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39855F90-EC4A-47BA-8953-B01CC1C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6D9FF97-2822-436D-BC3F-4CB6B17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Импорт">
            <a:extLst xmlns:a="http://schemas.openxmlformats.org/drawingml/2006/main">
              <a:ext uri="{FF2B5EF4-FFF2-40B4-BE49-F238E27FC236}">
                <a16:creationId xmlns:a16="http://schemas.microsoft.com/office/drawing/2014/main" id="{5982207E-9C0E-4737-85E5-61CBF43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288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5" name="Вставить диалог или выбрать файл">
            <a:extLst xmlns:a="http://schemas.openxmlformats.org/drawingml/2006/main">
              <a:ext uri="{FF2B5EF4-FFF2-40B4-BE49-F238E27FC236}">
                <a16:creationId xmlns:a16="http://schemas.microsoft.com/office/drawing/2014/main" id="{FF8BFEA8-5296-4E78-A407-B6B966C2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7642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Вставить диалог или выбрать файл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A8252244-5498-4789-A677-BDC57397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Анализ">
            <a:extLst xmlns:a="http://schemas.openxmlformats.org/drawingml/2006/main">
              <a:ext uri="{FF2B5EF4-FFF2-40B4-BE49-F238E27FC236}">
                <a16:creationId xmlns:a16="http://schemas.microsoft.com/office/drawing/2014/main" id="{A2456A0F-44C8-4DC1-B21E-C48A53C3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384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8" name="Посмотреть темы и найденные знания">
            <a:extLst xmlns:a="http://schemas.openxmlformats.org/drawingml/2006/main">
              <a:ext uri="{FF2B5EF4-FFF2-40B4-BE49-F238E27FC236}">
                <a16:creationId xmlns:a16="http://schemas.microsoft.com/office/drawing/2014/main" id="{C4F77C81-EF56-4454-B1CE-517373A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8607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Посмотреть темы и найденные знания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6C4505C-A3D1-4953-BFFE-1037CCC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оверка">
            <a:extLst xmlns:a="http://schemas.openxmlformats.org/drawingml/2006/main">
              <a:ext uri="{FF2B5EF4-FFF2-40B4-BE49-F238E27FC236}">
                <a16:creationId xmlns:a16="http://schemas.microsoft.com/office/drawing/2014/main" id="{60517860-9E61-4213-BA5F-6AB2ED49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481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1" name="Проверить действия и исключить лишнее">
            <a:extLst xmlns:a="http://schemas.openxmlformats.org/drawingml/2006/main">
              <a:ext uri="{FF2B5EF4-FFF2-40B4-BE49-F238E27FC236}">
                <a16:creationId xmlns:a16="http://schemas.microsoft.com/office/drawing/2014/main" id="{1F2D0985-4709-4B0A-BB9E-CCDE486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9572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Проверить действия и исключить лишнее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1FCD69AC-F58C-43A5-8C1C-F0E95F6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62C3E52C-DC2D-429D-8D65-D7F7D25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57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4" name="Подтвердить запись и увидеть изменения">
            <a:extLst xmlns:a="http://schemas.openxmlformats.org/drawingml/2006/main">
              <a:ext uri="{FF2B5EF4-FFF2-40B4-BE49-F238E27FC236}">
                <a16:creationId xmlns:a16="http://schemas.microsoft.com/office/drawing/2014/main" id="{A0E4E416-3B15-4053-8D2E-2CC4AA2A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0537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Подтвердить запись и увидеть изменения</a:t>
            </a:r>
          </a:p>
        </p:txBody>
      </p:sp>
      <p:sp>
        <p:nvSpPr>
          <p:cNvPr id="15" name="По умолчанию пользователь подтверждает изменения д">
            <a:extLst xmlns:a="http://schemas.openxmlformats.org/drawingml/2006/main">
              <a:ext uri="{FF2B5EF4-FFF2-40B4-BE49-F238E27FC236}">
                <a16:creationId xmlns:a16="http://schemas.microsoft.com/office/drawing/2014/main" id="{6AEA54DB-F44A-4763-80EF-3BC3CD5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 умолчанию пользователь подтверждает изменения до записи</a:t>
            </a:r>
          </a:p>
        </p:txBody>
      </p:sp>
    </p:spTree>
    <p:extLst>
      <p:ext uri="{BB962C8B-B14F-4D97-AF65-F5344CB8AC3E}">
        <p14:creationId xmlns:p14="http://schemas.microsoft.com/office/powerpoint/2010/main" val="2008402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лючевой экран: проверка изменений">
            <a:extLst xmlns:a="http://schemas.openxmlformats.org/drawingml/2006/main">
              <a:ext uri="{FF2B5EF4-FFF2-40B4-BE49-F238E27FC236}">
                <a16:creationId xmlns:a16="http://schemas.microsoft.com/office/drawing/2014/main" id="{4AEECEFE-4DA2-4C8B-94B3-6C0B606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Ключевой экран: проверка изменений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AB36422A-3F84-4444-B4A2-9672F2C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94c6884de4ccc"/>
          <a:stretch xmlns:a="http://schemas.openxmlformats.org/drawingml/2006/main"/>
        </p:blipFill>
        <p:spPr>
          <a:xfrm xmlns:a="http://schemas.openxmlformats.org/drawingml/2006/main">
            <a:off x="685800" y="1420813"/>
            <a:ext cx="7696200" cy="5130800"/>
          </a:xfrm>
          <a:prstGeom xmlns:a="http://schemas.openxmlformats.org/drawingml/2006/main" prst="rect">
            <a:avLst/>
          </a:prstGeom>
        </p:spPr>
      </p:pic>
      <p:sp>
        <p:nvSpPr>
          <p:cNvPr id="4" name="Что изменится">
            <a:extLst xmlns:a="http://schemas.openxmlformats.org/drawingml/2006/main">
              <a:ext uri="{FF2B5EF4-FFF2-40B4-BE49-F238E27FC236}">
                <a16:creationId xmlns:a16="http://schemas.microsoft.com/office/drawing/2014/main" id="{71FC07DC-7735-4CA8-BF6B-7D67DF2D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19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изменится</a:t>
            </a:r>
          </a:p>
        </p:txBody>
      </p:sp>
      <p:sp>
        <p:nvSpPr>
          <p:cNvPr id="5" name="Действия и темы&#10;в одном списке">
            <a:extLst xmlns:a="http://schemas.openxmlformats.org/drawingml/2006/main">
              <a:ext uri="{FF2B5EF4-FFF2-40B4-BE49-F238E27FC236}">
                <a16:creationId xmlns:a16="http://schemas.microsoft.com/office/drawing/2014/main" id="{B1501227-44DE-4781-B280-A788F13E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Действия и темы</a:t>
            </a:r>
          </a:p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 одном списке</a:t>
            </a:r>
          </a:p>
        </p:txBody>
      </p:sp>
      <p:sp>
        <p:nvSpPr>
          <p:cNvPr id="6" name="Почему и как">
            <a:extLst xmlns:a="http://schemas.openxmlformats.org/drawingml/2006/main">
              <a:ext uri="{FF2B5EF4-FFF2-40B4-BE49-F238E27FC236}">
                <a16:creationId xmlns:a16="http://schemas.microsoft.com/office/drawing/2014/main" id="{BFC9097C-D802-4487-8F53-39770B9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052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Почему и как</a:t>
            </a:r>
          </a:p>
        </p:txBody>
      </p:sp>
      <p:sp>
        <p:nvSpPr>
          <p:cNvPr id="7" name="Основание решения&#10;и явное под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316A5115-C66A-41BA-9149-8E7BAE5C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0050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решения</a:t>
            </a:r>
          </a:p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явное подтверждение</a:t>
            </a:r>
          </a:p>
        </p:txBody>
      </p:sp>
      <p:sp>
        <p:nvSpPr>
          <p:cNvPr id="8" name="Концепция экрана">
            <a:extLst xmlns:a="http://schemas.openxmlformats.org/drawingml/2006/main">
              <a:ext uri="{FF2B5EF4-FFF2-40B4-BE49-F238E27FC236}">
                <a16:creationId xmlns:a16="http://schemas.microsoft.com/office/drawing/2014/main" id="{63A9F071-F80B-42C9-8B36-7BF471E6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340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1923049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Основа проекта и границы идеи">
            <a:extLst xmlns:a="http://schemas.openxmlformats.org/drawingml/2006/main">
              <a:ext uri="{FF2B5EF4-FFF2-40B4-BE49-F238E27FC236}">
                <a16:creationId xmlns:a16="http://schemas.microsoft.com/office/drawing/2014/main" id="{327A5707-4887-4925-8C51-8326204B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 проекта и границы идеи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C3CA29B6-8F10-4CEB-A205-767F6A1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Уже есть в проекте">
            <a:extLst xmlns:a="http://schemas.openxmlformats.org/drawingml/2006/main">
              <a:ext uri="{FF2B5EF4-FFF2-40B4-BE49-F238E27FC236}">
                <a16:creationId xmlns:a16="http://schemas.microsoft.com/office/drawing/2014/main" id="{AEF99777-E236-4237-AA91-C549F14E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Уже есть в проекте</a:t>
            </a:r>
          </a:p>
        </p:txBody>
      </p:sp>
      <p:sp>
        <p:nvSpPr>
          <p:cNvPr id="4" name="Импорт и выделение знаний&#10;Поиск по существующим за">
            <a:extLst xmlns:a="http://schemas.openxmlformats.org/drawingml/2006/main">
              <a:ext uri="{FF2B5EF4-FFF2-40B4-BE49-F238E27FC236}">
                <a16:creationId xmlns:a16="http://schemas.microsoft.com/office/drawing/2014/main" id="{AF904CBF-792E-40B0-8F68-9708A945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Импорт и выделение знаний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Поиск по существующим заметкам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План изменений с подтверждением</a:t>
            </a:r>
          </a:p>
        </p:txBody>
      </p:sp>
      <p:sp>
        <p:nvSpPr>
          <p:cNvPr id="5" name="Фокус работы по курсу">
            <a:extLst xmlns:a="http://schemas.openxmlformats.org/drawingml/2006/main">
              <a:ext uri="{FF2B5EF4-FFF2-40B4-BE49-F238E27FC236}">
                <a16:creationId xmlns:a16="http://schemas.microsoft.com/office/drawing/2014/main" id="{26BC8767-B9DE-494D-AE3C-914F7FA5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Фокус работы по курсу</a:t>
            </a:r>
          </a:p>
        </p:txBody>
      </p:sp>
      <p:sp>
        <p:nvSpPr>
          <p:cNvPr id="6" name="Понятный путь пользователя&#10;Русскоязычный экран про">
            <a:extLst xmlns:a="http://schemas.openxmlformats.org/drawingml/2006/main">
              <a:ext uri="{FF2B5EF4-FFF2-40B4-BE49-F238E27FC236}">
                <a16:creationId xmlns:a16="http://schemas.microsoft.com/office/drawing/2014/main" id="{47FD9BE1-0B0C-4CCA-ABA8-3957CE4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Понятный путь пользователя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Русскоязычный экран проверки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Тестирование удобства</a:t>
            </a:r>
          </a:p>
        </p:txBody>
      </p:sp>
      <p:sp>
        <p:nvSpPr>
          <p:cNvPr id="7" name="Личная база Obsidian. Содержание требует проверки.">
            <a:extLst xmlns:a="http://schemas.openxmlformats.org/drawingml/2006/main">
              <a:ext uri="{FF2B5EF4-FFF2-40B4-BE49-F238E27FC236}">
                <a16:creationId xmlns:a16="http://schemas.microsoft.com/office/drawing/2014/main" id="{856B8059-C424-4999-A80E-FD263E5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Личная база Obsidian. Содержание требует проверки.</a:t>
            </a:r>
          </a:p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При выборе внешней модели текст отправляется её провайдеру.</a:t>
            </a:r>
          </a:p>
        </p:txBody>
      </p:sp>
    </p:spTree>
    <p:extLst>
      <p:ext uri="{BB962C8B-B14F-4D97-AF65-F5344CB8AC3E}">
        <p14:creationId xmlns:p14="http://schemas.microsoft.com/office/powerpoint/2010/main" val="1151773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к проверим эффективность">
            <a:extLst xmlns:a="http://schemas.openxmlformats.org/drawingml/2006/main">
              <a:ext uri="{FF2B5EF4-FFF2-40B4-BE49-F238E27FC236}">
                <a16:creationId xmlns:a16="http://schemas.microsoft.com/office/drawing/2014/main" id="{4E72EAC5-83E7-4F5B-81F1-F1E88E8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проверим эффективность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5CE1F12A-3A8B-4CDA-95F1-F8654295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30%">
            <a:extLst xmlns:a="http://schemas.openxmlformats.org/drawingml/2006/main">
              <a:ext uri="{FF2B5EF4-FFF2-40B4-BE49-F238E27FC236}">
                <a16:creationId xmlns:a16="http://schemas.microsoft.com/office/drawing/2014/main" id="{4E0C65A6-0FD5-4FC4-9563-C262B7C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4" name="Цель: сократить медианное&#10;время работы минимум на ">
            <a:extLst xmlns:a="http://schemas.openxmlformats.org/drawingml/2006/main">
              <a:ext uri="{FF2B5EF4-FFF2-40B4-BE49-F238E27FC236}">
                <a16:creationId xmlns:a16="http://schemas.microsoft.com/office/drawing/2014/main" id="{33F42F4C-6CD8-4FC3-A737-DDDD2E4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Цель: сократить медианное</a:t>
            </a:r>
          </a:p>
          <a:p xmlns:a="http://schemas.openxmlformats.org/drawingml/2006/main">
            <a:pPr>
              <a:defRPr sz="23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время работы минимум на 30%</a:t>
            </a:r>
          </a:p>
        </p:txBody>
      </p:sp>
      <p:sp>
        <p:nvSpPr>
          <p:cNvPr id="5" name="При качестве не хуже&#10;ручного конспекта">
            <a:extLst xmlns:a="http://schemas.openxmlformats.org/drawingml/2006/main">
              <a:ext uri="{FF2B5EF4-FFF2-40B4-BE49-F238E27FC236}">
                <a16:creationId xmlns:a16="http://schemas.microsoft.com/office/drawing/2014/main" id="{3A24F39F-B691-41E4-B4CD-B8436EE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При качестве не хуже</a:t>
            </a:r>
          </a:p>
          <a:p xmlns:a="http://schemas.openxmlformats.org/drawingml/2006/main">
            <a:pPr>
              <a:defRPr sz="21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ручного конспекта</a:t>
            </a:r>
          </a:p>
        </p:txBody>
      </p:sp>
      <p:sp>
        <p:nvSpPr>
          <p:cNvPr id="6" name="Предварительный тест">
            <a:extLst xmlns:a="http://schemas.openxmlformats.org/drawingml/2006/main">
              <a:ext uri="{FF2B5EF4-FFF2-40B4-BE49-F238E27FC236}">
                <a16:creationId xmlns:a16="http://schemas.microsoft.com/office/drawing/2014/main" id="{07EA0E72-321F-4E6B-88C4-05856857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Предварительный тест</a:t>
            </a:r>
          </a:p>
        </p:txBody>
      </p:sp>
      <p:sp>
        <p:nvSpPr>
          <p:cNvPr id="7" name="6 студентов, 2 сопоставимых диалога&#10;Ручной способ ">
            <a:extLst xmlns:a="http://schemas.openxmlformats.org/drawingml/2006/main">
              <a:ext uri="{FF2B5EF4-FFF2-40B4-BE49-F238E27FC236}">
                <a16:creationId xmlns:a16="http://schemas.microsoft.com/office/drawing/2014/main" id="{5634F962-E96B-45A4-8DF7-53D8C619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19375"/>
            <a:ext cx="49530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6 студентов, 2 сопоставимых диалога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Ручной способ и наш интерфейс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Порядок способов меняется</a:t>
            </a:r>
          </a:p>
        </p:txBody>
      </p:sp>
      <p:sp>
        <p:nvSpPr>
          <p:cNvPr id="8" name="Измеряем полное время, пропуски,&#10;дубли и ошибочные">
            <a:extLst xmlns:a="http://schemas.openxmlformats.org/drawingml/2006/main">
              <a:ext uri="{FF2B5EF4-FFF2-40B4-BE49-F238E27FC236}">
                <a16:creationId xmlns:a16="http://schemas.microsoft.com/office/drawing/2014/main" id="{88F0CCAF-8814-46FD-8C02-06439FC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386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Измеряем полное время, пропуски,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дубли и ошибочные связи</a:t>
            </a:r>
          </a:p>
        </p:txBody>
      </p:sp>
      <p:sp>
        <p:nvSpPr>
          <p:cNvPr id="9" name="Критерий успеха, а не результат измерений">
            <a:extLst xmlns:a="http://schemas.openxmlformats.org/drawingml/2006/main">
              <a:ext uri="{FF2B5EF4-FFF2-40B4-BE49-F238E27FC236}">
                <a16:creationId xmlns:a16="http://schemas.microsoft.com/office/drawing/2014/main" id="{7A9E1796-0B00-4218-B830-C57D2C51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Критерий успеха, а не результат измерений</a:t>
            </a:r>
          </a:p>
        </p:txBody>
      </p:sp>
    </p:spTree>
    <p:extLst>
      <p:ext uri="{BB962C8B-B14F-4D97-AF65-F5344CB8AC3E}">
        <p14:creationId xmlns:p14="http://schemas.microsoft.com/office/powerpoint/2010/main" val="1231135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Идея проекта">
            <a:extLst xmlns:a="http://schemas.openxmlformats.org/drawingml/2006/main">
              <a:ext uri="{FF2B5EF4-FFF2-40B4-BE49-F238E27FC236}">
                <a16:creationId xmlns:a16="http://schemas.microsoft.com/office/drawing/2014/main" id="{134D4E20-B6BD-4F96-82AB-F5D36F94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Идея проекта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79AFF58F-39D3-4642-8F2E-839AECB8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охранить полезное из диалога&#10;в личной базе знаний">
            <a:extLst xmlns:a="http://schemas.openxmlformats.org/drawingml/2006/main">
              <a:ext uri="{FF2B5EF4-FFF2-40B4-BE49-F238E27FC236}">
                <a16:creationId xmlns:a16="http://schemas.microsoft.com/office/drawing/2014/main" id="{C61A84C2-9C65-4BCD-B3AD-B9E47446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66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Сохранить полезное из диалога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личной базе знаний</a:t>
            </a:r>
          </a:p>
        </p:txBody>
      </p:sp>
      <p:sp>
        <p:nvSpPr>
          <p:cNvPr id="4" name="Агент предлагает изменения.&#10;Пользователь проверяет">
            <a:extLst xmlns:a="http://schemas.openxmlformats.org/drawingml/2006/main">
              <a:ext uri="{FF2B5EF4-FFF2-40B4-BE49-F238E27FC236}">
                <a16:creationId xmlns:a16="http://schemas.microsoft.com/office/drawing/2014/main" id="{552AE894-2EDF-4C28-A085-BDB463B3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28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Агент предлагает изменения.</a:t>
            </a:r>
          </a:p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Пользователь проверяет и подтверждает.</a:t>
            </a:r>
          </a:p>
        </p:txBody>
      </p:sp>
      <p:sp>
        <p:nvSpPr>
          <p:cNvPr id="5" name="Следующий шаг: интервью и тест основного сценария">
            <a:extLst xmlns:a="http://schemas.openxmlformats.org/drawingml/2006/main">
              <a:ext uri="{FF2B5EF4-FFF2-40B4-BE49-F238E27FC236}">
                <a16:creationId xmlns:a16="http://schemas.microsoft.com/office/drawing/2014/main" id="{406F1F8E-DB6C-4A8F-A8BA-B33A401A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Следующий шаг: интервью и тест основного сценария</a:t>
            </a:r>
          </a:p>
        </p:txBody>
      </p:sp>
    </p:spTree>
    <p:extLst>
      <p:ext uri="{BB962C8B-B14F-4D97-AF65-F5344CB8AC3E}">
        <p14:creationId xmlns:p14="http://schemas.microsoft.com/office/powerpoint/2010/main" val="649489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2026-09-07T21:18:58.4960000Z</dcterms:created>
  <dcterms:modified xsi:type="dcterms:W3CDTF">2026-09-07T21:18:58.4970000Z</dcterms:modified>
</coreProperties>
</file>
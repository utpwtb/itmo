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93e5d136264c1d" /><Relationship Type="http://schemas.openxmlformats.org/officeDocument/2006/relationships/extended-properties" Target="/docProps/app.xml" Id="R38cf83ccfb31428f" /><Relationship Type="http://schemas.openxmlformats.org/officeDocument/2006/relationships/officeDocument" Target="/ppt/presentation.xml" Id="R505100ca7ccd43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e73e0aa279444a"/>
  </p:sldMasterIdLst>
  <p:notesMasterIdLst>
    <p:notesMasterId xmlns:r="http://schemas.openxmlformats.org/officeDocument/2006/relationships" r:id="Ra1631d32f4ef46dd"/>
  </p:notesMasterIdLst>
  <p:sldIdLst>
    <p:sldId xmlns:r="http://schemas.openxmlformats.org/officeDocument/2006/relationships" id="256" r:id="Rdfd1377c7a1b4d62"/>
    <p:sldId xmlns:r="http://schemas.openxmlformats.org/officeDocument/2006/relationships" id="257" r:id="R92eddb04637d4d0d"/>
    <p:sldId xmlns:r="http://schemas.openxmlformats.org/officeDocument/2006/relationships" id="258" r:id="Rc90b1e26042c4b54"/>
    <p:sldId xmlns:r="http://schemas.openxmlformats.org/officeDocument/2006/relationships" id="259" r:id="Re5c21ddc139b4dc5"/>
    <p:sldId xmlns:r="http://schemas.openxmlformats.org/officeDocument/2006/relationships" id="260" r:id="Rf4c662cda69a4460"/>
    <p:sldId xmlns:r="http://schemas.openxmlformats.org/officeDocument/2006/relationships" id="261" r:id="Re25b40f5a1644962"/>
    <p:sldId xmlns:r="http://schemas.openxmlformats.org/officeDocument/2006/relationships" id="262" r:id="Rf5a439aad8dd4556"/>
    <p:sldId xmlns:r="http://schemas.openxmlformats.org/officeDocument/2006/relationships" id="263" r:id="R496b24326c3f48d7"/>
    <p:sldId xmlns:r="http://schemas.openxmlformats.org/officeDocument/2006/relationships" id="264" r:id="Re424fecc11d94b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7c2f52179e4120" /><Relationship Type="http://schemas.openxmlformats.org/officeDocument/2006/relationships/slideMaster" Target="/ppt/slideMasters/slideMaster1.xml" Id="Rfae73e0aa279444a" /><Relationship Type="http://schemas.openxmlformats.org/officeDocument/2006/relationships/notesMaster" Target="/ppt/notesMasters/notesMaster1.xml" Id="Ra1631d32f4ef46dd" /><Relationship Type="http://schemas.openxmlformats.org/officeDocument/2006/relationships/presProps" Target="/ppt/presProps.xml" Id="R70b34f87f780430a" /><Relationship Type="http://schemas.openxmlformats.org/officeDocument/2006/relationships/tableStyles" Target="/ppt/tableStyles.xml" Id="R6a72a03fd01a4fa1" /><Relationship Type="http://schemas.openxmlformats.org/officeDocument/2006/relationships/slide" Target="/ppt/slides/slide1.xml" Id="Rdfd1377c7a1b4d62" /><Relationship Type="http://schemas.openxmlformats.org/officeDocument/2006/relationships/slide" Target="/ppt/slides/slide2.xml" Id="R92eddb04637d4d0d" /><Relationship Type="http://schemas.openxmlformats.org/officeDocument/2006/relationships/slide" Target="/ppt/slides/slide3.xml" Id="Rc90b1e26042c4b54" /><Relationship Type="http://schemas.openxmlformats.org/officeDocument/2006/relationships/slide" Target="/ppt/slides/slide4.xml" Id="Re5c21ddc139b4dc5" /><Relationship Type="http://schemas.openxmlformats.org/officeDocument/2006/relationships/slide" Target="/ppt/slides/slide5.xml" Id="Rf4c662cda69a4460" /><Relationship Type="http://schemas.openxmlformats.org/officeDocument/2006/relationships/slide" Target="/ppt/slides/slide6.xml" Id="Re25b40f5a1644962" /><Relationship Type="http://schemas.openxmlformats.org/officeDocument/2006/relationships/slide" Target="/ppt/slides/slide7.xml" Id="Rf5a439aad8dd4556" /><Relationship Type="http://schemas.openxmlformats.org/officeDocument/2006/relationships/slide" Target="/ppt/slides/slide8.xml" Id="R496b24326c3f48d7" /><Relationship Type="http://schemas.openxmlformats.org/officeDocument/2006/relationships/slide" Target="/ppt/slides/slide9.xml" Id="Re424fecc11d94b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70ad0946d846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ce66f5686f41c3" /><Relationship Type="http://schemas.openxmlformats.org/officeDocument/2006/relationships/notesMaster" Target="/ppt/notesMasters/notesMaster1.xml" Id="R17c8702bf5a949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fc0374ebd3478f" /><Relationship Type="http://schemas.openxmlformats.org/officeDocument/2006/relationships/notesMaster" Target="/ppt/notesMasters/notesMaster1.xml" Id="R1bba59c9ba9743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09844869c24414" /><Relationship Type="http://schemas.openxmlformats.org/officeDocument/2006/relationships/notesMaster" Target="/ppt/notesMasters/notesMaster1.xml" Id="R831a9c8c73b848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a024c269424584" /><Relationship Type="http://schemas.openxmlformats.org/officeDocument/2006/relationships/notesMaster" Target="/ppt/notesMasters/notesMaster1.xml" Id="Rcb34857fed4148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cfa7d6c3a8479b" /><Relationship Type="http://schemas.openxmlformats.org/officeDocument/2006/relationships/notesMaster" Target="/ppt/notesMasters/notesMaster1.xml" Id="Raf1e9c3d41eb44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d4a2e655cc41e6" /><Relationship Type="http://schemas.openxmlformats.org/officeDocument/2006/relationships/notesMaster" Target="/ppt/notesMasters/notesMaster1.xml" Id="R97e7bdaabd3848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d891e360724844" /><Relationship Type="http://schemas.openxmlformats.org/officeDocument/2006/relationships/notesMaster" Target="/ppt/notesMasters/notesMaster1.xml" Id="Rcc34a5e63cf642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e3f3b13a02e42e6" /><Relationship Type="http://schemas.openxmlformats.org/officeDocument/2006/relationships/notesMaster" Target="/ppt/notesMasters/notesMaster1.xml" Id="Rcd97d76700d047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f192f8aa7147a5" /><Relationship Type="http://schemas.openxmlformats.org/officeDocument/2006/relationships/notesMaster" Target="/ppt/notesMasters/notesMaster1.xml" Id="R1edc20d479ed4b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Наш проект называется Conversation-to-Knowledge Agent. Мы предлагаем интерфейс, который извлекает ценные знания из многошаговых диалогов с ИИ и помогает включать их в личную базу знаний. Под многошаговым диалогом мы понимаем разговор с последовательными вопросами, уточнениями и ответами. Система учитывает весь доступный контекст и сопоставляет найденные знания с существующими заметками. Результатом становятся новые связанные заметки или дополнения к уже имеющимся. Сейчас проект использует Obsidian, где пользователь хранит заметки в формате Markdown. Применение охватывает работу, личные проекты и самостоятельное изучение интересующих тем.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README.md; docs/requirements.md, разделы 1–3; согласованное описание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определяем аудиторию через поведение. Это люди, которые регулярно обсуждают с ИИ сложные вопросы и хотят использовать полученные знания позже. Среди них могут быть разработчики, исследователи, аналитики, авторы и люди, самостоятельно изучающие новые темы. Общая задача состоит в накоплении личных знаний, которые можно применить в другом проекте или вернуться к ним спустя время. Для первого этапа особенно подходят пользователи, которые уже ведут заметки в Obsidian. Перечисленные группы задают нашу гипотезу аудитории. Распространённость потребности и привычки пользователей нужно уточнить в интервью.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docs/requirements.md, разделы 1–2; README.md. Группы пользователей и частота потребности являются гипотезой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Полезное знание часто формируется постепенно. Человек задаёт вопрос, получает ответ, добавляет ограничения, уточняет детали и пересматривает первоначальное понимание. Важные части оказываются в разных репликах. Некоторые сведения повторяются, а разговор может переходить к другой теме. Чтобы сохранить результат, пользователю приходится заново просматривать историю, восстанавливать контекст и отделять устойчивые выводы от временных деталей. История разговора организована по последовательности общения. Для дальнейшего использования человеку нужна организация по темам и связям. Именно преобразование между этими двумя формами создаёт задачу для нашего интерфейса.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docs/requirements.md, US-2, US-3, US-7 и сценарий 9; docs/agent-workflow.md, шаги 2–5.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центре внимания находится содержание, которое сохраняет ценность вне текущего разговора. Это могут быть понятия, методы с условиями применения, способы решения проблем, выводы и причины выбора решения. Особенность проекта — сохранение развития понимания. Если пользователь сначала понимал вопрос иначе, а в разговоре появилась аргументированная корректировка, заметка может зафиксировать исходное понимание, пояснение и итоговый вывод. Система также связывает извлечённое содержание с фрагментами исходного диалога. Приветствия, повторы и временные детали не должны превращаться в отдельные заметки. В проекте используется ориентир: будет ли это полезно перечитать через три месяца. Это критерий отбора, а не гарантия достоверности. Пользователь всё равно проверяет содержание.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backend/app/prompts/extract/prompt.md; backend/app/prompts/classify/prompt.md; backend/app/prompts/generate/prompt.md; docs/learning/05-knowledge-extraction.md.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извлечения система ищет связанные материалы в существующей базе. Затем она предлагает подходящий способ организации. Самостоятельное новое знание может стать отдельной заметкой. Новые сведения по знакомой теме дополняют существующую заметку. Небольшой составной элемент можно включить в раздел более общей темы. Если полезная информация уже есть, её можно пропустить. При противоречии система отмечает конфликт и оставляет решение пользователю. Между связанными заметками создаются ссылки. Благодаря этому следующий импорт диалога может продолжить уже начатое накопление знаний. В текущей реализации дополнение существующего текста выполняется через добавление новых разделов, без переписывания прежнего основного текста.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backend/app/prompts/plan/prompt.md; docs/agent-workflow.md, шаги 5–10; docs/architecture.md, D5.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Рассмотрим условный разговор о резервном копировании в личном проекте. Сначала пользователь спрашивает, как организовать копирование данных. Затем уточняет ограничения, например что данные находятся локально и свободного времени мало. ИИ поясняет возможные варианты, а пользователь задаёт дополнительный вопрос о проверке восстановления. После сравнения появляется решение и основания выбора. Система анализирует последовательность обсуждения и может выделить способы копирования, критерии выбора и метод проверки восстановления. Если в базе уже есть заметка о резервном копировании, агент предлагает дополнить её новым разделом. Самостоятельную новую тему он может оформить отдельно и связать с этой заметкой. Здесь показан возможный сценарий, а не результат запуска на реальной переписке.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Иллюстративный сценарий, согласованный для презентации. Логика обработки: docs/requirements.md, US-2, US-4, US-7; backend/app/prompts/plan/prompt.md.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Основной путь пользователя начинается с импорта разговора. После анализа он видит темы, извлечённые знания и их основания в исходном тексте. На этапе проверки интерфейс связывает каждое предложение с конкретной заметкой в базе. Слева на концептуальном макете показано, какое знание найдено и из какого фрагмента разговора оно происходит. Справа показаны место сохранения и причина выбора. Пользователь может исключить отдельное действие или подтвердить план. После выполнения он видит результат и связи между заметками. По умолчанию изменения требуют подтверждения. Текущий план показывает структуру и назначение изменений, а окончательный текст генерируется после одобрения. Макет иллюстрирует предлагаемую организацию экрана и не является снимком текущего приложения.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docs/agent-workflow.md, шаги 8–13; frontend/src/components/ExtractionPanel.vue; frontend/src/components/PlanPanel.vue. Концептуальная иллюстрация создана встроенным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Сравним способы выполнения одной задачи. Сохранённая история разговора требует повторного чтения и поиска важных фрагментов. Ручной перенос в заметки требует дополнительно разбить материал по темам, найти прежние записи и проверить повторы. Если попросить ИИ сделать краткое содержание, а затем вручную его сохранить, остаётся работа по включению результата в личную базу. Наш проект объединяет извлечение содержания с поиском по уже имеющимся заметкам и подготовкой конкретных действий. Пользователь проверяет предложения. Мы ожидаем сокращения повторного чтения и ручной организации материала. Это гипотеза эффективности, которую нужно измерить вместе с качеством результата. Сравнение относится к описанным рабочим способам, без утверждения о превосходстве над всеми возможностями других продуктов.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Анализ рабочих сценариев на основе docs/requirements.md, US-1–US-9. Преимущество пока является гипотезой, пользовательских измерений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Следующий шаг — интервью с людьми, которые регулярно используют ИИ и ведут личные заметки. Нужно выяснить, как часто они возвращаются к разговорам и где теряют время. Затем проведём сравнительный тест: участники обработают сопоставимые многошаговые диалоги вручную и через интерфейс, имея подготовленную базу с повторяющимися и дополняемыми темами. Порядок способов следует менять между участниками. Мы измерим полное время до принятого результата, включая ожидание модели и исправления. Также оценим пропущенные полезные сведения, дубли, неудачную организацию и ошибочные связи. Отдельное задание позже покажет, может ли человек найти и применить сохранённое знание. Польза подтверждается, если ручной работы становится меньше, а качество и повторное использование знаний не ухудшаются. Пока мы предлагаем метод проверки, а не сообщаем готовые результаты.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Основание: Предлагаемый план пользовательского исследования. Критерии качества основаны на docs/requirements.md, раздел 6; ограничения доказательств описаны в docs/known-limitations.md, раздел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6754c74ab640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349c84cc7845cb" /><Relationship Type="http://schemas.openxmlformats.org/officeDocument/2006/relationships/slideLayout" Target="/ppt/slideLayouts/slideLayout1.xml" Id="Rfef515908c6d46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f515908c6d46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5d9b18eb64a0f" /><Relationship Type="http://schemas.openxmlformats.org/officeDocument/2006/relationships/notesSlide" Target="/ppt/notesSlides/notesSlide1.xml" Id="Rec0bee3d5b2a45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d3772d07548ac" /><Relationship Type="http://schemas.openxmlformats.org/officeDocument/2006/relationships/notesSlide" Target="/ppt/notesSlides/notesSlide2.xml" Id="R34f93415748249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a504f631d4a99" /><Relationship Type="http://schemas.openxmlformats.org/officeDocument/2006/relationships/notesSlide" Target="/ppt/notesSlides/notesSlide3.xml" Id="Refb70e0159ce47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ffaaa25f54b80" /><Relationship Type="http://schemas.openxmlformats.org/officeDocument/2006/relationships/notesSlide" Target="/ppt/notesSlides/notesSlide4.xml" Id="R6eb0a25ac7314b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1e10a051d4d9f" /><Relationship Type="http://schemas.openxmlformats.org/officeDocument/2006/relationships/notesSlide" Target="/ppt/notesSlides/notesSlide5.xml" Id="R023049ff82ee42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9c69232f249e2" /><Relationship Type="http://schemas.openxmlformats.org/officeDocument/2006/relationships/notesSlide" Target="/ppt/notesSlides/notesSlide6.xml" Id="Rbbd9fbf0abec41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c3fc806f64573" /><Relationship Type="http://schemas.openxmlformats.org/officeDocument/2006/relationships/image" Target="/ppt/media/image.png" Id="R707a26c2ed054ac9" /><Relationship Type="http://schemas.openxmlformats.org/officeDocument/2006/relationships/notesSlide" Target="/ppt/notesSlides/notesSlide7.xml" Id="R1edfffb0387740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ebfaef5a848b5" /><Relationship Type="http://schemas.openxmlformats.org/officeDocument/2006/relationships/notesSlide" Target="/ppt/notesSlides/notesSlide8.xml" Id="R58ceabe21d7945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8f572ce4f4ee7" /><Relationship Type="http://schemas.openxmlformats.org/officeDocument/2006/relationships/notesSlide" Target="/ppt/notesSlides/notesSlide9.xml" Id="Rdaf9e3be545944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9FCC0FD8-7417-470F-977E-4687E082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Личная база знаний&#10;из диалогов с ИИ">
            <a:extLst xmlns:a="http://schemas.openxmlformats.org/drawingml/2006/main">
              <a:ext uri="{FF2B5EF4-FFF2-40B4-BE49-F238E27FC236}">
                <a16:creationId xmlns:a16="http://schemas.microsoft.com/office/drawing/2014/main" id="{73F6082C-1A86-413B-93AC-DF98E211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76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Личная база знаний</a:t>
            </a:r>
          </a:p>
          <a:p xmlns:a="http://schemas.openxmlformats.org/drawingml/2006/main">
            <a:pPr>
              <a:defRPr sz="5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 диалогов с ИИ</a:t>
            </a:r>
          </a:p>
        </p:txBody>
      </p:sp>
      <p:sp>
        <p:nvSpPr>
          <p:cNvPr id="3" name="Извлечение ценных знаний из многошаговых диалогов&#10;и их включение в сущ">
            <a:extLst xmlns:a="http://schemas.openxmlformats.org/drawingml/2006/main">
              <a:ext uri="{FF2B5EF4-FFF2-40B4-BE49-F238E27FC236}">
                <a16:creationId xmlns:a16="http://schemas.microsoft.com/office/drawing/2014/main" id="{CE763D01-4025-4ACC-9CC3-A2B623B8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6680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Извлечение ценных знаний из многошаговых диалогов</a:t>
            </a:r>
          </a:p>
          <a:p xmlns:a="http://schemas.openxmlformats.org/drawingml/2006/main">
            <a:pPr>
              <a:defRPr sz="225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 их включение в существующую базу Obsidian</a:t>
            </a:r>
          </a:p>
        </p:txBody>
      </p:sp>
      <p:sp>
        <p:nvSpPr>
          <p:cNvPr id="4" name="Conversation-to-Knowledge Agent">
            <a:extLst xmlns:a="http://schemas.openxmlformats.org/drawingml/2006/main">
              <a:ext uri="{FF2B5EF4-FFF2-40B4-BE49-F238E27FC236}">
                <a16:creationId xmlns:a16="http://schemas.microsoft.com/office/drawing/2014/main" id="{D60C15F5-EEC1-41F0-A835-3BE77068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Conversation-to-Knowledge Agent</a:t>
            </a:r>
          </a:p>
        </p:txBody>
      </p:sp>
    </p:spTree>
    <p:extLst>
      <p:ext uri="{BB962C8B-B14F-4D97-AF65-F5344CB8AC3E}">
        <p14:creationId xmlns:p14="http://schemas.microsoft.com/office/powerpoint/2010/main" val="6334062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Для кого мы создаём интерфейс">
            <a:extLst xmlns:a="http://schemas.openxmlformats.org/drawingml/2006/main">
              <a:ext uri="{FF2B5EF4-FFF2-40B4-BE49-F238E27FC236}">
                <a16:creationId xmlns:a16="http://schemas.microsoft.com/office/drawing/2014/main" id="{FD9F749B-1624-45B7-BA2D-41E82658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Для кого мы создаём интерфейс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C65F39A3-DDA6-4185-A35C-8457AB73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Регулярно обсуждают&#10;вопросы с ИИ">
            <a:extLst xmlns:a="http://schemas.openxmlformats.org/drawingml/2006/main">
              <a:ext uri="{FF2B5EF4-FFF2-40B4-BE49-F238E27FC236}">
                <a16:creationId xmlns:a16="http://schemas.microsoft.com/office/drawing/2014/main" id="{FA682BFD-0F07-4E89-8299-70940854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0958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Регулярно обсуждают</a:t>
            </a:r>
          </a:p>
          <a:p xmlns:a="http://schemas.openxmlformats.org/drawingml/2006/main">
            <a:pPr>
              <a:defRPr sz="3225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вопросы с ИИ</a:t>
            </a:r>
          </a:p>
        </p:txBody>
      </p:sp>
      <p:sp>
        <p:nvSpPr>
          <p:cNvPr id="4" name="Хотят сохранять знания&#10;и применять их снова">
            <a:extLst xmlns:a="http://schemas.openxmlformats.org/drawingml/2006/main">
              <a:ext uri="{FF2B5EF4-FFF2-40B4-BE49-F238E27FC236}">
                <a16:creationId xmlns:a16="http://schemas.microsoft.com/office/drawing/2014/main" id="{FF02CE57-7E37-49AE-8F6E-ABA4DD6A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Хотят сохранять знания</a:t>
            </a:r>
          </a:p>
          <a:p xmlns:a="http://schemas.openxmlformats.org/drawingml/2006/main">
            <a:pPr>
              <a:defRPr sz="24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применять их снова</a:t>
            </a:r>
          </a:p>
        </p:txBody>
      </p:sp>
      <p:sp>
        <p:nvSpPr>
          <p:cNvPr id="5" name="Для первого этапа:&#10;пользователи Obsidian">
            <a:extLst xmlns:a="http://schemas.openxmlformats.org/drawingml/2006/main">
              <a:ext uri="{FF2B5EF4-FFF2-40B4-BE49-F238E27FC236}">
                <a16:creationId xmlns:a16="http://schemas.microsoft.com/office/drawing/2014/main" id="{92E2BC63-21F5-4F51-8DFE-A6262F83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Для первого этапа:</a:t>
            </a:r>
          </a:p>
          <a:p xmlns:a="http://schemas.openxmlformats.org/drawingml/2006/main">
            <a:pPr>
              <a:defRPr sz="18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пользователи Obsidian</a:t>
            </a:r>
          </a:p>
        </p:txBody>
      </p:sp>
      <p:sp>
        <p:nvSpPr>
          <p:cNvPr id="6" name="Работа и личные проекты">
            <a:extLst xmlns:a="http://schemas.openxmlformats.org/drawingml/2006/main">
              <a:ext uri="{FF2B5EF4-FFF2-40B4-BE49-F238E27FC236}">
                <a16:creationId xmlns:a16="http://schemas.microsoft.com/office/drawing/2014/main" id="{C75575AE-5653-4DAC-8937-FAFB83EF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Работа и личные проекты</a:t>
            </a:r>
          </a:p>
        </p:txBody>
      </p:sp>
      <p:sp>
        <p:nvSpPr>
          <p:cNvPr id="7" name="Разработка, исследования,&#10;анализ и создание материалов">
            <a:extLst xmlns:a="http://schemas.openxmlformats.org/drawingml/2006/main">
              <a:ext uri="{FF2B5EF4-FFF2-40B4-BE49-F238E27FC236}">
                <a16:creationId xmlns:a16="http://schemas.microsoft.com/office/drawing/2014/main" id="{A765393E-30D3-43FD-BA3F-21C6743A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05075"/>
            <a:ext cx="4857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Разработка, исследования,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анализ и создание материалов</a:t>
            </a:r>
          </a:p>
        </p:txBody>
      </p:sp>
      <p:sp>
        <p:nvSpPr>
          <p:cNvPr id="8" name="Самостоятельное изучение тем">
            <a:extLst xmlns:a="http://schemas.openxmlformats.org/drawingml/2006/main">
              <a:ext uri="{FF2B5EF4-FFF2-40B4-BE49-F238E27FC236}">
                <a16:creationId xmlns:a16="http://schemas.microsoft.com/office/drawing/2014/main" id="{64168C1B-CF04-438B-8763-193CAC2F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4905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Самостоятельное изучение тем</a:t>
            </a:r>
          </a:p>
        </p:txBody>
      </p:sp>
      <p:sp>
        <p:nvSpPr>
          <p:cNvPr id="9" name="Профессиональные интересы&#10;и повседневные вопросы">
            <a:extLst xmlns:a="http://schemas.openxmlformats.org/drawingml/2006/main">
              <a:ext uri="{FF2B5EF4-FFF2-40B4-BE49-F238E27FC236}">
                <a16:creationId xmlns:a16="http://schemas.microsoft.com/office/drawing/2014/main" id="{AC09991D-6BDC-4BE0-B487-9C637DBF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4345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Профессиональные интересы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повседневные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6233999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Почему знания трудно сохранить из диалога">
            <a:extLst xmlns:a="http://schemas.openxmlformats.org/drawingml/2006/main">
              <a:ext uri="{FF2B5EF4-FFF2-40B4-BE49-F238E27FC236}">
                <a16:creationId xmlns:a16="http://schemas.microsoft.com/office/drawing/2014/main" id="{0BAF2C1D-37C6-4E4A-AB86-CD810620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Почему знания трудно сохранить из диалога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C076E357-5A36-497D-A19D-99820238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В ходе разговора">
            <a:extLst xmlns:a="http://schemas.openxmlformats.org/drawingml/2006/main">
              <a:ext uri="{FF2B5EF4-FFF2-40B4-BE49-F238E27FC236}">
                <a16:creationId xmlns:a16="http://schemas.microsoft.com/office/drawing/2014/main" id="{D9E9738E-3D75-493F-8DC8-A806DC63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В ходе разговора</a:t>
            </a:r>
          </a:p>
        </p:txBody>
      </p:sp>
      <p:sp>
        <p:nvSpPr>
          <p:cNvPr id="4" name="Вопрос и первый ответ&#10;Уточнения и новые условия&#10;Исправления и выводы">
            <a:extLst xmlns:a="http://schemas.openxmlformats.org/drawingml/2006/main">
              <a:ext uri="{FF2B5EF4-FFF2-40B4-BE49-F238E27FC236}">
                <a16:creationId xmlns:a16="http://schemas.microsoft.com/office/drawing/2014/main" id="{374C2B9C-FCDD-411D-8BEE-D3CC6BEA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238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Вопрос и первый ответ</a:t>
            </a:r>
          </a:p>
          <a:p xmlns:a="http://schemas.openxmlformats.org/drawingml/2006/main">
            <a:pPr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Уточнения и новые условия</a:t>
            </a:r>
          </a:p>
          <a:p xmlns:a="http://schemas.openxmlformats.org/drawingml/2006/main">
            <a:pPr>
              <a:defRPr sz="24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Исправления и выводы</a:t>
            </a:r>
          </a:p>
        </p:txBody>
      </p:sp>
      <p:sp>
        <p:nvSpPr>
          <p:cNvPr id="5" name="Чтобы использовать позже">
            <a:extLst xmlns:a="http://schemas.openxmlformats.org/drawingml/2006/main">
              <a:ext uri="{FF2B5EF4-FFF2-40B4-BE49-F238E27FC236}">
                <a16:creationId xmlns:a16="http://schemas.microsoft.com/office/drawing/2014/main" id="{0E07C676-A6DC-47FE-9C11-B766F309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Чтобы использовать позже</a:t>
            </a:r>
          </a:p>
        </p:txBody>
      </p:sp>
      <p:sp>
        <p:nvSpPr>
          <p:cNvPr id="6" name="Собрать смысл из разных реплик&#10;Убрать повторы и временные детали&#10;Связа">
            <a:extLst xmlns:a="http://schemas.openxmlformats.org/drawingml/2006/main">
              <a:ext uri="{FF2B5EF4-FFF2-40B4-BE49-F238E27FC236}">
                <a16:creationId xmlns:a16="http://schemas.microsoft.com/office/drawing/2014/main" id="{010FCCCF-88B0-4121-8764-DB5768A2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97205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Собрать смысл из разных реплик</a:t>
            </a:r>
          </a:p>
          <a:p xmlns:a="http://schemas.openxmlformats.org/drawingml/2006/main">
            <a:pPr>
              <a:defRPr sz="21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Убрать повторы и временные детали</a:t>
            </a:r>
          </a:p>
          <a:p xmlns:a="http://schemas.openxmlformats.org/drawingml/2006/main">
            <a:pPr>
              <a:defRPr sz="21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Связать с тем, что уже известно</a:t>
            </a:r>
          </a:p>
        </p:txBody>
      </p:sp>
      <p:sp>
        <p:nvSpPr>
          <p:cNvPr id="7" name="Обсуждение идёт по порядку реплик.&#10;Знания нужны в структуре тем и связ">
            <a:extLst xmlns:a="http://schemas.openxmlformats.org/drawingml/2006/main">
              <a:ext uri="{FF2B5EF4-FFF2-40B4-BE49-F238E27FC236}">
                <a16:creationId xmlns:a16="http://schemas.microsoft.com/office/drawing/2014/main" id="{A54462EE-8BF4-4642-A947-6D06E792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57275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Обсуждение идёт по порядку реплик.</a:t>
            </a:r>
          </a:p>
          <a:p xmlns:a="http://schemas.openxmlformats.org/drawingml/2006/main">
            <a:pPr>
              <a:defRPr sz="26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Знания нужны в структуре тем и связей.</a:t>
            </a:r>
          </a:p>
        </p:txBody>
      </p:sp>
    </p:spTree>
    <p:extLst>
      <p:ext uri="{BB962C8B-B14F-4D97-AF65-F5344CB8AC3E}">
        <p14:creationId xmlns:p14="http://schemas.microsoft.com/office/powerpoint/2010/main" val="5553938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Какие знания мы извлекаем">
            <a:extLst xmlns:a="http://schemas.openxmlformats.org/drawingml/2006/main">
              <a:ext uri="{FF2B5EF4-FFF2-40B4-BE49-F238E27FC236}">
                <a16:creationId xmlns:a16="http://schemas.microsoft.com/office/drawing/2014/main" id="{6F503786-004D-4FE3-A688-F49546BB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Какие знания мы извлекаем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16453890-793D-4189-87BE-AE261B85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Понятия и объяснения">
            <a:extLst xmlns:a="http://schemas.openxmlformats.org/drawingml/2006/main">
              <a:ext uri="{FF2B5EF4-FFF2-40B4-BE49-F238E27FC236}">
                <a16:creationId xmlns:a16="http://schemas.microsoft.com/office/drawing/2014/main" id="{5EDEFFFB-5881-409A-8EA5-FAF7A584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191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Понятия и объяснения</a:t>
            </a:r>
          </a:p>
        </p:txBody>
      </p:sp>
      <p:sp>
        <p:nvSpPr>
          <p:cNvPr id="4" name="Суть идеи и важные уточнения">
            <a:extLst xmlns:a="http://schemas.openxmlformats.org/drawingml/2006/main">
              <a:ext uri="{FF2B5EF4-FFF2-40B4-BE49-F238E27FC236}">
                <a16:creationId xmlns:a16="http://schemas.microsoft.com/office/drawing/2014/main" id="{57FE78C7-8CD2-4794-A4BB-C256601C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38325"/>
            <a:ext cx="604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Суть идеи и важные уточнения</a:t>
            </a:r>
          </a:p>
        </p:txBody>
      </p:sp>
      <p:sp>
        <p:nvSpPr>
          <p:cNvPr id="5" name="Методы и решения">
            <a:extLst xmlns:a="http://schemas.openxmlformats.org/drawingml/2006/main">
              <a:ext uri="{FF2B5EF4-FFF2-40B4-BE49-F238E27FC236}">
                <a16:creationId xmlns:a16="http://schemas.microsoft.com/office/drawing/2014/main" id="{F0CD4FD9-D160-45B9-84DF-996A20B7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191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Методы и решения</a:t>
            </a:r>
          </a:p>
        </p:txBody>
      </p:sp>
      <p:sp>
        <p:nvSpPr>
          <p:cNvPr id="6" name="Как действовать и при каких условиях">
            <a:extLst xmlns:a="http://schemas.openxmlformats.org/drawingml/2006/main">
              <a:ext uri="{FF2B5EF4-FFF2-40B4-BE49-F238E27FC236}">
                <a16:creationId xmlns:a16="http://schemas.microsoft.com/office/drawing/2014/main" id="{72147D62-BAB9-4C93-BB25-7513C5FB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52725"/>
            <a:ext cx="604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 действовать и при каких условиях</a:t>
            </a:r>
          </a:p>
        </p:txBody>
      </p:sp>
      <p:sp>
        <p:nvSpPr>
          <p:cNvPr id="7" name="Выводы и выбор">
            <a:extLst xmlns:a="http://schemas.openxmlformats.org/drawingml/2006/main">
              <a:ext uri="{FF2B5EF4-FFF2-40B4-BE49-F238E27FC236}">
                <a16:creationId xmlns:a16="http://schemas.microsoft.com/office/drawing/2014/main" id="{59F0D84D-5D36-4285-A4B6-123CE408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191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Выводы и выбор</a:t>
            </a:r>
          </a:p>
        </p:txBody>
      </p:sp>
      <p:sp>
        <p:nvSpPr>
          <p:cNvPr id="8" name="Результат обсуждения и его основания">
            <a:extLst xmlns:a="http://schemas.openxmlformats.org/drawingml/2006/main">
              <a:ext uri="{FF2B5EF4-FFF2-40B4-BE49-F238E27FC236}">
                <a16:creationId xmlns:a16="http://schemas.microsoft.com/office/drawing/2014/main" id="{4B991C3B-1A49-467E-9DAA-D960B60B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667125"/>
            <a:ext cx="604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Результат обсуждения и его основания</a:t>
            </a:r>
          </a:p>
        </p:txBody>
      </p:sp>
      <p:sp>
        <p:nvSpPr>
          <p:cNvPr id="9" name="Развитие понимания">
            <a:extLst xmlns:a="http://schemas.openxmlformats.org/drawingml/2006/main">
              <a:ext uri="{FF2B5EF4-FFF2-40B4-BE49-F238E27FC236}">
                <a16:creationId xmlns:a16="http://schemas.microsoft.com/office/drawing/2014/main" id="{CC4ADB22-91BD-4406-9E5B-99B59E03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191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Развитие понимания</a:t>
            </a:r>
          </a:p>
        </p:txBody>
      </p:sp>
      <p:sp>
        <p:nvSpPr>
          <p:cNvPr id="10" name="Исходное понимание, уточнение, итог">
            <a:extLst xmlns:a="http://schemas.openxmlformats.org/drawingml/2006/main">
              <a:ext uri="{FF2B5EF4-FFF2-40B4-BE49-F238E27FC236}">
                <a16:creationId xmlns:a16="http://schemas.microsoft.com/office/drawing/2014/main" id="{C8561227-4DE1-48C4-B72E-536883CC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581525"/>
            <a:ext cx="604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Исходное понимание, уточнение, итог</a:t>
            </a:r>
          </a:p>
        </p:txBody>
      </p:sp>
      <p:sp>
        <p:nvSpPr>
          <p:cNvPr id="11" name="Отбираем то, что полезно сохранить надолго.&#10;Пропускаем повторы, привет">
            <a:extLst xmlns:a="http://schemas.openxmlformats.org/drawingml/2006/main">
              <a:ext uri="{FF2B5EF4-FFF2-40B4-BE49-F238E27FC236}">
                <a16:creationId xmlns:a16="http://schemas.microsoft.com/office/drawing/2014/main" id="{22ED3137-7D24-48E1-BB44-3F66A281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Отбираем то, что полезно сохранить надолго.</a:t>
            </a:r>
          </a:p>
          <a:p xmlns:a="http://schemas.openxmlformats.org/drawingml/2006/main">
            <a:pPr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Пропускаем повторы, приветствия и временные детали.</a:t>
            </a:r>
          </a:p>
        </p:txBody>
      </p:sp>
    </p:spTree>
    <p:extLst>
      <p:ext uri="{BB962C8B-B14F-4D97-AF65-F5344CB8AC3E}">
        <p14:creationId xmlns:p14="http://schemas.microsoft.com/office/powerpoint/2010/main" val="5047378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Как новые знания дополняют базу">
            <a:extLst xmlns:a="http://schemas.openxmlformats.org/drawingml/2006/main">
              <a:ext uri="{FF2B5EF4-FFF2-40B4-BE49-F238E27FC236}">
                <a16:creationId xmlns:a16="http://schemas.microsoft.com/office/drawing/2014/main" id="{3A3F92A0-97A1-4C97-B72A-991B38E1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 новые знания дополняют базу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32115F17-CFCE-4E4D-9436-5679CE65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743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19700"/>
                <a:gridCol w="5600700"/>
              </a:tblGrid>
              <a:tr h="5524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найдено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Предложение системы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Новое самостоятельное знание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Создать заметку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Дополнение к знакомой теме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Дополнить существующую заметку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Небольшая часть общей темы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Включить в раздел подходящей заметки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Повтор без новой информации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Пропустить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Противоречие прежней записи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Отметить конфликт для проверки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</a:tbl>
          </a:graphicData>
        </a:graphic>
      </p:graphicFrame>
      <p:sp>
        <p:nvSpPr>
          <p:cNvPr id="4" name="Связи между заметками объединяют знания из разных диалогов">
            <a:extLst xmlns:a="http://schemas.openxmlformats.org/drawingml/2006/main">
              <a:ext uri="{FF2B5EF4-FFF2-40B4-BE49-F238E27FC236}">
                <a16:creationId xmlns:a16="http://schemas.microsoft.com/office/drawing/2014/main" id="{933A0C3A-C433-4295-9722-C16BD992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Связи между заметками объединяют знания из разных диалогов</a:t>
            </a:r>
          </a:p>
        </p:txBody>
      </p:sp>
    </p:spTree>
    <p:extLst>
      <p:ext uri="{BB962C8B-B14F-4D97-AF65-F5344CB8AC3E}">
        <p14:creationId xmlns:p14="http://schemas.microsoft.com/office/powerpoint/2010/main" val="16323685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Пример: резервное копирование для проекта">
            <a:extLst xmlns:a="http://schemas.openxmlformats.org/drawingml/2006/main">
              <a:ext uri="{FF2B5EF4-FFF2-40B4-BE49-F238E27FC236}">
                <a16:creationId xmlns:a16="http://schemas.microsoft.com/office/drawing/2014/main" id="{6C4873F8-05D7-460A-B3B2-7FCF26A4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Пример: резервное копирование для проекта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57819C4F-54C9-4AE6-9997-28AEE51D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Несколько ходов диалога">
            <a:extLst xmlns:a="http://schemas.openxmlformats.org/drawingml/2006/main">
              <a:ext uri="{FF2B5EF4-FFF2-40B4-BE49-F238E27FC236}">
                <a16:creationId xmlns:a16="http://schemas.microsoft.com/office/drawing/2014/main" id="{EA58A41B-5C3F-4497-87CA-FF227923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Несколько ходов диалога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8ADEB6EC-DEE3-4A48-A66D-1BA27F99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533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Пользователь">
            <a:extLst xmlns:a="http://schemas.openxmlformats.org/drawingml/2006/main">
              <a:ext uri="{FF2B5EF4-FFF2-40B4-BE49-F238E27FC236}">
                <a16:creationId xmlns:a16="http://schemas.microsoft.com/office/drawing/2014/main" id="{3815BE8B-E149-41CF-96AD-8BAC0FF0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717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Пользователь</a:t>
            </a:r>
          </a:p>
        </p:txBody>
      </p:sp>
      <p:sp>
        <p:nvSpPr>
          <p:cNvPr id="6" name="Как делать резервные копии?">
            <a:extLst xmlns:a="http://schemas.openxmlformats.org/drawingml/2006/main">
              <a:ext uri="{FF2B5EF4-FFF2-40B4-BE49-F238E27FC236}">
                <a16:creationId xmlns:a16="http://schemas.microsoft.com/office/drawing/2014/main" id="{F4F78813-517F-4DEF-B328-DD6F90B07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86050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 делать резервные копии?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EAAF2EA9-CD91-4548-B668-B83518B2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533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ИИ">
            <a:extLst xmlns:a="http://schemas.openxmlformats.org/drawingml/2006/main">
              <a:ext uri="{FF2B5EF4-FFF2-40B4-BE49-F238E27FC236}">
                <a16:creationId xmlns:a16="http://schemas.microsoft.com/office/drawing/2014/main" id="{12BBC26B-F208-454B-9A79-080B1DB4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908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ИИ</a:t>
            </a:r>
          </a:p>
        </p:txBody>
      </p:sp>
      <p:sp>
        <p:nvSpPr>
          <p:cNvPr id="9" name="Уточняет задачу и предлагает варианты.">
            <a:extLst xmlns:a="http://schemas.openxmlformats.org/drawingml/2006/main">
              <a:ext uri="{FF2B5EF4-FFF2-40B4-BE49-F238E27FC236}">
                <a16:creationId xmlns:a16="http://schemas.microsoft.com/office/drawing/2014/main" id="{7004AB83-CEE8-497C-A24E-B4D61E0A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05200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Уточняет задачу и предлагает варианты.</a:t>
            </a:r>
          </a:p>
        </p:txBody>
      </p:sp>
      <p:sp>
        <p:nvSpPr>
          <p:cNvPr id="10" name="03">
            <a:extLst xmlns:a="http://schemas.openxmlformats.org/drawingml/2006/main">
              <a:ext uri="{FF2B5EF4-FFF2-40B4-BE49-F238E27FC236}">
                <a16:creationId xmlns:a16="http://schemas.microsoft.com/office/drawing/2014/main" id="{63E4F5B0-E9B2-422A-B31A-C47217FB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533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Пользователь">
            <a:extLst xmlns:a="http://schemas.openxmlformats.org/drawingml/2006/main">
              <a:ext uri="{FF2B5EF4-FFF2-40B4-BE49-F238E27FC236}">
                <a16:creationId xmlns:a16="http://schemas.microsoft.com/office/drawing/2014/main" id="{4246636F-A5D7-40DC-818C-2FF5B4F7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00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Пользователь</a:t>
            </a:r>
          </a:p>
        </p:txBody>
      </p:sp>
      <p:sp>
        <p:nvSpPr>
          <p:cNvPr id="12" name="Как проверить восстановление?">
            <a:extLst xmlns:a="http://schemas.openxmlformats.org/drawingml/2006/main">
              <a:ext uri="{FF2B5EF4-FFF2-40B4-BE49-F238E27FC236}">
                <a16:creationId xmlns:a16="http://schemas.microsoft.com/office/drawing/2014/main" id="{8CBAF2E7-3349-4885-BD87-23D8C11D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24350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Как проверить восстановление?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94217E54-CA17-4E96-B8EF-8037DCF4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533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ИИ и пользователь">
            <a:extLst xmlns:a="http://schemas.openxmlformats.org/drawingml/2006/main">
              <a:ext uri="{FF2B5EF4-FFF2-40B4-BE49-F238E27FC236}">
                <a16:creationId xmlns:a16="http://schemas.microsoft.com/office/drawing/2014/main" id="{C81BEEC7-E8D4-4707-A0F9-AE5438BC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1707A"/>
                </a:solidFill>
                <a:latin typeface="Arial"/>
                <a:ea typeface="Arial"/>
                <a:cs typeface="Arial"/>
              </a:rPr>
              <a:t>ИИ и пользователь</a:t>
            </a:r>
          </a:p>
        </p:txBody>
      </p:sp>
      <p:sp>
        <p:nvSpPr>
          <p:cNvPr id="15" name="Обсуждают проверку и выбирают способ.">
            <a:extLst xmlns:a="http://schemas.openxmlformats.org/drawingml/2006/main">
              <a:ext uri="{FF2B5EF4-FFF2-40B4-BE49-F238E27FC236}">
                <a16:creationId xmlns:a16="http://schemas.microsoft.com/office/drawing/2014/main" id="{FC66B870-0300-427F-A58F-A19E073C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43500"/>
            <a:ext cx="4667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Обсуждают проверку и выбирают способ.</a:t>
            </a:r>
          </a:p>
        </p:txBody>
      </p:sp>
      <p:sp>
        <p:nvSpPr>
          <p:cNvPr id="16" name="Результат в базе">
            <a:extLst xmlns:a="http://schemas.openxmlformats.org/drawingml/2006/main">
              <a:ext uri="{FF2B5EF4-FFF2-40B4-BE49-F238E27FC236}">
                <a16:creationId xmlns:a16="http://schemas.microsoft.com/office/drawing/2014/main" id="{5093AE88-5CC5-41CB-A3CC-5FAE775E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85925"/>
            <a:ext cx="4505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Результат в базе</a:t>
            </a:r>
          </a:p>
        </p:txBody>
      </p:sp>
      <p:sp>
        <p:nvSpPr>
          <p:cNvPr id="17" name="«Резервное копирование»">
            <a:extLst xmlns:a="http://schemas.openxmlformats.org/drawingml/2006/main">
              <a:ext uri="{FF2B5EF4-FFF2-40B4-BE49-F238E27FC236}">
                <a16:creationId xmlns:a16="http://schemas.microsoft.com/office/drawing/2014/main" id="{3B284BA8-E8DA-4066-AEDC-0677CBAA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09825"/>
            <a:ext cx="44291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«Резервное копирование»</a:t>
            </a:r>
          </a:p>
        </p:txBody>
      </p:sp>
      <p:sp>
        <p:nvSpPr>
          <p:cNvPr id="18" name="Новый раздел:&#10;«Проверка восстановления»">
            <a:extLst xmlns:a="http://schemas.openxmlformats.org/drawingml/2006/main">
              <a:ext uri="{FF2B5EF4-FFF2-40B4-BE49-F238E27FC236}">
                <a16:creationId xmlns:a16="http://schemas.microsoft.com/office/drawing/2014/main" id="{0872BF4A-D5A0-4668-9AB3-9A892827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71850"/>
            <a:ext cx="4429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Новый раздел:</a:t>
            </a:r>
          </a:p>
          <a:p xmlns:a="http://schemas.openxmlformats.org/drawingml/2006/main">
            <a:pPr>
              <a:defRPr sz="225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«Проверка восстановления»</a:t>
            </a:r>
          </a:p>
        </p:txBody>
      </p:sp>
      <p:sp>
        <p:nvSpPr>
          <p:cNvPr id="19" name="Связи с подходящими&#10;заметками по теме">
            <a:extLst xmlns:a="http://schemas.openxmlformats.org/drawingml/2006/main">
              <a:ext uri="{FF2B5EF4-FFF2-40B4-BE49-F238E27FC236}">
                <a16:creationId xmlns:a16="http://schemas.microsoft.com/office/drawing/2014/main" id="{BFB49A96-F3C8-4D72-A716-6BA0FC23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62500"/>
            <a:ext cx="4429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Связи с подходящими</a:t>
            </a:r>
          </a:p>
          <a:p xmlns:a="http://schemas.openxmlformats.org/drawingml/2006/main">
            <a:pPr>
              <a:defRPr sz="2100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заметками по теме</a:t>
            </a:r>
          </a:p>
        </p:txBody>
      </p:sp>
      <p:sp>
        <p:nvSpPr>
          <p:cNvPr id="20" name="Условный пример обработки диалога">
            <a:extLst xmlns:a="http://schemas.openxmlformats.org/drawingml/2006/main">
              <a:ext uri="{FF2B5EF4-FFF2-40B4-BE49-F238E27FC236}">
                <a16:creationId xmlns:a16="http://schemas.microsoft.com/office/drawing/2014/main" id="{1D38C6B5-BA4E-4EB9-8F87-84B44AAA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38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Условный пример обработки диалога</a:t>
            </a:r>
          </a:p>
        </p:txBody>
      </p:sp>
    </p:spTree>
    <p:extLst>
      <p:ext uri="{BB962C8B-B14F-4D97-AF65-F5344CB8AC3E}">
        <p14:creationId xmlns:p14="http://schemas.microsoft.com/office/powerpoint/2010/main" val="17693714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Интерфейс: знания и план изменений">
            <a:extLst xmlns:a="http://schemas.openxmlformats.org/drawingml/2006/main">
              <a:ext uri="{FF2B5EF4-FFF2-40B4-BE49-F238E27FC236}">
                <a16:creationId xmlns:a16="http://schemas.microsoft.com/office/drawing/2014/main" id="{27C4F551-DCE3-482A-80FE-B2A797B4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Интерфейс: знания и план изменений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8DE9B6BA-4DD5-4FBF-BAC1-D7306EA60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a26c2ed054ac9"/>
          <a:stretch xmlns:a="http://schemas.openxmlformats.org/drawingml/2006/main"/>
        </p:blipFill>
        <p:spPr>
          <a:xfrm xmlns:a="http://schemas.openxmlformats.org/drawingml/2006/main">
            <a:off x="685800" y="1468438"/>
            <a:ext cx="7639050" cy="5092700"/>
          </a:xfrm>
          <a:prstGeom xmlns:a="http://schemas.openxmlformats.org/drawingml/2006/main" prst="rect">
            <a:avLst/>
          </a:prstGeom>
        </p:spPr>
      </p:pic>
      <p:sp>
        <p:nvSpPr>
          <p:cNvPr id="4" name="Что сохранить">
            <a:extLst xmlns:a="http://schemas.openxmlformats.org/drawingml/2006/main">
              <a:ext uri="{FF2B5EF4-FFF2-40B4-BE49-F238E27FC236}">
                <a16:creationId xmlns:a16="http://schemas.microsoft.com/office/drawing/2014/main" id="{E71A0001-AD8A-491D-A6AF-3513EA4F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24050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Что сохранить</a:t>
            </a:r>
          </a:p>
        </p:txBody>
      </p:sp>
      <p:sp>
        <p:nvSpPr>
          <p:cNvPr id="5" name="Знание и его&#10;основание в диалоге">
            <a:extLst xmlns:a="http://schemas.openxmlformats.org/drawingml/2006/main">
              <a:ext uri="{FF2B5EF4-FFF2-40B4-BE49-F238E27FC236}">
                <a16:creationId xmlns:a16="http://schemas.microsoft.com/office/drawing/2014/main" id="{A6AC8C54-E5C8-4E3F-822E-24BCD991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66975"/>
            <a:ext cx="2724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Знание и его</a:t>
            </a:r>
          </a:p>
          <a:p xmlns:a="http://schemas.openxmlformats.org/drawingml/2006/main">
            <a:pPr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основание в диалоге</a:t>
            </a:r>
          </a:p>
        </p:txBody>
      </p:sp>
      <p:sp>
        <p:nvSpPr>
          <p:cNvPr id="6" name="Куда добавить">
            <a:extLst xmlns:a="http://schemas.openxmlformats.org/drawingml/2006/main">
              <a:ext uri="{FF2B5EF4-FFF2-40B4-BE49-F238E27FC236}">
                <a16:creationId xmlns:a16="http://schemas.microsoft.com/office/drawing/2014/main" id="{774CEEA3-CA6C-466D-8D7E-E5A37FE6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95700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15FEA"/>
                </a:solidFill>
                <a:latin typeface="Arial"/>
                <a:ea typeface="Arial"/>
                <a:cs typeface="Arial"/>
              </a:rPr>
              <a:t>Куда добавить</a:t>
            </a:r>
          </a:p>
        </p:txBody>
      </p:sp>
      <p:sp>
        <p:nvSpPr>
          <p:cNvPr id="7" name="Связь с базой&#10;и выбор действия">
            <a:extLst xmlns:a="http://schemas.openxmlformats.org/drawingml/2006/main">
              <a:ext uri="{FF2B5EF4-FFF2-40B4-BE49-F238E27FC236}">
                <a16:creationId xmlns:a16="http://schemas.microsoft.com/office/drawing/2014/main" id="{C05B880A-F8D4-43FB-92B5-99293B67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48150"/>
            <a:ext cx="27241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Связь с базой</a:t>
            </a:r>
          </a:p>
          <a:p xmlns:a="http://schemas.openxmlformats.org/drawingml/2006/main">
            <a:pPr>
              <a:defRPr sz="2025" b="0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B3A"/>
                </a:solidFill>
                <a:latin typeface="Arial"/>
                <a:ea typeface="Arial"/>
                <a:cs typeface="Arial"/>
              </a:rPr>
              <a:t>и выбор действия</a:t>
            </a:r>
          </a:p>
        </p:txBody>
      </p:sp>
      <p:sp>
        <p:nvSpPr>
          <p:cNvPr id="8" name="Концепция экрана">
            <a:extLst xmlns:a="http://schemas.openxmlformats.org/drawingml/2006/main">
              <a:ext uri="{FF2B5EF4-FFF2-40B4-BE49-F238E27FC236}">
                <a16:creationId xmlns:a16="http://schemas.microsoft.com/office/drawing/2014/main" id="{CA9BAD26-48B4-47B0-A0D3-9EC7698B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91200"/>
            <a:ext cx="273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Концепция экрана</a:t>
            </a:r>
          </a:p>
        </p:txBody>
      </p:sp>
    </p:spTree>
    <p:extLst>
      <p:ext uri="{BB962C8B-B14F-4D97-AF65-F5344CB8AC3E}">
        <p14:creationId xmlns:p14="http://schemas.microsoft.com/office/powerpoint/2010/main" val="3429814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очему решение может быть эффективнее">
            <a:extLst xmlns:a="http://schemas.openxmlformats.org/drawingml/2006/main">
              <a:ext uri="{FF2B5EF4-FFF2-40B4-BE49-F238E27FC236}">
                <a16:creationId xmlns:a16="http://schemas.microsoft.com/office/drawing/2014/main" id="{36DB0ED0-AE36-4F5F-9930-C3C2AECA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B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82B3A"/>
                </a:solidFill>
                <a:latin typeface="Arial"/>
                <a:ea typeface="Arial"/>
                <a:cs typeface="Arial"/>
              </a:rPr>
              <a:t>Почему решение может быть эффективнее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F1E83062-0B80-421A-95A5-C70B0ECF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0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170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771650"/>
          <a:ext xmlns:a="http://schemas.openxmlformats.org/drawingml/2006/main" cx="10820400" cy="3514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9400"/>
                <a:gridCol w="3905250"/>
                <a:gridCol w="4095750"/>
              </a:tblGrid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Текущий способ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остаётся пользователю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предлагает агент</a:t>
                      </a:r>
                    </a:p>
                  </a:txBody>
                  <a:tcPr marL="180975" marR="161925" marT="123825" marB="114300" anchor="ctr">
                    <a:solidFill>
                      <a:srgbClr val="182B3A"/>
                    </a:solidFill>
                  </a:tcPr>
                </a:tc>
              </a:tr>
              <a:tr h="962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Сохранить историю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разговора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Перечитать и найти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важные фрагменты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Выделить знания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из разных реплик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  <a:tr h="962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Перенести вручную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 заметки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Организовать материал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проверить повторы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Сопоставить содержание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с существующей базой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  <a:tr h="9620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Получить резюме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сохранить вручную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Выбрать место</a:t>
                      </a:r>
                    </a:p>
                    <a:p>
                      <a:r>
                        <a:rPr sz="1800" b="0">
                          <a:solidFill>
                            <a:srgbClr val="182B3A"/>
                          </a:solidFill>
                          <a:latin typeface="Arial"/>
                          <a:ea typeface="Arial"/>
                          <a:cs typeface="Arial"/>
                        </a:rPr>
                        <a:t>и связать с прежними записями</a:t>
                      </a:r>
                    </a:p>
                  </a:txBody>
                  <a:tcPr marL="180975" marR="161925" marT="123825" marB="114300" anchor="ctr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Предложить новые заметки,</a:t>
                      </a:r>
                    </a:p>
                    <a:p>
                      <a:r>
                        <a:rPr sz="1800" b="0">
                          <a:solidFill>
                            <a:srgbClr val="315FEA"/>
                          </a:solidFill>
                          <a:latin typeface="Arial"/>
                          <a:ea typeface="Arial"/>
                          <a:cs typeface="Arial"/>
                        </a:rPr>
                        <a:t>дополнения и связи</a:t>
                      </a:r>
                    </a:p>
                  </a:txBody>
                  <a:tcPr marL="180975" marR="161925" marT="123825" marB="114300" anchor="ctr">
                    <a:solidFill>
                      <a:srgbClr val="ECF1FC"/>
                    </a:solidFill>
                  </a:tcPr>
                </a:tc>
              </a:tr>
            </a:tbl>
          </a:graphicData>
        </a:graphic>
      </p:graphicFrame>
      <p:sp>
        <p:nvSpPr>
          <p:cNvPr id="4" name="Ожидаем меньше ручной работы при сохранении контроля пользователя">
            <a:extLst xmlns:a="http://schemas.openxmlformats.org/drawingml/2006/main">
              <a:ext uri="{FF2B5EF4-FFF2-40B4-BE49-F238E27FC236}">
                <a16:creationId xmlns:a16="http://schemas.microsoft.com/office/drawing/2014/main" id="{34ED3626-F73B-4EAF-9B55-CB7A118F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382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15FE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15FEA"/>
                </a:solidFill>
                <a:latin typeface="Arial"/>
                <a:ea typeface="Arial"/>
                <a:cs typeface="Arial"/>
              </a:rPr>
              <a:t>Ожидаем меньше ручной работы при сохранении контроля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2960368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8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Как проверить пользу интерфейса">
            <a:extLst xmlns:a="http://schemas.openxmlformats.org/drawingml/2006/main">
              <a:ext uri="{FF2B5EF4-FFF2-40B4-BE49-F238E27FC236}">
                <a16:creationId xmlns:a16="http://schemas.microsoft.com/office/drawing/2014/main" id="{DF1657BA-62EA-4570-A06C-BB2E7AE3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 проверить пользу интерфейса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CB007322-24DA-4247-BBCA-493A614A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B7C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B7C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Сравнительный тест">
            <a:extLst xmlns:a="http://schemas.openxmlformats.org/drawingml/2006/main">
              <a:ext uri="{FF2B5EF4-FFF2-40B4-BE49-F238E27FC236}">
                <a16:creationId xmlns:a16="http://schemas.microsoft.com/office/drawing/2014/main" id="{E7371CB1-EAD1-48C3-8B71-3A9F7AA1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Сравнительный тест</a:t>
            </a:r>
          </a:p>
        </p:txBody>
      </p:sp>
      <p:sp>
        <p:nvSpPr>
          <p:cNvPr id="4" name="Многошаговые диалоги&#10;и существующая база заметок">
            <a:extLst xmlns:a="http://schemas.openxmlformats.org/drawingml/2006/main">
              <a:ext uri="{FF2B5EF4-FFF2-40B4-BE49-F238E27FC236}">
                <a16:creationId xmlns:a16="http://schemas.microsoft.com/office/drawing/2014/main" id="{E0D535E3-0822-4697-9DF6-1B675787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51911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Многошаговые диалоги</a:t>
            </a:r>
          </a:p>
          <a:p xmlns:a="http://schemas.openxmlformats.org/drawingml/2006/main">
            <a:pPr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 существующая база заметок</a:t>
            </a:r>
          </a:p>
        </p:txBody>
      </p:sp>
      <p:sp>
        <p:nvSpPr>
          <p:cNvPr id="5" name="Ручная обработка&#10;и работа через интерфейс">
            <a:extLst xmlns:a="http://schemas.openxmlformats.org/drawingml/2006/main">
              <a:ext uri="{FF2B5EF4-FFF2-40B4-BE49-F238E27FC236}">
                <a16:creationId xmlns:a16="http://schemas.microsoft.com/office/drawing/2014/main" id="{40D68B94-05D0-44BC-98CA-0C2AC5DB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5048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Ручная обработка</a:t>
            </a:r>
          </a:p>
          <a:p xmlns:a="http://schemas.openxmlformats.org/drawingml/2006/main">
            <a:pPr>
              <a:defRPr sz="2325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и работа через интерфейс</a:t>
            </a:r>
          </a:p>
        </p:txBody>
      </p:sp>
      <p:sp>
        <p:nvSpPr>
          <p:cNvPr id="6" name="Что измеряем">
            <a:extLst xmlns:a="http://schemas.openxmlformats.org/drawingml/2006/main">
              <a:ext uri="{FF2B5EF4-FFF2-40B4-BE49-F238E27FC236}">
                <a16:creationId xmlns:a16="http://schemas.microsoft.com/office/drawing/2014/main" id="{129B9E29-C837-43C5-8BC5-15332FEB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8117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измеряем</a:t>
            </a:r>
          </a:p>
        </p:txBody>
      </p:sp>
      <p:sp>
        <p:nvSpPr>
          <p:cNvPr id="7" name="Полное время до результата&#10;Пропуски и повторные записи&#10;Качество структ">
            <a:extLst xmlns:a="http://schemas.openxmlformats.org/drawingml/2006/main">
              <a:ext uri="{FF2B5EF4-FFF2-40B4-BE49-F238E27FC236}">
                <a16:creationId xmlns:a16="http://schemas.microsoft.com/office/drawing/2014/main" id="{1FF33528-B976-44DF-8831-CA122B7C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71750"/>
            <a:ext cx="466725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Полное время до результата</a:t>
            </a:r>
          </a:p>
          <a:p xmlns:a="http://schemas.openxmlformats.org/drawingml/2006/main">
            <a:pPr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Пропуски и повторные записи</a:t>
            </a:r>
          </a:p>
          <a:p xmlns:a="http://schemas.openxmlformats.org/drawingml/2006/main">
            <a:pPr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Качество структуры и связей</a:t>
            </a:r>
          </a:p>
          <a:p xmlns:a="http://schemas.openxmlformats.org/drawingml/2006/main">
            <a:pPr>
              <a:defRPr sz="2100" b="0">
                <a:solidFill>
                  <a:srgbClr val="D1DCE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1DCE4"/>
                </a:solidFill>
                <a:latin typeface="Arial"/>
                <a:ea typeface="Arial"/>
                <a:cs typeface="Arial"/>
              </a:rPr>
              <a:t>Поиск и применение знаний позже</a:t>
            </a:r>
          </a:p>
        </p:txBody>
      </p:sp>
      <p:sp>
        <p:nvSpPr>
          <p:cNvPr id="8" name="Критерий пользы: меньше ручной работы без потери качества знаний">
            <a:extLst xmlns:a="http://schemas.openxmlformats.org/drawingml/2006/main">
              <a:ext uri="{FF2B5EF4-FFF2-40B4-BE49-F238E27FC236}">
                <a16:creationId xmlns:a16="http://schemas.microsoft.com/office/drawing/2014/main" id="{033BCB74-3F52-439C-8461-CBE252CA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Критерий пользы: меньше ручной работы без потери качества знаний</a:t>
            </a:r>
          </a:p>
        </p:txBody>
      </p:sp>
    </p:spTree>
    <p:extLst>
      <p:ext uri="{BB962C8B-B14F-4D97-AF65-F5344CB8AC3E}">
        <p14:creationId xmlns:p14="http://schemas.microsoft.com/office/powerpoint/2010/main" val="536171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2026-09-20T01:50:36.5960000Z</dcterms:created>
  <dcterms:modified xsi:type="dcterms:W3CDTF">2026-09-20T01:50:36.5960000Z</dcterms:modified>
</coreProperties>
</file>